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56" r:id="rId2"/>
    <p:sldId id="263" r:id="rId3"/>
    <p:sldId id="257" r:id="rId4"/>
    <p:sldId id="258" r:id="rId5"/>
    <p:sldId id="259" r:id="rId6"/>
    <p:sldId id="272" r:id="rId24"/>
    <p:sldId id="260" r:id="rId7"/>
    <p:sldId id="261" r:id="rId8"/>
    <p:sldId id="264" r:id="rId9"/>
    <p:sldId id="271" r:id="rId23"/>
    <p:sldId id="265" r:id="rId10"/>
    <p:sldId id="266" r:id="rId11"/>
    <p:sldId id="267" r:id="rId12"/>
    <p:sldId id="270" r:id="rId22"/>
    <p:sldId id="268" r:id="rId13"/>
    <p:sldId id="269"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1232" y="-10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notesMaster" Target="notesMasters/notesMaster1.xml"/><Relationship Id="rId17" Type="http://schemas.openxmlformats.org/officeDocument/2006/relationships/printerSettings" Target="printerSettings/printerSettings1.bin"/><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4.xml"/><Relationship Id="rId23" Type="http://schemas.openxmlformats.org/officeDocument/2006/relationships/slide" Target="slides/slide10.xml"/><Relationship Id="rId2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600" b="1">
                <a:latin typeface="Times New Roman"/>
              </a:rPr>
              <a:t>Data partition (%)</a:t>
            </a:r>
          </a:p>
        </c:rich>
      </c:tx>
      <c:layout/>
      <c:overlay val="0"/>
    </c:title>
    <c:autoTitleDeleted val="0"/>
    <c:plotArea>
      <c:layout/>
      <c:doughnutChart>
        <c:varyColors val="1"/>
        <c:ser>
          <c:idx val="0"/>
          <c:order val="0"/>
          <c:tx>
            <c:strRef>
              <c:f>Sheet1!$B$1</c:f>
              <c:strCache>
                <c:ptCount val="1"/>
                <c:pt idx="0">
                  <c:v>Share of data (%)</c:v>
                </c:pt>
              </c:strCache>
            </c:strRef>
          </c:tx>
          <c:dPt>
            <c:idx val="0"/>
            <c:spPr>
              <a:solidFill>
                <a:srgbClr val="1F3A5F"/>
              </a:solidFill>
            </c:spPr>
          </c:dPt>
          <c:dPt>
            <c:idx val="1"/>
            <c:spPr>
              <a:solidFill>
                <a:srgbClr val="1B6F6A"/>
              </a:solidFill>
            </c:spPr>
          </c:dPt>
          <c:dPt>
            <c:idx val="2"/>
            <c:spPr>
              <a:solidFill>
                <a:srgbClr val="B35C00"/>
              </a:solidFill>
            </c:spPr>
          </c:dPt>
          <c:cat>
            <c:strRef>
              <c:f>Sheet1!$A$2:$A$4</c:f>
              <c:strCache>
                <c:ptCount val="3"/>
                <c:pt idx="0">
                  <c:v>Train</c:v>
                </c:pt>
                <c:pt idx="1">
                  <c:v>Validation</c:v>
                </c:pt>
                <c:pt idx="2">
                  <c:v>Test</c:v>
                </c:pt>
              </c:strCache>
            </c:strRef>
          </c:cat>
          <c:val>
            <c:numRef>
              <c:f>Sheet1!$B$2:$B$4</c:f>
              <c:numCache>
                <c:formatCode>General</c:formatCode>
                <c:ptCount val="3"/>
                <c:pt idx="0">
                  <c:v>64</c:v>
                </c:pt>
                <c:pt idx="1">
                  <c:v>16</c:v>
                </c:pt>
                <c:pt idx="2">
                  <c:v>20</c:v>
                </c:pt>
              </c:numCache>
            </c:numRef>
          </c:val>
        </c:ser>
        <c:dLbls>
          <c:numFmt formatCode="0&quot;%&quot;" sourceLinked="0"/>
          <c:txPr>
            <a:bodyPr/>
            <a:lstStyle/>
            <a:p>
              <a:pPr>
                <a:defRPr sz="1500" b="1">
                  <a:solidFill>
                    <a:srgbClr val="FFFFFF"/>
                  </a:solidFill>
                  <a:latin typeface="Times New Roman"/>
                </a:defRPr>
              </a:pPr>
            </a:p>
          </c:txPr>
          <c:showLegendKey val="0"/>
          <c:showVal val="1"/>
          <c:showCatName val="0"/>
          <c:showSerName val="0"/>
          <c:showPercent val="0"/>
          <c:showBubbleSize val="0"/>
          <c:showLeaderLines val="1"/>
        </c:dLbls>
        <c:firstSliceAng val="0"/>
        <c:holeSize val="50"/>
      </c:doughnutChart>
    </c:plotArea>
    <c:legend>
      <c:legendPos val="b"/>
      <c:layout/>
      <c:overlay val="0"/>
      <c:txPr>
        <a:bodyPr/>
        <a:lstStyle/>
        <a:p>
          <a:pPr>
            <a:defRPr sz="1400">
              <a:latin typeface="Times New Roman"/>
            </a:defRPr>
          </a:pPr>
        </a:p>
      </c:txPr>
    </c:legend>
    <c:plotVisOnly val="1"/>
    <c:dispBlanksAs val="gap"/>
    <c:showDLblsOverMax val="0"/>
  </c:chart>
  <c:txPr>
    <a:bodyPr/>
    <a:lstStyle/>
    <a:p>
      <a:pPr>
        <a:defRPr sz="1400">
          <a:solidFill>
            <a:srgbClr val="1E1E1E"/>
          </a:solidFill>
          <a:latin typeface="Times New Roman"/>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latin typeface="Times New Roman"/>
              </a:rPr>
              <a:t>Affordability score weights (of 100)</a:t>
            </a:r>
          </a:p>
        </c:rich>
      </c:tx>
      <c:layout/>
      <c:overlay val="0"/>
    </c:title>
    <c:autoTitleDeleted val="0"/>
    <c:plotArea>
      <c:barChart>
        <c:barDir val="bar"/>
        <c:grouping val="clustered"/>
        <c:ser>
          <c:idx val="0"/>
          <c:order val="0"/>
          <c:tx>
            <c:strRef>
              <c:f>Sheet1!$B$1</c:f>
              <c:strCache>
                <c:ptCount val="1"/>
                <c:pt idx="0">
                  <c:v>Points</c:v>
                </c:pt>
              </c:strCache>
            </c:strRef>
          </c:tx>
          <c:spPr>
            <a:solidFill>
              <a:srgbClr val="1F3A5F"/>
            </a:solidFill>
          </c:spPr>
          <c:cat>
            <c:strRef>
              <c:f>Sheet1!$A$2:$A$7</c:f>
              <c:strCache>
                <c:ptCount val="6"/>
                <c:pt idx="0">
                  <c:v>Savings ratio</c:v>
                </c:pt>
                <c:pt idx="1">
                  <c:v>EMI burden</c:v>
                </c:pt>
                <c:pt idx="2">
                  <c:v>Salary consistency</c:v>
                </c:pt>
                <c:pt idx="3">
                  <c:v>Expense stability</c:v>
                </c:pt>
                <c:pt idx="4">
                  <c:v>Utility regularity</c:v>
                </c:pt>
                <c:pt idx="5">
                  <c:v>Data quality</c:v>
                </c:pt>
              </c:strCache>
            </c:strRef>
          </c:cat>
          <c:val>
            <c:numRef>
              <c:f>Sheet1!$B$2:$B$7</c:f>
              <c:numCache>
                <c:formatCode>General</c:formatCode>
                <c:ptCount val="6"/>
                <c:pt idx="0">
                  <c:v>25</c:v>
                </c:pt>
                <c:pt idx="1">
                  <c:v>25</c:v>
                </c:pt>
                <c:pt idx="2">
                  <c:v>20</c:v>
                </c:pt>
                <c:pt idx="3">
                  <c:v>15</c:v>
                </c:pt>
                <c:pt idx="4">
                  <c:v>10</c:v>
                </c:pt>
                <c:pt idx="5">
                  <c:v>5</c:v>
                </c:pt>
              </c:numCache>
            </c:numRef>
          </c:val>
        </c:ser>
        <c:dLbls>
          <c:txPr>
            <a:bodyPr/>
            <a:lstStyle/>
            <a:p>
              <a:pPr>
                <a:defRPr sz="1400" b="1"/>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400"/>
            </a:pPr>
          </a:p>
        </c:txPr>
        <c:crossAx val="-2113994440"/>
        <c:crosses val="autoZero"/>
        <c:auto val="1"/>
        <c:lblAlgn val="ctr"/>
        <c:lblOffset val="100"/>
        <c:noMultiLvlLbl val="0"/>
      </c:catAx>
      <c:valAx>
        <c:axId val="-2113994440"/>
        <c:scaling>
          <c:max val="30.0"/>
        </c:scaling>
        <c:delete/>
        <c:axPos val="b"/>
        <c:majorTickMark val="out"/>
        <c:minorTickMark val="none"/>
        <c:tickLblPos val="nextTo"/>
        <c:crossAx val="-2068027336"/>
        <c:crosses val="autoZero"/>
      </c:valAx>
    </c:plotArea>
    <c:dispBlanksAs val="gap"/>
  </c:chart>
  <c:txPr>
    <a:bodyPr/>
    <a:lstStyle/>
    <a:p>
      <a:pPr>
        <a:defRPr sz="1400">
          <a:solidFill>
            <a:srgbClr val="1E1E1E"/>
          </a:solidFill>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05/10/26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F50F18A0-E201-1900-A139-E830DD3EA1D1}"/>
              </a:ext>
            </a:extLst>
          </p:cNvPr>
          <p:cNvSpPr>
            <a:spLocks noGrp="1"/>
          </p:cNvSpPr>
          <p:nvPr>
            <p:ph type="dt" sz="half" idx="10"/>
          </p:nvPr>
        </p:nvSpPr>
        <p:spPr/>
        <p:txBody>
          <a:bodyPr/>
          <a:lstStyle/>
          <a:p>
            <a:fld id="{8F3E78AE-7F97-4550-9DD8-BF69171FDC30}" type="datetime1">
              <a:rPr lang="en-IN" smtClean="0"/>
              <a:t>05/10/26</a:t>
            </a:fld>
            <a:endParaRPr lang="en-IN"/>
          </a:p>
        </p:txBody>
      </p:sp>
      <p:sp>
        <p:nvSpPr>
          <p:cNvPr id="5" name="Footer Placeholder 4">
            <a:extLst>
              <a:ext uri="{FF2B5EF4-FFF2-40B4-BE49-F238E27FC236}">
                <a16:creationId xmlns:a16="http://schemas.microsoft.com/office/drawing/2014/main" xmlns=""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B080259-8D20-E29B-4DC5-312C3DB01BB3}"/>
              </a:ext>
            </a:extLst>
          </p:cNvPr>
          <p:cNvSpPr>
            <a:spLocks noGrp="1"/>
          </p:cNvSpPr>
          <p:nvPr>
            <p:ph type="dt" sz="half" idx="10"/>
          </p:nvPr>
        </p:nvSpPr>
        <p:spPr/>
        <p:txBody>
          <a:bodyPr/>
          <a:lstStyle/>
          <a:p>
            <a:fld id="{FEA886FF-1BA7-4533-94E6-869CE1E2970B}" type="datetime1">
              <a:rPr lang="en-IN" smtClean="0"/>
              <a:t>05/10/26</a:t>
            </a:fld>
            <a:endParaRPr lang="en-IN"/>
          </a:p>
        </p:txBody>
      </p:sp>
      <p:sp>
        <p:nvSpPr>
          <p:cNvPr id="5" name="Footer Placeholder 4">
            <a:extLst>
              <a:ext uri="{FF2B5EF4-FFF2-40B4-BE49-F238E27FC236}">
                <a16:creationId xmlns:a16="http://schemas.microsoft.com/office/drawing/2014/main" xmlns=""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767CE67-8E8A-4D0D-42DF-DDC842B1B17A}"/>
              </a:ext>
            </a:extLst>
          </p:cNvPr>
          <p:cNvSpPr>
            <a:spLocks noGrp="1"/>
          </p:cNvSpPr>
          <p:nvPr>
            <p:ph type="dt" sz="half" idx="10"/>
          </p:nvPr>
        </p:nvSpPr>
        <p:spPr/>
        <p:txBody>
          <a:bodyPr/>
          <a:lstStyle/>
          <a:p>
            <a:fld id="{93E22BD8-A2C4-424B-809A-C64DDCC305D9}" type="datetime1">
              <a:rPr lang="en-IN" smtClean="0"/>
              <a:t>05/10/26</a:t>
            </a:fld>
            <a:endParaRPr lang="en-IN"/>
          </a:p>
        </p:txBody>
      </p:sp>
      <p:sp>
        <p:nvSpPr>
          <p:cNvPr id="5" name="Footer Placeholder 4">
            <a:extLst>
              <a:ext uri="{FF2B5EF4-FFF2-40B4-BE49-F238E27FC236}">
                <a16:creationId xmlns:a16="http://schemas.microsoft.com/office/drawing/2014/main" xmlns=""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50DA5E84-A1E0-A1C4-F7E6-DA9E7B124C77}"/>
              </a:ext>
            </a:extLst>
          </p:cNvPr>
          <p:cNvSpPr>
            <a:spLocks noGrp="1"/>
          </p:cNvSpPr>
          <p:nvPr>
            <p:ph type="dt" sz="half" idx="10"/>
          </p:nvPr>
        </p:nvSpPr>
        <p:spPr/>
        <p:txBody>
          <a:bodyPr/>
          <a:lstStyle/>
          <a:p>
            <a:fld id="{B620F4BC-B3A4-46AF-9AEC-8478EF1369D5}" type="datetime1">
              <a:rPr lang="en-IN" smtClean="0"/>
              <a:t>05/10/26</a:t>
            </a:fld>
            <a:endParaRPr lang="en-IN"/>
          </a:p>
        </p:txBody>
      </p:sp>
      <p:sp>
        <p:nvSpPr>
          <p:cNvPr id="6" name="Footer Placeholder 5">
            <a:extLst>
              <a:ext uri="{FF2B5EF4-FFF2-40B4-BE49-F238E27FC236}">
                <a16:creationId xmlns:a16="http://schemas.microsoft.com/office/drawing/2014/main" xmlns=""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xmlns=""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6D20C02-77C2-CB2A-62F8-60B8C62629ED}"/>
              </a:ext>
            </a:extLst>
          </p:cNvPr>
          <p:cNvSpPr>
            <a:spLocks noGrp="1"/>
          </p:cNvSpPr>
          <p:nvPr>
            <p:ph type="dt" sz="half" idx="10"/>
          </p:nvPr>
        </p:nvSpPr>
        <p:spPr/>
        <p:txBody>
          <a:bodyPr/>
          <a:lstStyle/>
          <a:p>
            <a:fld id="{4C9A2993-B405-4F4D-B968-A01C27211659}" type="datetime1">
              <a:rPr lang="en-IN" smtClean="0"/>
              <a:t>05/10/26</a:t>
            </a:fld>
            <a:endParaRPr lang="en-IN"/>
          </a:p>
        </p:txBody>
      </p:sp>
      <p:sp>
        <p:nvSpPr>
          <p:cNvPr id="8" name="Footer Placeholder 7">
            <a:extLst>
              <a:ext uri="{FF2B5EF4-FFF2-40B4-BE49-F238E27FC236}">
                <a16:creationId xmlns:a16="http://schemas.microsoft.com/office/drawing/2014/main" xmlns=""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xmlns=""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E2F1AB3B-AFC6-3627-62E6-22313061FA80}"/>
              </a:ext>
            </a:extLst>
          </p:cNvPr>
          <p:cNvSpPr>
            <a:spLocks noGrp="1"/>
          </p:cNvSpPr>
          <p:nvPr>
            <p:ph type="dt" sz="half" idx="10"/>
          </p:nvPr>
        </p:nvSpPr>
        <p:spPr/>
        <p:txBody>
          <a:bodyPr/>
          <a:lstStyle/>
          <a:p>
            <a:fld id="{79378C8C-5FBB-4DD7-A06D-BE263480794B}" type="datetime1">
              <a:rPr lang="en-IN" smtClean="0"/>
              <a:t>05/10/26</a:t>
            </a:fld>
            <a:endParaRPr lang="en-IN"/>
          </a:p>
        </p:txBody>
      </p:sp>
      <p:sp>
        <p:nvSpPr>
          <p:cNvPr id="4" name="Footer Placeholder 3">
            <a:extLst>
              <a:ext uri="{FF2B5EF4-FFF2-40B4-BE49-F238E27FC236}">
                <a16:creationId xmlns:a16="http://schemas.microsoft.com/office/drawing/2014/main" xmlns=""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xmlns=""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23F289A-3AD7-C11D-1594-90A35E592B5C}"/>
              </a:ext>
            </a:extLst>
          </p:cNvPr>
          <p:cNvSpPr>
            <a:spLocks noGrp="1"/>
          </p:cNvSpPr>
          <p:nvPr>
            <p:ph type="dt" sz="half" idx="10"/>
          </p:nvPr>
        </p:nvSpPr>
        <p:spPr/>
        <p:txBody>
          <a:bodyPr/>
          <a:lstStyle/>
          <a:p>
            <a:fld id="{31FD2985-06EC-459B-80C8-F6F4362A1C03}" type="datetime1">
              <a:rPr lang="en-IN" smtClean="0"/>
              <a:t>05/10/26</a:t>
            </a:fld>
            <a:endParaRPr lang="en-IN"/>
          </a:p>
        </p:txBody>
      </p:sp>
      <p:sp>
        <p:nvSpPr>
          <p:cNvPr id="3" name="Footer Placeholder 2">
            <a:extLst>
              <a:ext uri="{FF2B5EF4-FFF2-40B4-BE49-F238E27FC236}">
                <a16:creationId xmlns:a16="http://schemas.microsoft.com/office/drawing/2014/main" xmlns=""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xmlns=""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94758D6-7AF2-29C5-E0EE-3B7BE155EC20}"/>
              </a:ext>
            </a:extLst>
          </p:cNvPr>
          <p:cNvSpPr>
            <a:spLocks noGrp="1"/>
          </p:cNvSpPr>
          <p:nvPr>
            <p:ph type="dt" sz="half" idx="10"/>
          </p:nvPr>
        </p:nvSpPr>
        <p:spPr/>
        <p:txBody>
          <a:bodyPr/>
          <a:lstStyle/>
          <a:p>
            <a:fld id="{71D7E9DA-13C6-48A4-9305-B592482DE8CE}" type="datetime1">
              <a:rPr lang="en-IN" smtClean="0"/>
              <a:t>05/10/26</a:t>
            </a:fld>
            <a:endParaRPr lang="en-IN"/>
          </a:p>
        </p:txBody>
      </p:sp>
      <p:sp>
        <p:nvSpPr>
          <p:cNvPr id="6" name="Footer Placeholder 5">
            <a:extLst>
              <a:ext uri="{FF2B5EF4-FFF2-40B4-BE49-F238E27FC236}">
                <a16:creationId xmlns:a16="http://schemas.microsoft.com/office/drawing/2014/main" xmlns=""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xmlns=""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E57E1CE-C7CA-966D-8661-1E99A7DA2174}"/>
              </a:ext>
            </a:extLst>
          </p:cNvPr>
          <p:cNvSpPr>
            <a:spLocks noGrp="1"/>
          </p:cNvSpPr>
          <p:nvPr>
            <p:ph type="dt" sz="half" idx="10"/>
          </p:nvPr>
        </p:nvSpPr>
        <p:spPr/>
        <p:txBody>
          <a:bodyPr/>
          <a:lstStyle/>
          <a:p>
            <a:fld id="{F45E7C4B-C575-4DCF-9B63-045662930500}" type="datetime1">
              <a:rPr lang="en-IN" smtClean="0"/>
              <a:t>05/10/26</a:t>
            </a:fld>
            <a:endParaRPr lang="en-IN"/>
          </a:p>
        </p:txBody>
      </p:sp>
      <p:sp>
        <p:nvSpPr>
          <p:cNvPr id="6" name="Footer Placeholder 5">
            <a:extLst>
              <a:ext uri="{FF2B5EF4-FFF2-40B4-BE49-F238E27FC236}">
                <a16:creationId xmlns:a16="http://schemas.microsoft.com/office/drawing/2014/main" xmlns=""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xmlns=""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C1ADFC6-7CEA-ABEE-94C2-870B1E65737A}"/>
              </a:ext>
            </a:extLst>
          </p:cNvPr>
          <p:cNvSpPr>
            <a:spLocks noGrp="1"/>
          </p:cNvSpPr>
          <p:nvPr>
            <p:ph type="dt" sz="half" idx="10"/>
          </p:nvPr>
        </p:nvSpPr>
        <p:spPr/>
        <p:txBody>
          <a:bodyPr/>
          <a:lstStyle/>
          <a:p>
            <a:fld id="{5576931C-EA1A-43DD-B3B3-66F5BA587712}" type="datetime1">
              <a:rPr lang="en-IN" smtClean="0"/>
              <a:t>05/10/26</a:t>
            </a:fld>
            <a:endParaRPr lang="en-IN"/>
          </a:p>
        </p:txBody>
      </p:sp>
      <p:sp>
        <p:nvSpPr>
          <p:cNvPr id="5" name="Footer Placeholder 4">
            <a:extLst>
              <a:ext uri="{FF2B5EF4-FFF2-40B4-BE49-F238E27FC236}">
                <a16:creationId xmlns:a16="http://schemas.microsoft.com/office/drawing/2014/main" xmlns=""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F1D2109-32D1-4A0F-F903-5142A204EF48}"/>
              </a:ext>
            </a:extLst>
          </p:cNvPr>
          <p:cNvSpPr>
            <a:spLocks noGrp="1"/>
          </p:cNvSpPr>
          <p:nvPr>
            <p:ph type="dt" sz="half" idx="10"/>
          </p:nvPr>
        </p:nvSpPr>
        <p:spPr/>
        <p:txBody>
          <a:bodyPr/>
          <a:lstStyle/>
          <a:p>
            <a:fld id="{82C9B0E1-7C95-4C20-B9C6-BA51F388E878}" type="datetime1">
              <a:rPr lang="en-IN" smtClean="0"/>
              <a:t>05/10/26</a:t>
            </a:fld>
            <a:endParaRPr lang="en-IN"/>
          </a:p>
        </p:txBody>
      </p:sp>
      <p:sp>
        <p:nvSpPr>
          <p:cNvPr id="5" name="Footer Placeholder 4">
            <a:extLst>
              <a:ext uri="{FF2B5EF4-FFF2-40B4-BE49-F238E27FC236}">
                <a16:creationId xmlns:a16="http://schemas.microsoft.com/office/drawing/2014/main" xmlns=""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05/10/26</a:t>
            </a:fld>
            <a:endParaRPr lang="en-IN"/>
          </a:p>
        </p:txBody>
      </p:sp>
      <p:sp>
        <p:nvSpPr>
          <p:cNvPr id="5" name="Footer Placeholder 4">
            <a:extLst>
              <a:ext uri="{FF2B5EF4-FFF2-40B4-BE49-F238E27FC236}">
                <a16:creationId xmlns:a16="http://schemas.microsoft.com/office/drawing/2014/main" xmlns=""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xmlns=""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forms.gle/B9B71VPy5b9bZ9dJ8"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xmlns="" id="{8BAD67C4-20B4-E1F6-A7E7-C8C33181D0C9}"/>
              </a:ext>
            </a:extLst>
          </p:cNvPr>
          <p:cNvSpPr txBox="1">
            <a:spLocks noGrp="1"/>
          </p:cNvSpPr>
          <p:nvPr>
            <p:ph type="ctrTitle"/>
          </p:nvPr>
        </p:nvSpPr>
        <p:spPr>
          <a:xfrm>
            <a:off x="1066800" y="1934141"/>
            <a:ext cx="10058400" cy="1089529"/>
          </a:xfrm>
          <a:prstGeom prst="rect">
            <a:avLst/>
          </a:prstGeom>
          <a:noFill/>
        </p:spPr>
        <p:txBody>
          <a:bodyPr wrap="square" rtlCol="0">
            <a:spAutoFit/>
          </a:bodyPr>
          <a:lstStyle/>
          <a:p>
            <a:pPr algn="ctr"/>
            <a:r>
              <a:rPr sz="2000" b="1">
                <a:latin typeface="Times New Roman"/>
              </a:rPr>
              <a:t>B.Tech – BCSE497J – Project I</a:t>
            </a:r>
            <a:br/>
            <a:r>
              <a:rPr sz="3200" b="1">
                <a:latin typeface="Times New Roman"/>
              </a:rPr>
              <a:t>Behavioral Credit Decision Support System</a:t>
            </a:r>
          </a:p>
        </p:txBody>
      </p:sp>
      <p:sp>
        <p:nvSpPr>
          <p:cNvPr id="9" name="object 3">
            <a:extLst>
              <a:ext uri="{FF2B5EF4-FFF2-40B4-BE49-F238E27FC236}">
                <a16:creationId xmlns:a16="http://schemas.microsoft.com/office/drawing/2014/main" xmlns="" id="{68BC382C-506F-4908-6AC3-C0AA73064F47}"/>
              </a:ext>
            </a:extLst>
          </p:cNvPr>
          <p:cNvSpPr txBox="1"/>
          <p:nvPr/>
        </p:nvSpPr>
        <p:spPr>
          <a:xfrm>
            <a:off x="2609088" y="3208471"/>
            <a:ext cx="7071360" cy="2460809"/>
          </a:xfrm>
          <a:prstGeom prst="rect">
            <a:avLst/>
          </a:prstGeom>
        </p:spPr>
        <p:txBody>
          <a:bodyPr vert="horz" wrap="square" lIns="0" tIns="12700" rIns="0" bIns="0" rtlCol="0">
            <a:spAutoFit/>
          </a:bodyPr>
          <a:lstStyle/>
          <a:p>
            <a:pPr>
              <a:lnSpc>
                <a:spcPct val="100000"/>
              </a:lnSpc>
              <a:spcBef>
                <a:spcPts val="200"/>
              </a:spcBef>
            </a:pPr>
            <a:endParaRPr sz="1800" dirty="0">
              <a:latin typeface="Times New Roman"/>
              <a:cs typeface="Times New Roman"/>
            </a:endParaRPr>
          </a:p>
          <a:p>
            <a:pPr marL="12700">
              <a:lnSpc>
                <a:spcPct val="100000"/>
              </a:lnSpc>
            </a:pPr>
            <a:r>
              <a:rPr sz="2000" spc="-20" dirty="0">
                <a:latin typeface="Times New Roman"/>
                <a:cs typeface="Times New Roman"/>
              </a:rPr>
              <a:t>Team</a:t>
            </a:r>
            <a:r>
              <a:rPr sz="2000" spc="-80" dirty="0">
                <a:latin typeface="Times New Roman"/>
                <a:cs typeface="Times New Roman"/>
              </a:rPr>
              <a:t> </a:t>
            </a:r>
            <a:r>
              <a:rPr sz="2000" spc="-10" dirty="0">
                <a:latin typeface="Times New Roman"/>
                <a:cs typeface="Times New Roman"/>
              </a:rPr>
              <a:t>members:</a:t>
            </a:r>
            <a:endParaRPr sz="2000" dirty="0">
              <a:latin typeface="Times New Roman"/>
              <a:cs typeface="Times New Roman"/>
            </a:endParaRPr>
          </a:p>
          <a:p>
            <a:pPr marL="149225" indent="-136525">
              <a:lnSpc>
                <a:spcPct val="100000"/>
              </a:lnSpc>
              <a:spcBef>
                <a:spcPts val="20"/>
              </a:spcBef>
              <a:buFont typeface="Times New Roman"/>
              <a:buChar char="•"/>
              <a:tabLst>
                <a:tab pos="3108960" algn="l"/>
              </a:tabLst>
            </a:pPr>
            <a:r>
              <a:rPr lang="en-IN" sz="2000" b="1" dirty="0">
                <a:latin typeface="Times New Roman"/>
                <a:cs typeface="Times New Roman"/>
              </a:rPr>
              <a:t>Adharsh S	(23BDS0029)</a:t>
            </a:r>
          </a:p>
          <a:p>
            <a:pPr marL="149225" indent="-136525">
              <a:lnSpc>
                <a:spcPct val="100000"/>
              </a:lnSpc>
              <a:spcBef>
                <a:spcPts val="20"/>
              </a:spcBef>
              <a:buFont typeface="Times New Roman"/>
              <a:buChar char="•"/>
              <a:tabLst>
                <a:tab pos="3108960" algn="l"/>
              </a:tabLst>
            </a:pPr>
            <a:r>
              <a:rPr lang="en-IN" sz="2000" b="1" dirty="0">
                <a:latin typeface="Times New Roman"/>
                <a:cs typeface="Times New Roman"/>
              </a:rPr>
              <a:t>Gowtham Kumar D	(23BDS0186)</a:t>
            </a:r>
          </a:p>
          <a:p>
            <a:pPr marL="149225" indent="-136525">
              <a:lnSpc>
                <a:spcPct val="100000"/>
              </a:lnSpc>
              <a:spcBef>
                <a:spcPts val="20"/>
              </a:spcBef>
              <a:buFont typeface="Times New Roman"/>
              <a:buChar char="•"/>
              <a:tabLst>
                <a:tab pos="3108960" algn="l"/>
              </a:tabLst>
            </a:pPr>
            <a:r>
              <a:rPr lang="en-IN" sz="2000" b="1" dirty="0">
                <a:latin typeface="Times New Roman"/>
                <a:cs typeface="Times New Roman"/>
              </a:rPr>
              <a:t>Rohith S M	(23BDS0025)</a:t>
            </a:r>
          </a:p>
          <a:p>
            <a:pPr marL="12700">
              <a:lnSpc>
                <a:spcPct val="100000"/>
              </a:lnSpc>
              <a:spcBef>
                <a:spcPts val="100"/>
              </a:spcBef>
            </a:pPr>
            <a:r>
              <a:rPr lang="en-US" sz="2000" dirty="0">
                <a:latin typeface="Times New Roman"/>
                <a:cs typeface="Times New Roman"/>
              </a:rPr>
              <a:t>Faculty</a:t>
            </a:r>
            <a:r>
              <a:rPr lang="en-US" sz="2000" spc="-60" dirty="0">
                <a:latin typeface="Times New Roman"/>
                <a:cs typeface="Times New Roman"/>
              </a:rPr>
              <a:t> </a:t>
            </a:r>
            <a:r>
              <a:rPr lang="en-US" sz="2000" dirty="0">
                <a:latin typeface="Times New Roman"/>
                <a:cs typeface="Times New Roman"/>
              </a:rPr>
              <a:t>guide</a:t>
            </a:r>
            <a:r>
              <a:rPr lang="en-US" sz="2000" spc="-55" dirty="0">
                <a:latin typeface="Times New Roman"/>
                <a:cs typeface="Times New Roman"/>
              </a:rPr>
              <a:t> </a:t>
            </a:r>
            <a:r>
              <a:rPr lang="en-US" sz="2000" spc="-50" dirty="0">
                <a:latin typeface="Times New Roman"/>
                <a:cs typeface="Times New Roman"/>
              </a:rPr>
              <a:t>:</a:t>
            </a:r>
            <a:endParaRPr lang="en-US" sz="2000" dirty="0">
              <a:latin typeface="Times New Roman"/>
              <a:cs typeface="Times New Roman"/>
            </a:endParaRPr>
          </a:p>
          <a:p>
            <a:pPr marL="12700">
              <a:lnSpc>
                <a:spcPct val="100000"/>
              </a:lnSpc>
              <a:spcBef>
                <a:spcPts val="20"/>
              </a:spcBef>
            </a:pPr>
            <a:r>
              <a:rPr lang="en-US" sz="2000" b="1" dirty="0">
                <a:latin typeface="Times New Roman"/>
                <a:cs typeface="Times New Roman"/>
              </a:rPr>
              <a:t>Dr. Viswanathan A</a:t>
            </a:r>
            <a:endParaRPr lang="en-US" sz="2000" dirty="0">
              <a:latin typeface="Times New Roman"/>
              <a:cs typeface="Times New Roman"/>
            </a:endParaRPr>
          </a:p>
          <a:p>
            <a:pPr marL="149225" indent="-136525">
              <a:lnSpc>
                <a:spcPct val="100000"/>
              </a:lnSpc>
              <a:spcBef>
                <a:spcPts val="20"/>
              </a:spcBef>
              <a:buFont typeface="Times New Roman"/>
              <a:buChar char="•"/>
              <a:tabLst>
                <a:tab pos="149225" algn="l"/>
              </a:tabLst>
            </a:pPr>
            <a:endParaRPr sz="1800" dirty="0">
              <a:latin typeface="Times New Roman"/>
              <a:cs typeface="Times New Roman"/>
            </a:endParaRPr>
          </a:p>
        </p:txBody>
      </p:sp>
    </p:spTree>
    <p:extLst>
      <p:ext uri="{BB962C8B-B14F-4D97-AF65-F5344CB8AC3E}">
        <p14:creationId xmlns:p14="http://schemas.microsoft.com/office/powerpoint/2010/main" val="4243036810"/>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ACBE13-A9D6-9564-DA47-597E38E09F70}"/>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Approval Mail From Guide</a:t>
            </a:r>
          </a:p>
        </p:txBody>
      </p:sp>
      <p:sp>
        <p:nvSpPr>
          <p:cNvPr id="3" name="Content Placeholder 2">
            <a:extLst>
              <a:ext uri="{FF2B5EF4-FFF2-40B4-BE49-F238E27FC236}">
                <a16:creationId xmlns:a16="http://schemas.microsoft.com/office/drawing/2014/main" xmlns="" id="{8233367C-DAD6-6E34-D21A-A981C09442F2}"/>
              </a:ext>
            </a:extLst>
          </p:cNvPr>
          <p:cNvSpPr>
            <a:spLocks noGrp="1"/>
          </p:cNvSpPr>
          <p:nvPr>
            <p:ph idx="1"/>
          </p:nvPr>
        </p:nvSpPr>
        <p:spPr/>
        <p:txBody>
          <a:bodyPr>
            <a:normAutofit lnSpcReduction="10000"/>
          </a:bodyPr>
          <a:lstStyle/>
          <a:p>
            <a:r>
              <a:rPr lang="en-IN" i="1" dirty="0">
                <a:highlight>
                  <a:srgbClr val="FFFF00"/>
                </a:highlight>
              </a:rPr>
              <a:t>Get the approval for the following points from your guide through mail before  21-10-2026.(sample attached below</a:t>
            </a:r>
            <a:r>
              <a:rPr lang="en-IN" i="1" dirty="0" smtClean="0">
                <a:highlight>
                  <a:srgbClr val="FFFF00"/>
                </a:highlight>
              </a:rPr>
              <a:t>)</a:t>
            </a:r>
          </a:p>
          <a:p>
            <a:endParaRPr lang="en-IN" i="1" dirty="0">
              <a:highlight>
                <a:srgbClr val="FFFF00"/>
              </a:highlight>
            </a:endParaRPr>
          </a:p>
          <a:p>
            <a:endParaRPr lang="en-IN" i="1" dirty="0" smtClean="0">
              <a:highlight>
                <a:srgbClr val="FFFF00"/>
              </a:highlight>
            </a:endParaRPr>
          </a:p>
          <a:p>
            <a:endParaRPr lang="en-IN" i="1" dirty="0" smtClean="0">
              <a:highlight>
                <a:srgbClr val="FFFF00"/>
              </a:highlight>
            </a:endParaRPr>
          </a:p>
          <a:p>
            <a:endParaRPr lang="en-IN" i="1" dirty="0">
              <a:highlight>
                <a:srgbClr val="FFFF00"/>
              </a:highlight>
            </a:endParaRPr>
          </a:p>
          <a:p>
            <a:endParaRPr lang="en-IN" i="1" dirty="0" smtClean="0">
              <a:highlight>
                <a:srgbClr val="FFFF00"/>
              </a:highlight>
            </a:endParaRPr>
          </a:p>
          <a:p>
            <a:endParaRPr lang="en-IN" i="1" dirty="0" smtClean="0">
              <a:highlight>
                <a:srgbClr val="FFFF00"/>
              </a:highlight>
            </a:endParaRPr>
          </a:p>
          <a:p>
            <a:pPr marL="0" indent="0">
              <a:buNone/>
            </a:pPr>
            <a:r>
              <a:rPr lang="en-IN" dirty="0" smtClean="0"/>
              <a:t>All </a:t>
            </a:r>
            <a:r>
              <a:rPr lang="en-IN" dirty="0"/>
              <a:t>the above aspects are addressed and updated by the project team.</a:t>
            </a:r>
          </a:p>
          <a:p>
            <a:pPr marL="0" indent="0">
              <a:buNone/>
            </a:pPr>
            <a:endParaRPr lang="en-IN" dirty="0">
              <a:highlight>
                <a:srgbClr val="FFFF00"/>
              </a:highlight>
            </a:endParaRPr>
          </a:p>
          <a:p>
            <a:endParaRPr lang="en-IN" i="1" dirty="0">
              <a:highlight>
                <a:srgbClr val="FFFF00"/>
              </a:highlight>
            </a:endParaRPr>
          </a:p>
        </p:txBody>
      </p:sp>
      <p:sp>
        <p:nvSpPr>
          <p:cNvPr id="4" name="Date Placeholder 3">
            <a:extLst>
              <a:ext uri="{FF2B5EF4-FFF2-40B4-BE49-F238E27FC236}">
                <a16:creationId xmlns:a16="http://schemas.microsoft.com/office/drawing/2014/main" xmlns="" id="{C7827C50-3ED3-2DB6-C227-6784C6CA9E30}"/>
              </a:ext>
            </a:extLst>
          </p:cNvPr>
          <p:cNvSpPr>
            <a:spLocks noGrp="1"/>
          </p:cNvSpPr>
          <p:nvPr>
            <p:ph type="dt" sz="half" idx="10"/>
          </p:nvPr>
        </p:nvSpPr>
        <p:spPr/>
        <p:txBody>
          <a:bodyPr/>
          <a:lstStyle/>
          <a:p>
            <a:fld id="{FEA886FF-1BA7-4533-94E6-869CE1E2970B}" type="datetime1">
              <a:rPr lang="en-IN" smtClean="0"/>
              <a:t>05/10/26</a:t>
            </a:fld>
            <a:endParaRPr lang="en-IN" dirty="0"/>
          </a:p>
        </p:txBody>
      </p:sp>
      <p:sp>
        <p:nvSpPr>
          <p:cNvPr id="5" name="Footer Placeholder 4">
            <a:extLst>
              <a:ext uri="{FF2B5EF4-FFF2-40B4-BE49-F238E27FC236}">
                <a16:creationId xmlns:a16="http://schemas.microsoft.com/office/drawing/2014/main" xmlns="" id="{56664170-792F-28F8-1C31-5F7A8D69F97E}"/>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EE16528B-72DB-0275-6A94-33ABB5CD7075}"/>
              </a:ext>
            </a:extLst>
          </p:cNvPr>
          <p:cNvSpPr>
            <a:spLocks noGrp="1"/>
          </p:cNvSpPr>
          <p:nvPr>
            <p:ph type="sldNum" sz="quarter" idx="12"/>
          </p:nvPr>
        </p:nvSpPr>
        <p:spPr/>
        <p:txBody>
          <a:bodyPr/>
          <a:lstStyle/>
          <a:p>
            <a:fld id="{65201FD4-9D8D-4491-815B-63C7BF4F0034}" type="slidenum">
              <a:rPr lang="en-IN" smtClean="0"/>
              <a:t>2</a:t>
            </a:fld>
            <a:endParaRPr lang="en-IN"/>
          </a:p>
        </p:txBody>
      </p:sp>
      <p:pic>
        <p:nvPicPr>
          <p:cNvPr id="7" name="Picture 6" descr="Screen Shot 2026-10-05 at 11.12.42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0053" y="2703606"/>
            <a:ext cx="8942979" cy="2671465"/>
          </a:xfrm>
          <a:prstGeom prst="rect">
            <a:avLst/>
          </a:prstGeom>
        </p:spPr>
      </p:pic>
    </p:spTree>
    <p:extLst>
      <p:ext uri="{BB962C8B-B14F-4D97-AF65-F5344CB8AC3E}">
        <p14:creationId xmlns:p14="http://schemas.microsoft.com/office/powerpoint/2010/main" val="1256560622"/>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xmlns="" id="{027305EA-516C-11F8-8A54-2BA046094AB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xmlns="" id="{779E6AA7-AE20-8A91-BA42-261BF76A2F8B}"/>
              </a:ext>
            </a:extLst>
          </p:cNvPr>
          <p:cNvSpPr>
            <a:spLocks noGrp="1"/>
          </p:cNvSpPr>
          <p:nvPr>
            <p:ph type="dt" sz="half" idx="10"/>
          </p:nvPr>
        </p:nvSpPr>
        <p:spPr/>
        <p:txBody>
          <a:bodyPr/>
          <a:lstStyle/>
          <a:p>
            <a:fld id="{61736562-4E3F-4038-A291-A7AE35CC3E6A}" type="datetime1">
              <a:rPr lang="en-IN" smtClean="0"/>
              <a:t>05/10/26</a:t>
            </a:fld>
            <a:endParaRPr lang="en-IN"/>
          </a:p>
        </p:txBody>
      </p:sp>
      <p:sp>
        <p:nvSpPr>
          <p:cNvPr id="8" name="Footer Placeholder 7">
            <a:extLst>
              <a:ext uri="{FF2B5EF4-FFF2-40B4-BE49-F238E27FC236}">
                <a16:creationId xmlns:a16="http://schemas.microsoft.com/office/drawing/2014/main" xmlns=""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xmlns="" id="{5AD6A9DA-AEE9-F6FE-EFA8-06396314F7E6}"/>
              </a:ext>
            </a:extLst>
          </p:cNvPr>
          <p:cNvSpPr>
            <a:spLocks noGrp="1"/>
          </p:cNvSpPr>
          <p:nvPr>
            <p:ph type="sldNum" sz="quarter" idx="12"/>
          </p:nvPr>
        </p:nvSpPr>
        <p:spPr/>
        <p:txBody>
          <a:bodyPr/>
          <a:lstStyle/>
          <a:p>
            <a:fld id="{65201FD4-9D8D-4491-815B-63C7BF4F0034}" type="slidenum">
              <a:rPr lang="en-IN" smtClean="0"/>
              <a:t>3</a:t>
            </a:fld>
            <a:endParaRPr lang="en-IN"/>
          </a:p>
        </p:txBody>
      </p:sp>
      <p:sp>
        <p:nvSpPr>
          <p:cNvPr id="10" name="Aim statement"/>
          <p:cNvSpPr/>
          <p:nvPr/>
        </p:nvSpPr>
        <p:spPr>
          <a:xfrm>
            <a:off x="868680" y="1600200"/>
            <a:ext cx="10469880" cy="233172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73152" bIns="73152"/>
          <a:lstStyle/>
          <a:p>
            <a:pPr algn="l">
              <a:spcBef>
                <a:spcPts val="0"/>
              </a:spcBef>
              <a:spcAft>
                <a:spcPts val="0"/>
              </a:spcAft>
            </a:pPr>
            <a:r>
              <a:rPr sz="2400" b="1" i="0">
                <a:solidFill>
                  <a:srgbClr val="1F3A5F"/>
                </a:solidFill>
                <a:latin typeface="Times New Roman"/>
              </a:rPr>
              <a:t>To </a:t>
            </a:r>
            <a:r>
              <a:rPr sz="2400" b="0" i="0">
                <a:solidFill>
                  <a:srgbClr val="1E1E1E"/>
                </a:solidFill>
                <a:latin typeface="Times New Roman"/>
              </a:rPr>
              <a:t>build a human-in-the-loop Dual-Pillar credit decision support platform that gives bank loan officers an empirical, explainable, and auditable view of an applicant's default risk—combining a 15-dimensional supervised behavioral ML classifier from bank statements with a calibrated macro bureau benchmark—without automating the lending decision.</a:t>
            </a:r>
          </a:p>
        </p:txBody>
      </p:sp>
      <p:sp>
        <p:nvSpPr>
          <p:cNvPr id="11" name="Principle 1"/>
          <p:cNvSpPr/>
          <p:nvPr/>
        </p:nvSpPr>
        <p:spPr>
          <a:xfrm>
            <a:off x="868680" y="4251960"/>
            <a:ext cx="3337560" cy="141732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l">
              <a:spcBef>
                <a:spcPts val="0"/>
              </a:spcBef>
              <a:spcAft>
                <a:spcPts val="400"/>
              </a:spcAft>
            </a:pPr>
            <a:r>
              <a:rPr sz="2000" b="1" i="0">
                <a:solidFill>
                  <a:srgbClr val="1F3A5F"/>
                </a:solidFill>
                <a:latin typeface="Times New Roman"/>
              </a:rPr>
              <a:t>Dual-Pillar ML</a:t>
            </a:r>
          </a:p>
          <a:p>
            <a:pPr algn="l">
              <a:spcBef>
                <a:spcPts val="0"/>
              </a:spcBef>
              <a:spcAft>
                <a:spcPts val="0"/>
              </a:spcAft>
            </a:pPr>
            <a:r>
              <a:rPr sz="1600" b="0" i="0">
                <a:solidFill>
                  <a:srgbClr val="1E1E1E"/>
                </a:solidFill>
                <a:latin typeface="Times New Roman"/>
              </a:rPr>
              <a:t>Supervised Behavioral ML (ROC 0.7725) + Bureau Benchmark (ROC 0.7737)</a:t>
            </a:r>
          </a:p>
        </p:txBody>
      </p:sp>
      <p:sp>
        <p:nvSpPr>
          <p:cNvPr id="12" name="Principle 2"/>
          <p:cNvSpPr/>
          <p:nvPr/>
        </p:nvSpPr>
        <p:spPr>
          <a:xfrm>
            <a:off x="4434840" y="4251960"/>
            <a:ext cx="3337560" cy="1417320"/>
          </a:xfrm>
          <a:prstGeom prst="roundRect">
            <a:avLst>
              <a:gd name="adj" fmla="val 5000"/>
            </a:avLst>
          </a:prstGeom>
          <a:solidFill>
            <a:srgbClr val="E4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l">
              <a:spcBef>
                <a:spcPts val="0"/>
              </a:spcBef>
              <a:spcAft>
                <a:spcPts val="400"/>
              </a:spcAft>
            </a:pPr>
            <a:r>
              <a:rPr sz="2000" b="1" i="0">
                <a:solidFill>
                  <a:srgbClr val="1B6F6A"/>
                </a:solidFill>
                <a:latin typeface="Times New Roman"/>
              </a:rPr>
              <a:t>Human-in-the-loop</a:t>
            </a:r>
          </a:p>
          <a:p>
            <a:pPr algn="l">
              <a:spcBef>
                <a:spcPts val="0"/>
              </a:spcBef>
              <a:spcAft>
                <a:spcPts val="0"/>
              </a:spcAft>
            </a:pPr>
            <a:r>
              <a:rPr sz="1600" b="0" i="0">
                <a:solidFill>
                  <a:srgbClr val="1E1E1E"/>
                </a:solidFill>
                <a:latin typeface="Times New Roman"/>
              </a:rPr>
              <a:t>The 2×2 ML matrix recommends; the loan officer takes the final decision</a:t>
            </a:r>
          </a:p>
        </p:txBody>
      </p:sp>
      <p:sp>
        <p:nvSpPr>
          <p:cNvPr id="13" name="Principle 3"/>
          <p:cNvSpPr/>
          <p:nvPr/>
        </p:nvSpPr>
        <p:spPr>
          <a:xfrm>
            <a:off x="8001000" y="4251960"/>
            <a:ext cx="3337560" cy="141732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l">
              <a:spcBef>
                <a:spcPts val="0"/>
              </a:spcBef>
              <a:spcAft>
                <a:spcPts val="400"/>
              </a:spcAft>
            </a:pPr>
            <a:r>
              <a:rPr sz="2000" b="1" i="0">
                <a:solidFill>
                  <a:srgbClr val="1F3A5F"/>
                </a:solidFill>
                <a:latin typeface="Times New Roman"/>
              </a:rPr>
              <a:t>Auditable &amp; DPDP</a:t>
            </a:r>
          </a:p>
          <a:p>
            <a:pPr algn="l">
              <a:spcBef>
                <a:spcPts val="0"/>
              </a:spcBef>
              <a:spcAft>
                <a:spcPts val="0"/>
              </a:spcAft>
            </a:pPr>
            <a:r>
              <a:rPr sz="1600" b="0" i="0">
                <a:solidFill>
                  <a:srgbClr val="1E1E1E"/>
                </a:solidFill>
                <a:latin typeface="Times New Roman"/>
              </a:rPr>
              <a:t>SHA-256 forward hash-chain tamper-evident log with external anchor</a:t>
            </a:r>
          </a:p>
        </p:txBody>
      </p:sp>
    </p:spTree>
    <p:extLst>
      <p:ext uri="{BB962C8B-B14F-4D97-AF65-F5344CB8AC3E}">
        <p14:creationId xmlns:p14="http://schemas.microsoft.com/office/powerpoint/2010/main" val="2543518868"/>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5DDED8F-1EBD-2E10-598E-0CA3F56F05DF}"/>
              </a:ext>
            </a:extLst>
          </p:cNvPr>
          <p:cNvSpPr>
            <a:spLocks noGrp="1"/>
          </p:cNvSpPr>
          <p:nvPr>
            <p:ph idx="1"/>
          </p:nvPr>
        </p:nvSpPr>
        <p:spPr>
          <a:xfrm>
            <a:off x="868680" y="1463040"/>
            <a:ext cx="10469880" cy="3108960"/>
          </a:xfrm>
        </p:spPr>
        <p:txBody>
          <a:bodyPr>
            <a:normAutofit/>
          </a:bodyPr>
          <a:lstStyle/>
          <a:p>
            <a:pPr>
              <a:spcAft>
                <a:spcPts val="800"/>
              </a:spcAft>
            </a:pPr>
            <a:r>
              <a:rPr lang="en-IN" dirty="0" sz="1800" b="0">
                <a:solidFill>
                  <a:srgbClr val="1E1E1E"/>
                </a:solidFill>
                <a:latin typeface="Times New Roman" panose="02020603050405020304" pitchFamily="18" charset="0"/>
                <a:cs typeface="Times New Roman" panose="02020603050405020304" pitchFamily="18" charset="0"/>
              </a:rPr>
              <a:t>Traditional credit bureaus evaluate static macro history, ignoring high-frequency banking cash flows and transaction-level liquidity dynamics.</a:t>
            </a:r>
          </a:p>
          <a:p>
            <a:pPr>
              <a:spcAft>
                <a:spcPts val="800"/>
              </a:spcAft>
            </a:pPr>
            <a:r>
              <a:rPr lang="en-IN" dirty="0" sz="1800" b="0">
                <a:solidFill>
                  <a:srgbClr val="1E1E1E"/>
                </a:solidFill>
                <a:latin typeface="Times New Roman" panose="02020603050405020304" pitchFamily="18" charset="0"/>
                <a:cs typeface="Times New Roman" panose="02020603050405020304" pitchFamily="18" charset="0"/>
              </a:rPr>
              <a:t>We present a Dual-Pillar ML decision support system: Pillar 1 maps bank transactions via a 15-dimensional feature bridge to train a Platt-calibrated Random Forest (ROC-AUC 0.7725, PR-AUC 0.5304) on 30,000 credit records; Pillar 2 deploys a calibrated LightGBM benchmark (ROC-AUC 0.7737) with exact Tree-SHAP attributions on 196,806 bureau records.</a:t>
            </a:r>
          </a:p>
          <a:p>
            <a:pPr>
              <a:spcAft>
                <a:spcPts val="800"/>
              </a:spcAft>
            </a:pPr>
            <a:r>
              <a:rPr lang="en-IN" dirty="0" sz="1800" b="0">
                <a:solidFill>
                  <a:srgbClr val="1E1E1E"/>
                </a:solidFill>
                <a:latin typeface="Times New Roman" panose="02020603050405020304" pitchFamily="18" charset="0"/>
                <a:cs typeface="Times New Roman" panose="02020603050405020304" pitchFamily="18" charset="0"/>
              </a:rPr>
              <a:t>A unified 2×2 ML Risk Matrix guides underwriters, backed by Tier 1 NLP categorisation, Isolation Forest anomaly checks, and a tamper-evident SHA-256 audit chain. The system recommends; the officer decides.</a:t>
            </a:r>
          </a:p>
        </p:txBody>
      </p:sp>
      <p:sp>
        <p:nvSpPr>
          <p:cNvPr id="4" name="object 2">
            <a:extLst>
              <a:ext uri="{FF2B5EF4-FFF2-40B4-BE49-F238E27FC236}">
                <a16:creationId xmlns:a16="http://schemas.microsoft.com/office/drawing/2014/main" xmlns="" id="{156C6ACB-BF9E-DB99-B99C-4896C652737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7C3D067F-DF0A-3BD2-0B9E-C22E39B7F8C0}"/>
              </a:ext>
            </a:extLst>
          </p:cNvPr>
          <p:cNvSpPr>
            <a:spLocks noGrp="1"/>
          </p:cNvSpPr>
          <p:nvPr>
            <p:ph type="dt" sz="half" idx="10"/>
          </p:nvPr>
        </p:nvSpPr>
        <p:spPr/>
        <p:txBody>
          <a:bodyPr/>
          <a:lstStyle/>
          <a:p>
            <a:fld id="{22261D5D-2F82-4210-B67C-C3AADE7FED47}" type="datetime1">
              <a:rPr lang="en-IN" smtClean="0"/>
              <a:t>05/10/26</a:t>
            </a:fld>
            <a:endParaRPr lang="en-IN"/>
          </a:p>
        </p:txBody>
      </p:sp>
      <p:sp>
        <p:nvSpPr>
          <p:cNvPr id="5" name="Footer Placeholder 4">
            <a:extLst>
              <a:ext uri="{FF2B5EF4-FFF2-40B4-BE49-F238E27FC236}">
                <a16:creationId xmlns:a16="http://schemas.microsoft.com/office/drawing/2014/main" xmlns=""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8BB9991A-41D4-F0AB-EF39-ACE70C817D43}"/>
              </a:ext>
            </a:extLst>
          </p:cNvPr>
          <p:cNvSpPr>
            <a:spLocks noGrp="1"/>
          </p:cNvSpPr>
          <p:nvPr>
            <p:ph type="sldNum" sz="quarter" idx="12"/>
          </p:nvPr>
        </p:nvSpPr>
        <p:spPr/>
        <p:txBody>
          <a:bodyPr/>
          <a:lstStyle/>
          <a:p>
            <a:fld id="{65201FD4-9D8D-4491-815B-63C7BF4F0034}" type="slidenum">
              <a:rPr lang="en-IN" smtClean="0"/>
              <a:t>4</a:t>
            </a:fld>
            <a:endParaRPr lang="en-IN"/>
          </a:p>
        </p:txBody>
      </p:sp>
      <p:sp>
        <p:nvSpPr>
          <p:cNvPr id="7" name="Stat 1"/>
          <p:cNvSpPr/>
          <p:nvPr/>
        </p:nvSpPr>
        <p:spPr>
          <a:xfrm>
            <a:off x="868680" y="4754880"/>
            <a:ext cx="2423160" cy="132588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01168" bIns="201168"/>
          <a:lstStyle/>
          <a:p>
            <a:pPr algn="ctr">
              <a:spcBef>
                <a:spcPts val="0"/>
              </a:spcBef>
              <a:spcAft>
                <a:spcPts val="200"/>
              </a:spcAft>
            </a:pPr>
            <a:r>
              <a:rPr sz="3000" b="1" i="0">
                <a:solidFill>
                  <a:srgbClr val="1F3A5F"/>
                </a:solidFill>
                <a:latin typeface="Times New Roman"/>
              </a:rPr>
              <a:t>0.773 / 0.774</a:t>
            </a:r>
          </a:p>
          <a:p>
            <a:pPr algn="ctr">
              <a:spcBef>
                <a:spcPts val="0"/>
              </a:spcBef>
              <a:spcAft>
                <a:spcPts val="0"/>
              </a:spcAft>
            </a:pPr>
            <a:r>
              <a:rPr sz="1400" b="0" i="0">
                <a:solidFill>
                  <a:srgbClr val="1E1E1E"/>
                </a:solidFill>
                <a:latin typeface="Times New Roman"/>
              </a:rPr>
              <a:t>ROC-AUC (Pillar 1 RF / Pillar 2 LightGBM)</a:t>
            </a:r>
          </a:p>
        </p:txBody>
      </p:sp>
      <p:sp>
        <p:nvSpPr>
          <p:cNvPr id="8" name="Stat 2"/>
          <p:cNvSpPr/>
          <p:nvPr/>
        </p:nvSpPr>
        <p:spPr>
          <a:xfrm>
            <a:off x="3550889" y="4754880"/>
            <a:ext cx="2423160" cy="132588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01168" bIns="201168"/>
          <a:lstStyle/>
          <a:p>
            <a:pPr algn="ctr">
              <a:spcBef>
                <a:spcPts val="0"/>
              </a:spcBef>
              <a:spcAft>
                <a:spcPts val="200"/>
              </a:spcAft>
            </a:pPr>
            <a:r>
              <a:rPr sz="3000" b="1" i="0">
                <a:solidFill>
                  <a:srgbClr val="1F3A5F"/>
                </a:solidFill>
                <a:latin typeface="Times New Roman"/>
              </a:rPr>
              <a:t>100%</a:t>
            </a:r>
          </a:p>
          <a:p>
            <a:pPr algn="ctr">
              <a:spcBef>
                <a:spcPts val="0"/>
              </a:spcBef>
              <a:spcAft>
                <a:spcPts val="0"/>
              </a:spcAft>
            </a:pPr>
            <a:r>
              <a:rPr sz="1400" b="0" i="0">
                <a:solidFill>
                  <a:srgbClr val="1E1E1E"/>
                </a:solidFill>
                <a:latin typeface="Times New Roman"/>
              </a:rPr>
              <a:t>Tier 1 NLP Categorisation (10-fold CV)</a:t>
            </a:r>
          </a:p>
        </p:txBody>
      </p:sp>
      <p:sp>
        <p:nvSpPr>
          <p:cNvPr id="9" name="Stat 3"/>
          <p:cNvSpPr/>
          <p:nvPr/>
        </p:nvSpPr>
        <p:spPr>
          <a:xfrm>
            <a:off x="6233099" y="4754880"/>
            <a:ext cx="2423160" cy="132588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01168" bIns="201168"/>
          <a:lstStyle/>
          <a:p>
            <a:pPr algn="ctr">
              <a:spcBef>
                <a:spcPts val="0"/>
              </a:spcBef>
              <a:spcAft>
                <a:spcPts val="200"/>
              </a:spcAft>
            </a:pPr>
            <a:r>
              <a:rPr sz="3000" b="1" i="0">
                <a:solidFill>
                  <a:srgbClr val="1F3A5F"/>
                </a:solidFill>
                <a:latin typeface="Times New Roman"/>
              </a:rPr>
              <a:t>30k + 196k</a:t>
            </a:r>
          </a:p>
          <a:p>
            <a:pPr algn="ctr">
              <a:spcBef>
                <a:spcPts val="0"/>
              </a:spcBef>
              <a:spcAft>
                <a:spcPts val="0"/>
              </a:spcAft>
            </a:pPr>
            <a:r>
              <a:rPr sz="1400" b="0" i="0">
                <a:solidFill>
                  <a:srgbClr val="1E1E1E"/>
                </a:solidFill>
                <a:latin typeface="Times New Roman"/>
              </a:rPr>
              <a:t>Training records (UCI + Home Credit)</a:t>
            </a:r>
          </a:p>
        </p:txBody>
      </p:sp>
      <p:sp>
        <p:nvSpPr>
          <p:cNvPr id="10" name="Stat 4"/>
          <p:cNvSpPr/>
          <p:nvPr/>
        </p:nvSpPr>
        <p:spPr>
          <a:xfrm>
            <a:off x="8915308" y="4754880"/>
            <a:ext cx="2423160" cy="132588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01168" bIns="201168"/>
          <a:lstStyle/>
          <a:p>
            <a:pPr algn="ctr">
              <a:spcBef>
                <a:spcPts val="0"/>
              </a:spcBef>
              <a:spcAft>
                <a:spcPts val="200"/>
              </a:spcAft>
            </a:pPr>
            <a:r>
              <a:rPr sz="3000" b="1" i="0">
                <a:solidFill>
                  <a:srgbClr val="1F3A5F"/>
                </a:solidFill>
                <a:latin typeface="Times New Roman"/>
              </a:rPr>
              <a:t>127</a:t>
            </a:r>
          </a:p>
          <a:p>
            <a:pPr algn="ctr">
              <a:spcBef>
                <a:spcPts val="0"/>
              </a:spcBef>
              <a:spcAft>
                <a:spcPts val="0"/>
              </a:spcAft>
            </a:pPr>
            <a:r>
              <a:rPr sz="1400" b="0" i="0">
                <a:solidFill>
                  <a:srgbClr val="1E1E1E"/>
                </a:solidFill>
                <a:latin typeface="Times New Roman"/>
              </a:rPr>
              <a:t>Automated pytest tests passing (100%)</a:t>
            </a:r>
          </a:p>
        </p:txBody>
      </p:sp>
    </p:spTree>
    <p:extLst>
      <p:ext uri="{BB962C8B-B14F-4D97-AF65-F5344CB8AC3E}">
        <p14:creationId xmlns:p14="http://schemas.microsoft.com/office/powerpoint/2010/main" val="3453097932"/>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435FB437-6170-6BA2-1A38-A902855A3E61}"/>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xmlns="" id="{913BC6E0-D294-E70D-8B27-13FBFEE5E6F7}"/>
              </a:ext>
            </a:extLst>
          </p:cNvPr>
          <p:cNvSpPr>
            <a:spLocks noGrp="1"/>
          </p:cNvSpPr>
          <p:nvPr>
            <p:ph type="dt" sz="half" idx="10"/>
          </p:nvPr>
        </p:nvSpPr>
        <p:spPr/>
        <p:txBody>
          <a:bodyPr/>
          <a:lstStyle/>
          <a:p>
            <a:fld id="{E919193B-09C0-4C85-858C-650926A9B146}" type="datetime1">
              <a:rPr lang="en-IN" smtClean="0"/>
              <a:t>05/10/26</a:t>
            </a:fld>
            <a:endParaRPr lang="en-IN"/>
          </a:p>
        </p:txBody>
      </p:sp>
      <p:sp>
        <p:nvSpPr>
          <p:cNvPr id="9" name="Footer Placeholder 8">
            <a:extLst>
              <a:ext uri="{FF2B5EF4-FFF2-40B4-BE49-F238E27FC236}">
                <a16:creationId xmlns:a16="http://schemas.microsoft.com/office/drawing/2014/main" xmlns=""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xmlns="" id="{5A8F14EB-D02F-8EDE-87F4-A3F7E8D20C44}"/>
              </a:ext>
            </a:extLst>
          </p:cNvPr>
          <p:cNvSpPr>
            <a:spLocks noGrp="1"/>
          </p:cNvSpPr>
          <p:nvPr>
            <p:ph type="sldNum" sz="quarter" idx="12"/>
          </p:nvPr>
        </p:nvSpPr>
        <p:spPr/>
        <p:txBody>
          <a:bodyPr/>
          <a:lstStyle/>
          <a:p>
            <a:fld id="{65201FD4-9D8D-4491-815B-63C7BF4F0034}" type="slidenum">
              <a:rPr lang="en-IN" smtClean="0"/>
              <a:t>5</a:t>
            </a:fld>
            <a:endParaRPr lang="en-IN"/>
          </a:p>
        </p:txBody>
      </p:sp>
      <p:graphicFrame>
        <p:nvGraphicFramePr>
          <p:cNvPr id="11" name="Literature table"/>
          <p:cNvGraphicFramePr>
            <a:graphicFrameLocks noGrp="1"/>
          </p:cNvGraphicFramePr>
          <p:nvPr/>
        </p:nvGraphicFramePr>
        <p:xfrm>
          <a:off x="868680" y="1508760"/>
          <a:ext cx="10469880" cy="4434840"/>
        </p:xfrm>
        <a:graphic>
          <a:graphicData uri="http://schemas.openxmlformats.org/drawingml/2006/table">
            <a:tbl>
              <a:tblPr firstRow="1" bandRow="0">
                <a:tableStyleId>{5C22544A-7EE6-4342-B048-85BDC9FD1C3A}</a:tableStyleId>
              </a:tblPr>
              <a:tblGrid>
                <a:gridCol w="1828800"/>
                <a:gridCol w="2286000"/>
                <a:gridCol w="2194560"/>
                <a:gridCol w="2103120"/>
                <a:gridCol w="2057400"/>
              </a:tblGrid>
              <a:tr h="411480">
                <a:tc>
                  <a:txBody>
                    <a:bodyPr wrap="square"/>
                    <a:lstStyle/>
                    <a:p>
                      <a:pPr algn="l">
                        <a:spcBef>
                          <a:spcPts val="0"/>
                        </a:spcBef>
                        <a:spcAft>
                          <a:spcPts val="0"/>
                        </a:spcAft>
                      </a:pPr>
                      <a:r>
                        <a:rPr sz="1500" b="1" i="0">
                          <a:solidFill>
                            <a:srgbClr val="FFFFFF"/>
                          </a:solidFill>
                          <a:latin typeface="Times New Roman"/>
                        </a:rPr>
                        <a:t>Paper</a:t>
                      </a:r>
                    </a:p>
                  </a:txBody>
                  <a:tcPr marL="73152" marR="73152" marT="45720" marB="45720" anchor="ctr">
                    <a:solidFill>
                      <a:srgbClr val="1F3A5F"/>
                    </a:solidFill>
                  </a:tcPr>
                </a:tc>
                <a:tc>
                  <a:txBody>
                    <a:bodyPr wrap="square"/>
                    <a:lstStyle/>
                    <a:p>
                      <a:pPr algn="l">
                        <a:spcBef>
                          <a:spcPts val="0"/>
                        </a:spcBef>
                        <a:spcAft>
                          <a:spcPts val="0"/>
                        </a:spcAft>
                      </a:pPr>
                      <a:r>
                        <a:rPr sz="1500" b="1" i="0">
                          <a:solidFill>
                            <a:srgbClr val="FFFFFF"/>
                          </a:solidFill>
                          <a:latin typeface="Times New Roman"/>
                        </a:rPr>
                        <a:t>Objective</a:t>
                      </a:r>
                    </a:p>
                  </a:txBody>
                  <a:tcPr marL="73152" marR="73152" marT="45720" marB="45720" anchor="ctr">
                    <a:solidFill>
                      <a:srgbClr val="1F3A5F"/>
                    </a:solidFill>
                  </a:tcPr>
                </a:tc>
                <a:tc>
                  <a:txBody>
                    <a:bodyPr wrap="square"/>
                    <a:lstStyle/>
                    <a:p>
                      <a:pPr algn="l">
                        <a:spcBef>
                          <a:spcPts val="0"/>
                        </a:spcBef>
                        <a:spcAft>
                          <a:spcPts val="0"/>
                        </a:spcAft>
                      </a:pPr>
                      <a:r>
                        <a:rPr sz="1500" b="1" i="0">
                          <a:solidFill>
                            <a:srgbClr val="FFFFFF"/>
                          </a:solidFill>
                          <a:latin typeface="Times New Roman"/>
                        </a:rPr>
                        <a:t>Methodology</a:t>
                      </a:r>
                    </a:p>
                  </a:txBody>
                  <a:tcPr marL="73152" marR="73152" marT="45720" marB="45720" anchor="ctr">
                    <a:solidFill>
                      <a:srgbClr val="1F3A5F"/>
                    </a:solidFill>
                  </a:tcPr>
                </a:tc>
                <a:tc>
                  <a:txBody>
                    <a:bodyPr wrap="square"/>
                    <a:lstStyle/>
                    <a:p>
                      <a:pPr algn="l">
                        <a:spcBef>
                          <a:spcPts val="0"/>
                        </a:spcBef>
                        <a:spcAft>
                          <a:spcPts val="0"/>
                        </a:spcAft>
                      </a:pPr>
                      <a:r>
                        <a:rPr sz="1500" b="1" i="0">
                          <a:solidFill>
                            <a:srgbClr val="FFFFFF"/>
                          </a:solidFill>
                          <a:latin typeface="Times New Roman"/>
                        </a:rPr>
                        <a:t>Pros / Cons</a:t>
                      </a:r>
                    </a:p>
                  </a:txBody>
                  <a:tcPr marL="73152" marR="73152" marT="45720" marB="45720" anchor="ctr">
                    <a:solidFill>
                      <a:srgbClr val="1F3A5F"/>
                    </a:solidFill>
                  </a:tcPr>
                </a:tc>
                <a:tc>
                  <a:txBody>
                    <a:bodyPr wrap="square"/>
                    <a:lstStyle/>
                    <a:p>
                      <a:pPr algn="l">
                        <a:spcBef>
                          <a:spcPts val="0"/>
                        </a:spcBef>
                        <a:spcAft>
                          <a:spcPts val="0"/>
                        </a:spcAft>
                      </a:pPr>
                      <a:r>
                        <a:rPr sz="1500" b="1" i="0">
                          <a:solidFill>
                            <a:srgbClr val="FFFFFF"/>
                          </a:solidFill>
                          <a:latin typeface="Times New Roman"/>
                        </a:rPr>
                        <a:t>Findings</a:t>
                      </a:r>
                    </a:p>
                  </a:txBody>
                  <a:tcPr marL="73152" marR="73152" marT="45720" marB="45720" anchor="ctr">
                    <a:solidFill>
                      <a:srgbClr val="1F3A5F"/>
                    </a:solidFill>
                  </a:tcPr>
                </a:tc>
              </a:tr>
              <a:tr h="1005840">
                <a:tc>
                  <a:txBody>
                    <a:bodyPr wrap="square"/>
                    <a:lstStyle/>
                    <a:p>
                      <a:pPr algn="l">
                        <a:spcBef>
                          <a:spcPts val="0"/>
                        </a:spcBef>
                        <a:spcAft>
                          <a:spcPts val="0"/>
                        </a:spcAft>
                      </a:pPr>
                      <a:r>
                        <a:rPr sz="1300" b="1" i="0">
                          <a:solidFill>
                            <a:srgbClr val="1F3A5F"/>
                          </a:solidFill>
                          <a:latin typeface="Times New Roman"/>
                        </a:rPr>
                        <a:t>Yeh &amp; Lien (2009) [1]</a:t>
                      </a:r>
                    </a:p>
                  </a:txBody>
                  <a:tcPr marL="73152" marR="73152" marT="45720" marB="45720" anchor="ctr">
                    <a:solidFill>
                      <a:srgbClr val="E9EFF7"/>
                    </a:solidFill>
                  </a:tcPr>
                </a:tc>
                <a:tc>
                  <a:txBody>
                    <a:bodyPr wrap="square"/>
                    <a:lstStyle/>
                    <a:p>
                      <a:pPr algn="l">
                        <a:spcBef>
                          <a:spcPts val="0"/>
                        </a:spcBef>
                        <a:spcAft>
                          <a:spcPts val="0"/>
                        </a:spcAft>
                      </a:pPr>
                      <a:r>
                        <a:rPr sz="1300" b="0" i="0">
                          <a:solidFill>
                            <a:srgbClr val="1E1E1E"/>
                          </a:solidFill>
                          <a:latin typeface="Times New Roman"/>
                        </a:rPr>
                        <a:t>Compare data-mining methods for predicting card-client default</a:t>
                      </a:r>
                    </a:p>
                  </a:txBody>
                  <a:tcPr marL="73152" marR="73152" marT="45720" marB="45720" anchor="ctr">
                    <a:solidFill>
                      <a:srgbClr val="E9EFF7"/>
                    </a:solidFill>
                  </a:tcPr>
                </a:tc>
                <a:tc>
                  <a:txBody>
                    <a:bodyPr wrap="square"/>
                    <a:lstStyle/>
                    <a:p>
                      <a:pPr algn="l">
                        <a:spcBef>
                          <a:spcPts val="0"/>
                        </a:spcBef>
                        <a:spcAft>
                          <a:spcPts val="0"/>
                        </a:spcAft>
                      </a:pPr>
                      <a:r>
                        <a:rPr sz="1300" b="0" i="0">
                          <a:solidFill>
                            <a:srgbClr val="1E1E1E"/>
                          </a:solidFill>
                          <a:latin typeface="Times New Roman"/>
                        </a:rPr>
                        <a:t>Six classifiers on UCI Taiwan data (30,000 clients)</a:t>
                      </a:r>
                    </a:p>
                  </a:txBody>
                  <a:tcPr marL="73152" marR="73152" marT="45720" marB="45720" anchor="ctr">
                    <a:solidFill>
                      <a:srgbClr val="E9EFF7"/>
                    </a:solidFill>
                  </a:tcPr>
                </a:tc>
                <a:tc>
                  <a:txBody>
                    <a:bodyPr wrap="square"/>
                    <a:lstStyle/>
                    <a:p>
                      <a:pPr algn="l">
                        <a:spcBef>
                          <a:spcPts val="0"/>
                        </a:spcBef>
                        <a:spcAft>
                          <a:spcPts val="300"/>
                        </a:spcAft>
                      </a:pPr>
                      <a:r>
                        <a:rPr sz="1300" b="1" i="0">
                          <a:solidFill>
                            <a:srgbClr val="1B6F6A"/>
                          </a:solidFill>
                          <a:latin typeface="Times New Roman"/>
                        </a:rPr>
                        <a:t>Pro: </a:t>
                      </a:r>
                      <a:r>
                        <a:rPr sz="1300" b="0" i="0">
                          <a:solidFill>
                            <a:srgbClr val="1E1E1E"/>
                          </a:solidFill>
                          <a:latin typeface="Times New Roman"/>
                        </a:rPr>
                        <a:t>Public benchmark dataset</a:t>
                      </a:r>
                    </a:p>
                    <a:p>
                      <a:pPr algn="l">
                        <a:spcBef>
                          <a:spcPts val="0"/>
                        </a:spcBef>
                        <a:spcAft>
                          <a:spcPts val="0"/>
                        </a:spcAft>
                      </a:pPr>
                      <a:r>
                        <a:rPr sz="1300" b="1" i="0">
                          <a:solidFill>
                            <a:srgbClr val="B35C00"/>
                          </a:solidFill>
                          <a:latin typeface="Times New Roman"/>
                        </a:rPr>
                        <a:t>Con: </a:t>
                      </a:r>
                      <a:r>
                        <a:rPr sz="1300" b="0" i="0">
                          <a:solidFill>
                            <a:srgbClr val="1E1E1E"/>
                          </a:solidFill>
                          <a:latin typeface="Times New Roman"/>
                        </a:rPr>
                        <a:t>Single market; no cash-flow data</a:t>
                      </a:r>
                    </a:p>
                  </a:txBody>
                  <a:tcPr marL="73152" marR="73152" marT="45720" marB="45720" anchor="ctr">
                    <a:solidFill>
                      <a:srgbClr val="E9EFF7"/>
                    </a:solidFill>
                  </a:tcPr>
                </a:tc>
                <a:tc>
                  <a:txBody>
                    <a:bodyPr wrap="square"/>
                    <a:lstStyle/>
                    <a:p>
                      <a:pPr algn="l">
                        <a:spcBef>
                          <a:spcPts val="0"/>
                        </a:spcBef>
                        <a:spcAft>
                          <a:spcPts val="0"/>
                        </a:spcAft>
                      </a:pPr>
                      <a:r>
                        <a:rPr sz="1300" b="0" i="0">
                          <a:solidFill>
                            <a:srgbClr val="1E1E1E"/>
                          </a:solidFill>
                          <a:latin typeface="Times New Roman"/>
                        </a:rPr>
                        <a:t>Similar accuracy; neural network best at estimating true default probability</a:t>
                      </a:r>
                    </a:p>
                  </a:txBody>
                  <a:tcPr marL="73152" marR="73152" marT="45720" marB="45720" anchor="ctr">
                    <a:solidFill>
                      <a:srgbClr val="E9EFF7"/>
                    </a:solidFill>
                  </a:tcPr>
                </a:tc>
              </a:tr>
              <a:tr h="1005840">
                <a:tc>
                  <a:txBody>
                    <a:bodyPr wrap="square"/>
                    <a:lstStyle/>
                    <a:p>
                      <a:pPr algn="l">
                        <a:spcBef>
                          <a:spcPts val="0"/>
                        </a:spcBef>
                        <a:spcAft>
                          <a:spcPts val="0"/>
                        </a:spcAft>
                      </a:pPr>
                      <a:r>
                        <a:rPr sz="1300" b="1" i="0">
                          <a:solidFill>
                            <a:srgbClr val="1F3A5F"/>
                          </a:solidFill>
                          <a:latin typeface="Times New Roman"/>
                        </a:rPr>
                        <a:t>Lessmann et al. (2015) [2]</a:t>
                      </a:r>
                    </a:p>
                  </a:txBody>
                  <a:tcPr marL="73152" marR="73152" marT="45720" marB="45720" anchor="ctr">
                    <a:solidFill>
                      <a:srgbClr val="FFFFFF"/>
                    </a:solidFill>
                  </a:tcPr>
                </a:tc>
                <a:tc>
                  <a:txBody>
                    <a:bodyPr wrap="square"/>
                    <a:lstStyle/>
                    <a:p>
                      <a:pPr algn="l">
                        <a:spcBef>
                          <a:spcPts val="0"/>
                        </a:spcBef>
                        <a:spcAft>
                          <a:spcPts val="0"/>
                        </a:spcAft>
                      </a:pPr>
                      <a:r>
                        <a:rPr sz="1300" b="0" i="0">
                          <a:solidFill>
                            <a:srgbClr val="1E1E1E"/>
                          </a:solidFill>
                          <a:latin typeface="Times New Roman"/>
                        </a:rPr>
                        <a:t>Update the credit-scoring classifier benchmark</a:t>
                      </a:r>
                    </a:p>
                  </a:txBody>
                  <a:tcPr marL="73152" marR="73152" marT="45720" marB="45720" anchor="ctr">
                    <a:solidFill>
                      <a:srgbClr val="FFFFFF"/>
                    </a:solidFill>
                  </a:tcPr>
                </a:tc>
                <a:tc>
                  <a:txBody>
                    <a:bodyPr wrap="square"/>
                    <a:lstStyle/>
                    <a:p>
                      <a:pPr algn="l">
                        <a:spcBef>
                          <a:spcPts val="0"/>
                        </a:spcBef>
                        <a:spcAft>
                          <a:spcPts val="0"/>
                        </a:spcAft>
                      </a:pPr>
                      <a:r>
                        <a:rPr sz="1300" b="0" i="0">
                          <a:solidFill>
                            <a:srgbClr val="1E1E1E"/>
                          </a:solidFill>
                          <a:latin typeface="Times New Roman"/>
                        </a:rPr>
                        <a:t>41 classifiers compared on 8 datasets</a:t>
                      </a:r>
                    </a:p>
                  </a:txBody>
                  <a:tcPr marL="73152" marR="73152" marT="45720" marB="45720" anchor="ctr">
                    <a:solidFill>
                      <a:srgbClr val="FFFFFF"/>
                    </a:solidFill>
                  </a:tcPr>
                </a:tc>
                <a:tc>
                  <a:txBody>
                    <a:bodyPr wrap="square"/>
                    <a:lstStyle/>
                    <a:p>
                      <a:pPr algn="l">
                        <a:spcBef>
                          <a:spcPts val="0"/>
                        </a:spcBef>
                        <a:spcAft>
                          <a:spcPts val="300"/>
                        </a:spcAft>
                      </a:pPr>
                      <a:r>
                        <a:rPr sz="1300" b="1" i="0">
                          <a:solidFill>
                            <a:srgbClr val="1B6F6A"/>
                          </a:solidFill>
                          <a:latin typeface="Times New Roman"/>
                        </a:rPr>
                        <a:t>Pro: </a:t>
                      </a:r>
                      <a:r>
                        <a:rPr sz="1300" b="0" i="0">
                          <a:solidFill>
                            <a:srgbClr val="1E1E1E"/>
                          </a:solidFill>
                          <a:latin typeface="Times New Roman"/>
                        </a:rPr>
                        <a:t>Broad, rigorous comparison</a:t>
                      </a:r>
                    </a:p>
                    <a:p>
                      <a:pPr algn="l">
                        <a:spcBef>
                          <a:spcPts val="0"/>
                        </a:spcBef>
                        <a:spcAft>
                          <a:spcPts val="0"/>
                        </a:spcAft>
                      </a:pPr>
                      <a:r>
                        <a:rPr sz="1300" b="1" i="0">
                          <a:solidFill>
                            <a:srgbClr val="B35C00"/>
                          </a:solidFill>
                          <a:latin typeface="Times New Roman"/>
                        </a:rPr>
                        <a:t>Con: </a:t>
                      </a:r>
                      <a:r>
                        <a:rPr sz="1300" b="0" i="0">
                          <a:solidFill>
                            <a:srgbClr val="1E1E1E"/>
                          </a:solidFill>
                          <a:latin typeface="Times New Roman"/>
                        </a:rPr>
                        <a:t>Static application data only</a:t>
                      </a:r>
                    </a:p>
                  </a:txBody>
                  <a:tcPr marL="73152" marR="73152" marT="45720" marB="45720" anchor="ctr">
                    <a:solidFill>
                      <a:srgbClr val="FFFFFF"/>
                    </a:solidFill>
                  </a:tcPr>
                </a:tc>
                <a:tc>
                  <a:txBody>
                    <a:bodyPr wrap="square"/>
                    <a:lstStyle/>
                    <a:p>
                      <a:pPr algn="l">
                        <a:spcBef>
                          <a:spcPts val="0"/>
                        </a:spcBef>
                        <a:spcAft>
                          <a:spcPts val="0"/>
                        </a:spcAft>
                      </a:pPr>
                      <a:r>
                        <a:rPr sz="1300" b="0" i="0">
                          <a:solidFill>
                            <a:srgbClr val="1E1E1E"/>
                          </a:solidFill>
                          <a:latin typeface="Times New Roman"/>
                        </a:rPr>
                        <a:t>Ensembles outperform logistic regression, motivating gradient boosting</a:t>
                      </a:r>
                    </a:p>
                  </a:txBody>
                  <a:tcPr marL="73152" marR="73152" marT="45720" marB="45720" anchor="ctr">
                    <a:solidFill>
                      <a:srgbClr val="FFFFFF"/>
                    </a:solidFill>
                  </a:tcPr>
                </a:tc>
              </a:tr>
              <a:tr h="1005840">
                <a:tc>
                  <a:txBody>
                    <a:bodyPr wrap="square"/>
                    <a:lstStyle/>
                    <a:p>
                      <a:pPr algn="l">
                        <a:spcBef>
                          <a:spcPts val="0"/>
                        </a:spcBef>
                        <a:spcAft>
                          <a:spcPts val="0"/>
                        </a:spcAft>
                      </a:pPr>
                      <a:r>
                        <a:rPr sz="1300" b="1" i="0">
                          <a:solidFill>
                            <a:srgbClr val="1F3A5F"/>
                          </a:solidFill>
                          <a:latin typeface="Times New Roman"/>
                        </a:rPr>
                        <a:t>Khandani et al. (2010) [3]</a:t>
                      </a:r>
                    </a:p>
                  </a:txBody>
                  <a:tcPr marL="73152" marR="73152" marT="45720" marB="45720" anchor="ctr">
                    <a:solidFill>
                      <a:srgbClr val="E9EFF7"/>
                    </a:solidFill>
                  </a:tcPr>
                </a:tc>
                <a:tc>
                  <a:txBody>
                    <a:bodyPr wrap="square"/>
                    <a:lstStyle/>
                    <a:p>
                      <a:pPr algn="l">
                        <a:spcBef>
                          <a:spcPts val="0"/>
                        </a:spcBef>
                        <a:spcAft>
                          <a:spcPts val="0"/>
                        </a:spcAft>
                      </a:pPr>
                      <a:r>
                        <a:rPr sz="1300" b="0" i="0">
                          <a:solidFill>
                            <a:srgbClr val="1E1E1E"/>
                          </a:solidFill>
                          <a:latin typeface="Times New Roman"/>
                        </a:rPr>
                        <a:t>Forecast consumer delinquency from transaction and bureau data</a:t>
                      </a:r>
                    </a:p>
                  </a:txBody>
                  <a:tcPr marL="73152" marR="73152" marT="45720" marB="45720" anchor="ctr">
                    <a:solidFill>
                      <a:srgbClr val="E9EFF7"/>
                    </a:solidFill>
                  </a:tcPr>
                </a:tc>
                <a:tc>
                  <a:txBody>
                    <a:bodyPr wrap="square"/>
                    <a:lstStyle/>
                    <a:p>
                      <a:pPr algn="l">
                        <a:spcBef>
                          <a:spcPts val="0"/>
                        </a:spcBef>
                        <a:spcAft>
                          <a:spcPts val="0"/>
                        </a:spcAft>
                      </a:pPr>
                      <a:r>
                        <a:rPr sz="1300" b="0" i="0">
                          <a:solidFill>
                            <a:srgbClr val="1E1E1E"/>
                          </a:solidFill>
                          <a:latin typeface="Times New Roman"/>
                        </a:rPr>
                        <a:t>Machine-learning models on bank customer data</a:t>
                      </a:r>
                    </a:p>
                  </a:txBody>
                  <a:tcPr marL="73152" marR="73152" marT="45720" marB="45720" anchor="ctr">
                    <a:solidFill>
                      <a:srgbClr val="E9EFF7"/>
                    </a:solidFill>
                  </a:tcPr>
                </a:tc>
                <a:tc>
                  <a:txBody>
                    <a:bodyPr wrap="square"/>
                    <a:lstStyle/>
                    <a:p>
                      <a:pPr algn="l">
                        <a:spcBef>
                          <a:spcPts val="0"/>
                        </a:spcBef>
                        <a:spcAft>
                          <a:spcPts val="300"/>
                        </a:spcAft>
                      </a:pPr>
                      <a:r>
                        <a:rPr sz="1300" b="1" i="0">
                          <a:solidFill>
                            <a:srgbClr val="1B6F6A"/>
                          </a:solidFill>
                          <a:latin typeface="Times New Roman"/>
                        </a:rPr>
                        <a:t>Pro: </a:t>
                      </a:r>
                      <a:r>
                        <a:rPr sz="1300" b="0" i="0">
                          <a:solidFill>
                            <a:srgbClr val="1E1E1E"/>
                          </a:solidFill>
                          <a:latin typeface="Times New Roman"/>
                        </a:rPr>
                        <a:t>Shows transaction behaviour adds signal</a:t>
                      </a:r>
                    </a:p>
                    <a:p>
                      <a:pPr algn="l">
                        <a:spcBef>
                          <a:spcPts val="0"/>
                        </a:spcBef>
                        <a:spcAft>
                          <a:spcPts val="0"/>
                        </a:spcAft>
                      </a:pPr>
                      <a:r>
                        <a:rPr sz="1300" b="1" i="0">
                          <a:solidFill>
                            <a:srgbClr val="B35C00"/>
                          </a:solidFill>
                          <a:latin typeface="Times New Roman"/>
                        </a:rPr>
                        <a:t>Con: </a:t>
                      </a:r>
                      <a:r>
                        <a:rPr sz="1300" b="0" i="0">
                          <a:solidFill>
                            <a:srgbClr val="1E1E1E"/>
                          </a:solidFill>
                          <a:latin typeface="Times New Roman"/>
                        </a:rPr>
                        <a:t>Proprietary data; not reproducible</a:t>
                      </a:r>
                    </a:p>
                  </a:txBody>
                  <a:tcPr marL="73152" marR="73152" marT="45720" marB="45720" anchor="ctr">
                    <a:solidFill>
                      <a:srgbClr val="E9EFF7"/>
                    </a:solidFill>
                  </a:tcPr>
                </a:tc>
                <a:tc>
                  <a:txBody>
                    <a:bodyPr wrap="square"/>
                    <a:lstStyle/>
                    <a:p>
                      <a:pPr algn="l">
                        <a:spcBef>
                          <a:spcPts val="0"/>
                        </a:spcBef>
                        <a:spcAft>
                          <a:spcPts val="0"/>
                        </a:spcAft>
                      </a:pPr>
                      <a:r>
                        <a:rPr sz="1300" b="0" i="0">
                          <a:solidFill>
                            <a:srgbClr val="1E1E1E"/>
                          </a:solidFill>
                          <a:latin typeface="Times New Roman"/>
                        </a:rPr>
                        <a:t>ML improves delinquency forecasts and yields sizeable cost savings</a:t>
                      </a:r>
                    </a:p>
                  </a:txBody>
                  <a:tcPr marL="73152" marR="73152" marT="45720" marB="45720" anchor="ctr">
                    <a:solidFill>
                      <a:srgbClr val="E9EFF7"/>
                    </a:solidFill>
                  </a:tcPr>
                </a:tc>
              </a:tr>
              <a:tr h="1005840">
                <a:tc>
                  <a:txBody>
                    <a:bodyPr wrap="square"/>
                    <a:lstStyle/>
                    <a:p>
                      <a:pPr algn="l">
                        <a:spcBef>
                          <a:spcPts val="0"/>
                        </a:spcBef>
                        <a:spcAft>
                          <a:spcPts val="0"/>
                        </a:spcAft>
                      </a:pPr>
                      <a:r>
                        <a:rPr sz="1300" b="1" i="0">
                          <a:solidFill>
                            <a:srgbClr val="1F3A5F"/>
                          </a:solidFill>
                          <a:latin typeface="Times New Roman"/>
                        </a:rPr>
                        <a:t>Bhatore et al. (2020) [4]</a:t>
                      </a:r>
                    </a:p>
                  </a:txBody>
                  <a:tcPr marL="73152" marR="73152" marT="45720" marB="45720" anchor="ctr">
                    <a:solidFill>
                      <a:srgbClr val="FFFFFF"/>
                    </a:solidFill>
                  </a:tcPr>
                </a:tc>
                <a:tc>
                  <a:txBody>
                    <a:bodyPr wrap="square"/>
                    <a:lstStyle/>
                    <a:p>
                      <a:pPr algn="l">
                        <a:spcBef>
                          <a:spcPts val="0"/>
                        </a:spcBef>
                        <a:spcAft>
                          <a:spcPts val="0"/>
                        </a:spcAft>
                      </a:pPr>
                      <a:r>
                        <a:rPr sz="1300" b="0" i="0">
                          <a:solidFill>
                            <a:srgbClr val="1E1E1E"/>
                          </a:solidFill>
                          <a:latin typeface="Times New Roman"/>
                        </a:rPr>
                        <a:t>Review ML techniques used for credit-risk evaluation</a:t>
                      </a:r>
                    </a:p>
                  </a:txBody>
                  <a:tcPr marL="73152" marR="73152" marT="45720" marB="45720" anchor="ctr">
                    <a:solidFill>
                      <a:srgbClr val="FFFFFF"/>
                    </a:solidFill>
                  </a:tcPr>
                </a:tc>
                <a:tc>
                  <a:txBody>
                    <a:bodyPr wrap="square"/>
                    <a:lstStyle/>
                    <a:p>
                      <a:pPr algn="l">
                        <a:spcBef>
                          <a:spcPts val="0"/>
                        </a:spcBef>
                        <a:spcAft>
                          <a:spcPts val="0"/>
                        </a:spcAft>
                      </a:pPr>
                      <a:r>
                        <a:rPr sz="1300" b="0" i="0">
                          <a:solidFill>
                            <a:srgbClr val="1E1E1E"/>
                          </a:solidFill>
                          <a:latin typeface="Times New Roman"/>
                        </a:rPr>
                        <a:t>Systematic literature review</a:t>
                      </a:r>
                    </a:p>
                  </a:txBody>
                  <a:tcPr marL="73152" marR="73152" marT="45720" marB="45720" anchor="ctr">
                    <a:solidFill>
                      <a:srgbClr val="FFFFFF"/>
                    </a:solidFill>
                  </a:tcPr>
                </a:tc>
                <a:tc>
                  <a:txBody>
                    <a:bodyPr wrap="square"/>
                    <a:lstStyle/>
                    <a:p>
                      <a:pPr algn="l">
                        <a:spcBef>
                          <a:spcPts val="0"/>
                        </a:spcBef>
                        <a:spcAft>
                          <a:spcPts val="300"/>
                        </a:spcAft>
                      </a:pPr>
                      <a:r>
                        <a:rPr sz="1300" b="1" i="0">
                          <a:solidFill>
                            <a:srgbClr val="1B6F6A"/>
                          </a:solidFill>
                          <a:latin typeface="Times New Roman"/>
                        </a:rPr>
                        <a:t>Pro: </a:t>
                      </a:r>
                      <a:r>
                        <a:rPr sz="1300" b="0" i="0">
                          <a:solidFill>
                            <a:srgbClr val="1E1E1E"/>
                          </a:solidFill>
                          <a:latin typeface="Times New Roman"/>
                        </a:rPr>
                        <a:t>Maps techniques and trends</a:t>
                      </a:r>
                    </a:p>
                    <a:p>
                      <a:pPr algn="l">
                        <a:spcBef>
                          <a:spcPts val="0"/>
                        </a:spcBef>
                        <a:spcAft>
                          <a:spcPts val="0"/>
                        </a:spcAft>
                      </a:pPr>
                      <a:r>
                        <a:rPr sz="1300" b="1" i="0">
                          <a:solidFill>
                            <a:srgbClr val="B35C00"/>
                          </a:solidFill>
                          <a:latin typeface="Times New Roman"/>
                        </a:rPr>
                        <a:t>Con: </a:t>
                      </a:r>
                      <a:r>
                        <a:rPr sz="1300" b="0" i="0">
                          <a:solidFill>
                            <a:srgbClr val="1E1E1E"/>
                          </a:solidFill>
                          <a:latin typeface="Times New Roman"/>
                        </a:rPr>
                        <a:t>No new model or deployment design</a:t>
                      </a:r>
                    </a:p>
                  </a:txBody>
                  <a:tcPr marL="73152" marR="73152" marT="45720" marB="45720" anchor="ctr">
                    <a:solidFill>
                      <a:srgbClr val="FFFFFF"/>
                    </a:solidFill>
                  </a:tcPr>
                </a:tc>
                <a:tc>
                  <a:txBody>
                    <a:bodyPr wrap="square"/>
                    <a:lstStyle/>
                    <a:p>
                      <a:pPr algn="l">
                        <a:spcBef>
                          <a:spcPts val="0"/>
                        </a:spcBef>
                        <a:spcAft>
                          <a:spcPts val="0"/>
                        </a:spcAft>
                      </a:pPr>
                      <a:r>
                        <a:rPr sz="1300" b="0" i="0">
                          <a:solidFill>
                            <a:srgbClr val="1E1E1E"/>
                          </a:solidFill>
                          <a:latin typeface="Times New Roman"/>
                        </a:rPr>
                        <a:t>Highlights need for interpretable, deployable credit models</a:t>
                      </a:r>
                    </a:p>
                  </a:txBody>
                  <a:tcPr marL="73152" marR="73152" marT="45720" marB="45720" anchor="ctr">
                    <a:solidFill>
                      <a:srgbClr val="FFFFFF"/>
                    </a:solidFill>
                  </a:tcPr>
                </a:tc>
              </a:tr>
            </a:tbl>
          </a:graphicData>
        </a:graphic>
      </p:graphicFrame>
    </p:spTree>
    <p:extLst>
      <p:ext uri="{BB962C8B-B14F-4D97-AF65-F5344CB8AC3E}">
        <p14:creationId xmlns:p14="http://schemas.microsoft.com/office/powerpoint/2010/main" val="85744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435FB437-6170-6BA2-1A38-A902855A3E61}"/>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 (contd.)</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xmlns="" id="{913BC6E0-D294-E70D-8B27-13FBFEE5E6F7}"/>
              </a:ext>
            </a:extLst>
          </p:cNvPr>
          <p:cNvSpPr>
            <a:spLocks noGrp="1"/>
          </p:cNvSpPr>
          <p:nvPr>
            <p:ph type="dt" sz="half" idx="10"/>
          </p:nvPr>
        </p:nvSpPr>
        <p:spPr/>
        <p:txBody>
          <a:bodyPr/>
          <a:lstStyle/>
          <a:p>
            <a:fld id="{E919193B-09C0-4C85-858C-650926A9B146}" type="datetime1">
              <a:rPr lang="en-IN" smtClean="0"/>
              <a:t>05/10/26</a:t>
            </a:fld>
            <a:endParaRPr lang="en-IN"/>
          </a:p>
        </p:txBody>
      </p:sp>
      <p:sp>
        <p:nvSpPr>
          <p:cNvPr id="9" name="Footer Placeholder 8">
            <a:extLst>
              <a:ext uri="{FF2B5EF4-FFF2-40B4-BE49-F238E27FC236}">
                <a16:creationId xmlns:a16="http://schemas.microsoft.com/office/drawing/2014/main" xmlns=""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xmlns="" id="{5A8F14EB-D02F-8EDE-87F4-A3F7E8D20C44}"/>
              </a:ext>
            </a:extLst>
          </p:cNvPr>
          <p:cNvSpPr>
            <a:spLocks noGrp="1"/>
          </p:cNvSpPr>
          <p:nvPr>
            <p:ph type="sldNum" sz="quarter" idx="12"/>
          </p:nvPr>
        </p:nvSpPr>
        <p:spPr/>
        <p:txBody>
          <a:bodyPr/>
          <a:lstStyle/>
          <a:p>
            <a:fld id="{65201FD4-9D8D-4491-815B-63C7BF4F0034}" type="slidenum">
              <a:rPr lang="en-IN" smtClean="0"/>
              <a:t>5</a:t>
            </a:fld>
            <a:endParaRPr lang="en-IN"/>
          </a:p>
        </p:txBody>
      </p:sp>
      <p:graphicFrame>
        <p:nvGraphicFramePr>
          <p:cNvPr id="11" name="Literature table"/>
          <p:cNvGraphicFramePr>
            <a:graphicFrameLocks noGrp="1"/>
          </p:cNvGraphicFramePr>
          <p:nvPr/>
        </p:nvGraphicFramePr>
        <p:xfrm>
          <a:off x="868680" y="1508760"/>
          <a:ext cx="10469880" cy="4251960"/>
        </p:xfrm>
        <a:graphic>
          <a:graphicData uri="http://schemas.openxmlformats.org/drawingml/2006/table">
            <a:tbl>
              <a:tblPr firstRow="1" bandRow="0">
                <a:tableStyleId>{5C22544A-7EE6-4342-B048-85BDC9FD1C3A}</a:tableStyleId>
              </a:tblPr>
              <a:tblGrid>
                <a:gridCol w="1828800"/>
                <a:gridCol w="2286000"/>
                <a:gridCol w="2194560"/>
                <a:gridCol w="2103120"/>
                <a:gridCol w="2057400"/>
              </a:tblGrid>
              <a:tr h="411480">
                <a:tc>
                  <a:txBody>
                    <a:bodyPr wrap="square"/>
                    <a:lstStyle/>
                    <a:p>
                      <a:pPr algn="l">
                        <a:spcBef>
                          <a:spcPts val="0"/>
                        </a:spcBef>
                        <a:spcAft>
                          <a:spcPts val="0"/>
                        </a:spcAft>
                      </a:pPr>
                      <a:r>
                        <a:rPr sz="1500" b="1" i="0">
                          <a:solidFill>
                            <a:srgbClr val="FFFFFF"/>
                          </a:solidFill>
                          <a:latin typeface="Times New Roman"/>
                        </a:rPr>
                        <a:t>Paper</a:t>
                      </a:r>
                    </a:p>
                  </a:txBody>
                  <a:tcPr marL="73152" marR="73152" marT="45720" marB="45720" anchor="ctr">
                    <a:solidFill>
                      <a:srgbClr val="1F3A5F"/>
                    </a:solidFill>
                  </a:tcPr>
                </a:tc>
                <a:tc>
                  <a:txBody>
                    <a:bodyPr wrap="square"/>
                    <a:lstStyle/>
                    <a:p>
                      <a:pPr algn="l">
                        <a:spcBef>
                          <a:spcPts val="0"/>
                        </a:spcBef>
                        <a:spcAft>
                          <a:spcPts val="0"/>
                        </a:spcAft>
                      </a:pPr>
                      <a:r>
                        <a:rPr sz="1500" b="1" i="0">
                          <a:solidFill>
                            <a:srgbClr val="FFFFFF"/>
                          </a:solidFill>
                          <a:latin typeface="Times New Roman"/>
                        </a:rPr>
                        <a:t>Objective</a:t>
                      </a:r>
                    </a:p>
                  </a:txBody>
                  <a:tcPr marL="73152" marR="73152" marT="45720" marB="45720" anchor="ctr">
                    <a:solidFill>
                      <a:srgbClr val="1F3A5F"/>
                    </a:solidFill>
                  </a:tcPr>
                </a:tc>
                <a:tc>
                  <a:txBody>
                    <a:bodyPr wrap="square"/>
                    <a:lstStyle/>
                    <a:p>
                      <a:pPr algn="l">
                        <a:spcBef>
                          <a:spcPts val="0"/>
                        </a:spcBef>
                        <a:spcAft>
                          <a:spcPts val="0"/>
                        </a:spcAft>
                      </a:pPr>
                      <a:r>
                        <a:rPr sz="1500" b="1" i="0">
                          <a:solidFill>
                            <a:srgbClr val="FFFFFF"/>
                          </a:solidFill>
                          <a:latin typeface="Times New Roman"/>
                        </a:rPr>
                        <a:t>Methodology</a:t>
                      </a:r>
                    </a:p>
                  </a:txBody>
                  <a:tcPr marL="73152" marR="73152" marT="45720" marB="45720" anchor="ctr">
                    <a:solidFill>
                      <a:srgbClr val="1F3A5F"/>
                    </a:solidFill>
                  </a:tcPr>
                </a:tc>
                <a:tc>
                  <a:txBody>
                    <a:bodyPr wrap="square"/>
                    <a:lstStyle/>
                    <a:p>
                      <a:pPr algn="l">
                        <a:spcBef>
                          <a:spcPts val="0"/>
                        </a:spcBef>
                        <a:spcAft>
                          <a:spcPts val="0"/>
                        </a:spcAft>
                      </a:pPr>
                      <a:r>
                        <a:rPr sz="1500" b="1" i="0">
                          <a:solidFill>
                            <a:srgbClr val="FFFFFF"/>
                          </a:solidFill>
                          <a:latin typeface="Times New Roman"/>
                        </a:rPr>
                        <a:t>Pros / Cons</a:t>
                      </a:r>
                    </a:p>
                  </a:txBody>
                  <a:tcPr marL="73152" marR="73152" marT="45720" marB="45720" anchor="ctr">
                    <a:solidFill>
                      <a:srgbClr val="1F3A5F"/>
                    </a:solidFill>
                  </a:tcPr>
                </a:tc>
                <a:tc>
                  <a:txBody>
                    <a:bodyPr wrap="square"/>
                    <a:lstStyle/>
                    <a:p>
                      <a:pPr algn="l">
                        <a:spcBef>
                          <a:spcPts val="0"/>
                        </a:spcBef>
                        <a:spcAft>
                          <a:spcPts val="0"/>
                        </a:spcAft>
                      </a:pPr>
                      <a:r>
                        <a:rPr sz="1500" b="1" i="0">
                          <a:solidFill>
                            <a:srgbClr val="FFFFFF"/>
                          </a:solidFill>
                          <a:latin typeface="Times New Roman"/>
                        </a:rPr>
                        <a:t>Findings</a:t>
                      </a:r>
                    </a:p>
                  </a:txBody>
                  <a:tcPr marL="73152" marR="73152" marT="45720" marB="45720" anchor="ctr">
                    <a:solidFill>
                      <a:srgbClr val="1F3A5F"/>
                    </a:solidFill>
                  </a:tcPr>
                </a:tc>
              </a:tr>
              <a:tr h="1280160">
                <a:tc>
                  <a:txBody>
                    <a:bodyPr wrap="square"/>
                    <a:lstStyle/>
                    <a:p>
                      <a:pPr algn="l">
                        <a:spcBef>
                          <a:spcPts val="0"/>
                        </a:spcBef>
                        <a:spcAft>
                          <a:spcPts val="0"/>
                        </a:spcAft>
                      </a:pPr>
                      <a:r>
                        <a:rPr sz="1300" b="1" i="0">
                          <a:solidFill>
                            <a:srgbClr val="1F3A5F"/>
                          </a:solidFill>
                          <a:latin typeface="Times New Roman"/>
                        </a:rPr>
                        <a:t>Ke et al. (2017) [5]</a:t>
                      </a:r>
                    </a:p>
                  </a:txBody>
                  <a:tcPr marL="73152" marR="73152" marT="45720" marB="45720" anchor="ctr">
                    <a:solidFill>
                      <a:srgbClr val="E9EFF7"/>
                    </a:solidFill>
                  </a:tcPr>
                </a:tc>
                <a:tc>
                  <a:txBody>
                    <a:bodyPr wrap="square"/>
                    <a:lstStyle/>
                    <a:p>
                      <a:pPr algn="l">
                        <a:spcBef>
                          <a:spcPts val="0"/>
                        </a:spcBef>
                        <a:spcAft>
                          <a:spcPts val="0"/>
                        </a:spcAft>
                      </a:pPr>
                      <a:r>
                        <a:rPr sz="1300" b="0" i="0">
                          <a:solidFill>
                            <a:srgbClr val="1E1E1E"/>
                          </a:solidFill>
                          <a:latin typeface="Times New Roman"/>
                        </a:rPr>
                        <a:t>Make gradient boosting faster and lighter on large data</a:t>
                      </a:r>
                    </a:p>
                  </a:txBody>
                  <a:tcPr marL="73152" marR="73152" marT="45720" marB="45720" anchor="ctr">
                    <a:solidFill>
                      <a:srgbClr val="E9EFF7"/>
                    </a:solidFill>
                  </a:tcPr>
                </a:tc>
                <a:tc>
                  <a:txBody>
                    <a:bodyPr wrap="square"/>
                    <a:lstStyle/>
                    <a:p>
                      <a:pPr algn="l">
                        <a:spcBef>
                          <a:spcPts val="0"/>
                        </a:spcBef>
                        <a:spcAft>
                          <a:spcPts val="0"/>
                        </a:spcAft>
                      </a:pPr>
                      <a:r>
                        <a:rPr sz="1300" b="0" i="0">
                          <a:solidFill>
                            <a:srgbClr val="1E1E1E"/>
                          </a:solidFill>
                          <a:latin typeface="Times New Roman"/>
                        </a:rPr>
                        <a:t>LightGBM: gradient-based one-side sampling and feature bundling</a:t>
                      </a:r>
                    </a:p>
                  </a:txBody>
                  <a:tcPr marL="73152" marR="73152" marT="45720" marB="45720" anchor="ctr">
                    <a:solidFill>
                      <a:srgbClr val="E9EFF7"/>
                    </a:solidFill>
                  </a:tcPr>
                </a:tc>
                <a:tc>
                  <a:txBody>
                    <a:bodyPr wrap="square"/>
                    <a:lstStyle/>
                    <a:p>
                      <a:pPr algn="l">
                        <a:spcBef>
                          <a:spcPts val="0"/>
                        </a:spcBef>
                        <a:spcAft>
                          <a:spcPts val="300"/>
                        </a:spcAft>
                      </a:pPr>
                      <a:r>
                        <a:rPr sz="1300" b="1" i="0">
                          <a:solidFill>
                            <a:srgbClr val="1B6F6A"/>
                          </a:solidFill>
                          <a:latin typeface="Times New Roman"/>
                        </a:rPr>
                        <a:t>Pro: </a:t>
                      </a:r>
                      <a:r>
                        <a:rPr sz="1300" b="0" i="0">
                          <a:solidFill>
                            <a:srgbClr val="1E1E1E"/>
                          </a:solidFill>
                          <a:latin typeface="Times New Roman"/>
                        </a:rPr>
                        <a:t>Fast training on tabular data</a:t>
                      </a:r>
                    </a:p>
                    <a:p>
                      <a:pPr algn="l">
                        <a:spcBef>
                          <a:spcPts val="0"/>
                        </a:spcBef>
                        <a:spcAft>
                          <a:spcPts val="0"/>
                        </a:spcAft>
                      </a:pPr>
                      <a:r>
                        <a:rPr sz="1300" b="1" i="0">
                          <a:solidFill>
                            <a:srgbClr val="B35C00"/>
                          </a:solidFill>
                          <a:latin typeface="Times New Roman"/>
                        </a:rPr>
                        <a:t>Con: </a:t>
                      </a:r>
                      <a:r>
                        <a:rPr sz="1300" b="0" i="0">
                          <a:solidFill>
                            <a:srgbClr val="1E1E1E"/>
                          </a:solidFill>
                          <a:latin typeface="Times New Roman"/>
                        </a:rPr>
                        <a:t>Raw scores need calibration</a:t>
                      </a:r>
                    </a:p>
                  </a:txBody>
                  <a:tcPr marL="73152" marR="73152" marT="45720" marB="45720" anchor="ctr">
                    <a:solidFill>
                      <a:srgbClr val="E9EFF7"/>
                    </a:solidFill>
                  </a:tcPr>
                </a:tc>
                <a:tc>
                  <a:txBody>
                    <a:bodyPr wrap="square"/>
                    <a:lstStyle/>
                    <a:p>
                      <a:pPr algn="l">
                        <a:spcBef>
                          <a:spcPts val="0"/>
                        </a:spcBef>
                        <a:spcAft>
                          <a:spcPts val="0"/>
                        </a:spcAft>
                      </a:pPr>
                      <a:r>
                        <a:rPr sz="1300" b="0" i="0">
                          <a:solidFill>
                            <a:srgbClr val="1E1E1E"/>
                          </a:solidFill>
                          <a:latin typeface="Times New Roman"/>
                        </a:rPr>
                        <a:t>Up to ~20× faster training than conventional GBDT at similar accuracy</a:t>
                      </a:r>
                    </a:p>
                  </a:txBody>
                  <a:tcPr marL="73152" marR="73152" marT="45720" marB="45720" anchor="ctr">
                    <a:solidFill>
                      <a:srgbClr val="E9EFF7"/>
                    </a:solidFill>
                  </a:tcPr>
                </a:tc>
              </a:tr>
              <a:tr h="1280160">
                <a:tc>
                  <a:txBody>
                    <a:bodyPr wrap="square"/>
                    <a:lstStyle/>
                    <a:p>
                      <a:pPr algn="l">
                        <a:spcBef>
                          <a:spcPts val="0"/>
                        </a:spcBef>
                        <a:spcAft>
                          <a:spcPts val="0"/>
                        </a:spcAft>
                      </a:pPr>
                      <a:r>
                        <a:rPr sz="1300" b="1" i="0">
                          <a:solidFill>
                            <a:srgbClr val="1F3A5F"/>
                          </a:solidFill>
                          <a:latin typeface="Times New Roman"/>
                        </a:rPr>
                        <a:t>Lundberg &amp; Lee (2017) [6]</a:t>
                      </a:r>
                    </a:p>
                  </a:txBody>
                  <a:tcPr marL="73152" marR="73152" marT="45720" marB="45720" anchor="ctr">
                    <a:solidFill>
                      <a:srgbClr val="FFFFFF"/>
                    </a:solidFill>
                  </a:tcPr>
                </a:tc>
                <a:tc>
                  <a:txBody>
                    <a:bodyPr wrap="square"/>
                    <a:lstStyle/>
                    <a:p>
                      <a:pPr algn="l">
                        <a:spcBef>
                          <a:spcPts val="0"/>
                        </a:spcBef>
                        <a:spcAft>
                          <a:spcPts val="0"/>
                        </a:spcAft>
                      </a:pPr>
                      <a:r>
                        <a:rPr sz="1300" b="0" i="0">
                          <a:solidFill>
                            <a:srgbClr val="1E1E1E"/>
                          </a:solidFill>
                          <a:latin typeface="Times New Roman"/>
                        </a:rPr>
                        <a:t>Provide one consistent way to explain model predictions</a:t>
                      </a:r>
                    </a:p>
                  </a:txBody>
                  <a:tcPr marL="73152" marR="73152" marT="45720" marB="45720" anchor="ctr">
                    <a:solidFill>
                      <a:srgbClr val="FFFFFF"/>
                    </a:solidFill>
                  </a:tcPr>
                </a:tc>
                <a:tc>
                  <a:txBody>
                    <a:bodyPr wrap="square"/>
                    <a:lstStyle/>
                    <a:p>
                      <a:pPr algn="l">
                        <a:spcBef>
                          <a:spcPts val="0"/>
                        </a:spcBef>
                        <a:spcAft>
                          <a:spcPts val="0"/>
                        </a:spcAft>
                      </a:pPr>
                      <a:r>
                        <a:rPr sz="1300" b="0" i="0">
                          <a:solidFill>
                            <a:srgbClr val="1E1E1E"/>
                          </a:solidFill>
                          <a:latin typeface="Times New Roman"/>
                        </a:rPr>
                        <a:t>SHAP: additive feature attributions from Shapley values</a:t>
                      </a:r>
                    </a:p>
                  </a:txBody>
                  <a:tcPr marL="73152" marR="73152" marT="45720" marB="45720" anchor="ctr">
                    <a:solidFill>
                      <a:srgbClr val="FFFFFF"/>
                    </a:solidFill>
                  </a:tcPr>
                </a:tc>
                <a:tc>
                  <a:txBody>
                    <a:bodyPr wrap="square"/>
                    <a:lstStyle/>
                    <a:p>
                      <a:pPr algn="l">
                        <a:spcBef>
                          <a:spcPts val="0"/>
                        </a:spcBef>
                        <a:spcAft>
                          <a:spcPts val="300"/>
                        </a:spcAft>
                      </a:pPr>
                      <a:r>
                        <a:rPr sz="1300" b="1" i="0">
                          <a:solidFill>
                            <a:srgbClr val="1B6F6A"/>
                          </a:solidFill>
                          <a:latin typeface="Times New Roman"/>
                        </a:rPr>
                        <a:t>Pro: </a:t>
                      </a:r>
                      <a:r>
                        <a:rPr sz="1300" b="0" i="0">
                          <a:solidFill>
                            <a:srgbClr val="1E1E1E"/>
                          </a:solidFill>
                          <a:latin typeface="Times New Roman"/>
                        </a:rPr>
                        <a:t>Consistent local explanations</a:t>
                      </a:r>
                    </a:p>
                    <a:p>
                      <a:pPr algn="l">
                        <a:spcBef>
                          <a:spcPts val="0"/>
                        </a:spcBef>
                        <a:spcAft>
                          <a:spcPts val="0"/>
                        </a:spcAft>
                      </a:pPr>
                      <a:r>
                        <a:rPr sz="1300" b="1" i="0">
                          <a:solidFill>
                            <a:srgbClr val="B35C00"/>
                          </a:solidFill>
                          <a:latin typeface="Times New Roman"/>
                        </a:rPr>
                        <a:t>Con: </a:t>
                      </a:r>
                      <a:r>
                        <a:rPr sz="1300" b="0" i="0">
                          <a:solidFill>
                            <a:srgbClr val="1E1E1E"/>
                          </a:solidFill>
                          <a:latin typeface="Times New Roman"/>
                        </a:rPr>
                        <a:t>Costly for arbitrary models</a:t>
                      </a:r>
                    </a:p>
                  </a:txBody>
                  <a:tcPr marL="73152" marR="73152" marT="45720" marB="45720" anchor="ctr">
                    <a:solidFill>
                      <a:srgbClr val="FFFFFF"/>
                    </a:solidFill>
                  </a:tcPr>
                </a:tc>
                <a:tc>
                  <a:txBody>
                    <a:bodyPr wrap="square"/>
                    <a:lstStyle/>
                    <a:p>
                      <a:pPr algn="l">
                        <a:spcBef>
                          <a:spcPts val="0"/>
                        </a:spcBef>
                        <a:spcAft>
                          <a:spcPts val="0"/>
                        </a:spcAft>
                      </a:pPr>
                      <a:r>
                        <a:rPr sz="1300" b="0" i="0">
                          <a:solidFill>
                            <a:srgbClr val="1E1E1E"/>
                          </a:solidFill>
                          <a:latin typeface="Times New Roman"/>
                        </a:rPr>
                        <a:t>SHAP unifies earlier explanation methods under one framework</a:t>
                      </a:r>
                    </a:p>
                  </a:txBody>
                  <a:tcPr marL="73152" marR="73152" marT="45720" marB="45720" anchor="ctr">
                    <a:solidFill>
                      <a:srgbClr val="FFFFFF"/>
                    </a:solidFill>
                  </a:tcPr>
                </a:tc>
              </a:tr>
              <a:tr h="1280160">
                <a:tc>
                  <a:txBody>
                    <a:bodyPr wrap="square"/>
                    <a:lstStyle/>
                    <a:p>
                      <a:pPr algn="l">
                        <a:spcBef>
                          <a:spcPts val="0"/>
                        </a:spcBef>
                        <a:spcAft>
                          <a:spcPts val="0"/>
                        </a:spcAft>
                      </a:pPr>
                      <a:r>
                        <a:rPr sz="1300" b="1" i="0">
                          <a:solidFill>
                            <a:srgbClr val="1F3A5F"/>
                          </a:solidFill>
                          <a:latin typeface="Times New Roman"/>
                        </a:rPr>
                        <a:t>Platt (1999) [7]</a:t>
                      </a:r>
                    </a:p>
                  </a:txBody>
                  <a:tcPr marL="73152" marR="73152" marT="45720" marB="45720" anchor="ctr">
                    <a:solidFill>
                      <a:srgbClr val="E9EFF7"/>
                    </a:solidFill>
                  </a:tcPr>
                </a:tc>
                <a:tc>
                  <a:txBody>
                    <a:bodyPr wrap="square"/>
                    <a:lstStyle/>
                    <a:p>
                      <a:pPr algn="l">
                        <a:spcBef>
                          <a:spcPts val="0"/>
                        </a:spcBef>
                        <a:spcAft>
                          <a:spcPts val="0"/>
                        </a:spcAft>
                      </a:pPr>
                      <a:r>
                        <a:rPr sz="1300" b="0" i="0">
                          <a:solidFill>
                            <a:srgbClr val="1E1E1E"/>
                          </a:solidFill>
                          <a:latin typeface="Times New Roman"/>
                        </a:rPr>
                        <a:t>Turn classifier scores into probabilities</a:t>
                      </a:r>
                    </a:p>
                  </a:txBody>
                  <a:tcPr marL="73152" marR="73152" marT="45720" marB="45720" anchor="ctr">
                    <a:solidFill>
                      <a:srgbClr val="E9EFF7"/>
                    </a:solidFill>
                  </a:tcPr>
                </a:tc>
                <a:tc>
                  <a:txBody>
                    <a:bodyPr wrap="square"/>
                    <a:lstStyle/>
                    <a:p>
                      <a:pPr algn="l">
                        <a:spcBef>
                          <a:spcPts val="0"/>
                        </a:spcBef>
                        <a:spcAft>
                          <a:spcPts val="0"/>
                        </a:spcAft>
                      </a:pPr>
                      <a:r>
                        <a:rPr sz="1300" b="0" i="0">
                          <a:solidFill>
                            <a:srgbClr val="1E1E1E"/>
                          </a:solidFill>
                          <a:latin typeface="Times New Roman"/>
                        </a:rPr>
                        <a:t>Sigmoid (Platt) scaling fitted on held-out scores</a:t>
                      </a:r>
                    </a:p>
                  </a:txBody>
                  <a:tcPr marL="73152" marR="73152" marT="45720" marB="45720" anchor="ctr">
                    <a:solidFill>
                      <a:srgbClr val="E9EFF7"/>
                    </a:solidFill>
                  </a:tcPr>
                </a:tc>
                <a:tc>
                  <a:txBody>
                    <a:bodyPr wrap="square"/>
                    <a:lstStyle/>
                    <a:p>
                      <a:pPr algn="l">
                        <a:spcBef>
                          <a:spcPts val="0"/>
                        </a:spcBef>
                        <a:spcAft>
                          <a:spcPts val="300"/>
                        </a:spcAft>
                      </a:pPr>
                      <a:r>
                        <a:rPr sz="1300" b="1" i="0">
                          <a:solidFill>
                            <a:srgbClr val="1B6F6A"/>
                          </a:solidFill>
                          <a:latin typeface="Times New Roman"/>
                        </a:rPr>
                        <a:t>Pro: </a:t>
                      </a:r>
                      <a:r>
                        <a:rPr sz="1300" b="0" i="0">
                          <a:solidFill>
                            <a:srgbClr val="1E1E1E"/>
                          </a:solidFill>
                          <a:latin typeface="Times New Roman"/>
                        </a:rPr>
                        <a:t>Simple, few parameters</a:t>
                      </a:r>
                    </a:p>
                    <a:p>
                      <a:pPr algn="l">
                        <a:spcBef>
                          <a:spcPts val="0"/>
                        </a:spcBef>
                        <a:spcAft>
                          <a:spcPts val="0"/>
                        </a:spcAft>
                      </a:pPr>
                      <a:r>
                        <a:rPr sz="1300" b="1" i="0">
                          <a:solidFill>
                            <a:srgbClr val="B35C00"/>
                          </a:solidFill>
                          <a:latin typeface="Times New Roman"/>
                        </a:rPr>
                        <a:t>Con: </a:t>
                      </a:r>
                      <a:r>
                        <a:rPr sz="1300" b="0" i="0">
                          <a:solidFill>
                            <a:srgbClr val="1E1E1E"/>
                          </a:solidFill>
                          <a:latin typeface="Times New Roman"/>
                        </a:rPr>
                        <a:t>Assumes sigmoid-shaped distortion</a:t>
                      </a:r>
                    </a:p>
                  </a:txBody>
                  <a:tcPr marL="73152" marR="73152" marT="45720" marB="45720" anchor="ctr">
                    <a:solidFill>
                      <a:srgbClr val="E9EFF7"/>
                    </a:solidFill>
                  </a:tcPr>
                </a:tc>
                <a:tc>
                  <a:txBody>
                    <a:bodyPr wrap="square"/>
                    <a:lstStyle/>
                    <a:p>
                      <a:pPr algn="l">
                        <a:spcBef>
                          <a:spcPts val="0"/>
                        </a:spcBef>
                        <a:spcAft>
                          <a:spcPts val="0"/>
                        </a:spcAft>
                      </a:pPr>
                      <a:r>
                        <a:rPr sz="1300" b="0" i="0">
                          <a:solidFill>
                            <a:srgbClr val="1E1E1E"/>
                          </a:solidFill>
                          <a:latin typeface="Times New Roman"/>
                        </a:rPr>
                        <a:t>Produces well-calibrated probabilities from raw outputs</a:t>
                      </a:r>
                    </a:p>
                  </a:txBody>
                  <a:tcPr marL="73152" marR="73152" marT="45720" marB="45720" anchor="ctr">
                    <a:solidFill>
                      <a:srgbClr val="E9EFF7"/>
                    </a:solidFill>
                  </a:tcPr>
                </a:tc>
              </a:tr>
            </a:tbl>
          </a:graphicData>
        </a:graphic>
      </p:graphicFrame>
    </p:spTree>
    <p:extLst>
      <p:ext uri="{BB962C8B-B14F-4D97-AF65-F5344CB8AC3E}">
        <p14:creationId xmlns:p14="http://schemas.microsoft.com/office/powerpoint/2010/main" val="857449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FD64C5E-26B3-2EE9-895A-F822E4C49ED0}"/>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A2430A72-466B-CBDE-2F02-635BA91A98AF}"/>
              </a:ext>
            </a:extLst>
          </p:cNvPr>
          <p:cNvSpPr>
            <a:spLocks noGrp="1"/>
          </p:cNvSpPr>
          <p:nvPr>
            <p:ph type="dt" sz="half" idx="10"/>
          </p:nvPr>
        </p:nvSpPr>
        <p:spPr/>
        <p:txBody>
          <a:bodyPr/>
          <a:lstStyle/>
          <a:p>
            <a:fld id="{49AE986A-8308-4C4E-A0F3-DDD9B5B25762}" type="datetime1">
              <a:rPr lang="en-IN" smtClean="0"/>
              <a:t>05/10/26</a:t>
            </a:fld>
            <a:endParaRPr lang="en-IN"/>
          </a:p>
        </p:txBody>
      </p:sp>
      <p:sp>
        <p:nvSpPr>
          <p:cNvPr id="5" name="Footer Placeholder 4">
            <a:extLst>
              <a:ext uri="{FF2B5EF4-FFF2-40B4-BE49-F238E27FC236}">
                <a16:creationId xmlns:a16="http://schemas.microsoft.com/office/drawing/2014/main" xmlns=""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D94E3226-1DB1-3A4D-CE37-4A2AD48EF1F1}"/>
              </a:ext>
            </a:extLst>
          </p:cNvPr>
          <p:cNvSpPr>
            <a:spLocks noGrp="1"/>
          </p:cNvSpPr>
          <p:nvPr>
            <p:ph type="sldNum" sz="quarter" idx="12"/>
          </p:nvPr>
        </p:nvSpPr>
        <p:spPr/>
        <p:txBody>
          <a:bodyPr/>
          <a:lstStyle/>
          <a:p>
            <a:fld id="{65201FD4-9D8D-4491-815B-63C7BF4F0034}" type="slidenum">
              <a:rPr lang="en-IN" smtClean="0"/>
              <a:t>6</a:t>
            </a:fld>
            <a:endParaRPr lang="en-IN"/>
          </a:p>
        </p:txBody>
      </p:sp>
      <p:sp>
        <p:nvSpPr>
          <p:cNvPr id="7" name="Gap card 1"/>
          <p:cNvSpPr/>
          <p:nvPr/>
        </p:nvSpPr>
        <p:spPr>
          <a:xfrm>
            <a:off x="868680" y="1554480"/>
            <a:ext cx="5120640" cy="210312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p>
        </p:txBody>
      </p:sp>
      <p:sp>
        <p:nvSpPr>
          <p:cNvPr id="8" name="Gap number 1"/>
          <p:cNvSpPr/>
          <p:nvPr/>
        </p:nvSpPr>
        <p:spPr>
          <a:xfrm>
            <a:off x="1051560" y="1737360"/>
            <a:ext cx="502920" cy="50292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spcBef>
                <a:spcPts val="0"/>
              </a:spcBef>
              <a:spcAft>
                <a:spcPts val="0"/>
              </a:spcAft>
            </a:pPr>
            <a:r>
              <a:rPr sz="1800" b="1" i="0">
                <a:solidFill>
                  <a:srgbClr val="FFFFFF"/>
                </a:solidFill>
                <a:latin typeface="Times New Roman"/>
              </a:rPr>
              <a:t>1</a:t>
            </a:r>
          </a:p>
        </p:txBody>
      </p:sp>
      <p:sp>
        <p:nvSpPr>
          <p:cNvPr id="9" name="Gap title 1"/>
          <p:cNvSpPr txBox="1"/>
          <p:nvPr/>
        </p:nvSpPr>
        <p:spPr>
          <a:xfrm>
            <a:off x="1691640" y="1709928"/>
            <a:ext cx="4114800" cy="548640"/>
          </a:xfrm>
          <a:prstGeom prst="rect">
            <a:avLst/>
          </a:prstGeom>
          <a:noFill/>
        </p:spPr>
        <p:txBody>
          <a:bodyPr wrap="square" lIns="73152" rIns="73152" tIns="36576" bIns="36576" anchor="ctr">
            <a:spAutoFit/>
          </a:bodyPr>
          <a:lstStyle/>
          <a:p>
            <a:pPr algn="l">
              <a:spcBef>
                <a:spcPts val="0"/>
              </a:spcBef>
              <a:spcAft>
                <a:spcPts val="0"/>
              </a:spcAft>
            </a:pPr>
            <a:r>
              <a:rPr sz="2000" b="1" i="0">
                <a:solidFill>
                  <a:srgbClr val="1F3A5F"/>
                </a:solidFill>
                <a:latin typeface="Times New Roman"/>
              </a:rPr>
              <a:t>Cash flow is under-used</a:t>
            </a:r>
          </a:p>
        </p:txBody>
      </p:sp>
      <p:sp>
        <p:nvSpPr>
          <p:cNvPr id="10" name="Gap text 1"/>
          <p:cNvSpPr txBox="1"/>
          <p:nvPr/>
        </p:nvSpPr>
        <p:spPr>
          <a:xfrm>
            <a:off x="1051560" y="2377440"/>
            <a:ext cx="4754880" cy="1188720"/>
          </a:xfrm>
          <a:prstGeom prst="rect">
            <a:avLst/>
          </a:prstGeom>
          <a:noFill/>
        </p:spPr>
        <p:txBody>
          <a:bodyPr wrap="square" lIns="73152" rIns="73152" tIns="36576" bIns="36576" anchor="t">
            <a:spAutoFit/>
          </a:bodyPr>
          <a:lstStyle/>
          <a:p>
            <a:pPr algn="l">
              <a:spcBef>
                <a:spcPts val="0"/>
              </a:spcBef>
              <a:spcAft>
                <a:spcPts val="0"/>
              </a:spcAft>
            </a:pPr>
            <a:r>
              <a:rPr sz="1800" b="0" i="0">
                <a:solidFill>
                  <a:srgbClr val="1E1E1E"/>
                </a:solidFill>
                <a:latin typeface="Times New Roman"/>
              </a:rPr>
              <a:t>Traditional bureau scores evaluate static macro history, missing high-frequency daily income, EMI, and cash-flow liquidity signals.</a:t>
            </a:r>
          </a:p>
        </p:txBody>
      </p:sp>
      <p:sp>
        <p:nvSpPr>
          <p:cNvPr id="11" name="Gap card 2"/>
          <p:cNvSpPr/>
          <p:nvPr/>
        </p:nvSpPr>
        <p:spPr>
          <a:xfrm>
            <a:off x="6217920" y="1554480"/>
            <a:ext cx="5120640" cy="2103120"/>
          </a:xfrm>
          <a:prstGeom prst="roundRect">
            <a:avLst>
              <a:gd name="adj" fmla="val 5000"/>
            </a:avLst>
          </a:prstGeom>
          <a:solidFill>
            <a:srgbClr val="E4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p>
        </p:txBody>
      </p:sp>
      <p:sp>
        <p:nvSpPr>
          <p:cNvPr id="12" name="Gap number 2"/>
          <p:cNvSpPr/>
          <p:nvPr/>
        </p:nvSpPr>
        <p:spPr>
          <a:xfrm>
            <a:off x="6400800" y="1737360"/>
            <a:ext cx="502920" cy="502920"/>
          </a:xfrm>
          <a:prstGeom prst="ellipse">
            <a:avLst/>
          </a:prstGeom>
          <a:solidFill>
            <a:srgbClr val="1B6F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spcBef>
                <a:spcPts val="0"/>
              </a:spcBef>
              <a:spcAft>
                <a:spcPts val="0"/>
              </a:spcAft>
            </a:pPr>
            <a:r>
              <a:rPr sz="1800" b="1" i="0">
                <a:solidFill>
                  <a:srgbClr val="FFFFFF"/>
                </a:solidFill>
                <a:latin typeface="Times New Roman"/>
              </a:rPr>
              <a:t>2</a:t>
            </a:r>
          </a:p>
        </p:txBody>
      </p:sp>
      <p:sp>
        <p:nvSpPr>
          <p:cNvPr id="13" name="Gap title 2"/>
          <p:cNvSpPr txBox="1"/>
          <p:nvPr/>
        </p:nvSpPr>
        <p:spPr>
          <a:xfrm>
            <a:off x="7040880" y="1709928"/>
            <a:ext cx="4114800" cy="548640"/>
          </a:xfrm>
          <a:prstGeom prst="rect">
            <a:avLst/>
          </a:prstGeom>
          <a:noFill/>
        </p:spPr>
        <p:txBody>
          <a:bodyPr wrap="square" lIns="73152" rIns="73152" tIns="36576" bIns="36576" anchor="ctr">
            <a:spAutoFit/>
          </a:bodyPr>
          <a:lstStyle/>
          <a:p>
            <a:pPr algn="l">
              <a:spcBef>
                <a:spcPts val="0"/>
              </a:spcBef>
              <a:spcAft>
                <a:spcPts val="0"/>
              </a:spcAft>
            </a:pPr>
            <a:r>
              <a:rPr sz="2000" b="1" i="0">
                <a:solidFill>
                  <a:srgbClr val="1F3A5F"/>
                </a:solidFill>
                <a:latin typeface="Times New Roman"/>
              </a:rPr>
              <a:t>Heuristics lack ML grounding</a:t>
            </a:r>
          </a:p>
        </p:txBody>
      </p:sp>
      <p:sp>
        <p:nvSpPr>
          <p:cNvPr id="14" name="Gap text 2"/>
          <p:cNvSpPr txBox="1"/>
          <p:nvPr/>
        </p:nvSpPr>
        <p:spPr>
          <a:xfrm>
            <a:off x="6400800" y="2377440"/>
            <a:ext cx="4754880" cy="1188720"/>
          </a:xfrm>
          <a:prstGeom prst="rect">
            <a:avLst/>
          </a:prstGeom>
          <a:noFill/>
        </p:spPr>
        <p:txBody>
          <a:bodyPr wrap="square" lIns="73152" rIns="73152" tIns="36576" bIns="36576" anchor="t">
            <a:spAutoFit/>
          </a:bodyPr>
          <a:lstStyle/>
          <a:p>
            <a:pPr algn="l">
              <a:spcBef>
                <a:spcPts val="0"/>
              </a:spcBef>
              <a:spcAft>
                <a:spcPts val="0"/>
              </a:spcAft>
            </a:pPr>
            <a:r>
              <a:rPr sz="1800" b="0" i="0">
                <a:solidFill>
                  <a:srgbClr val="1E1E1E"/>
                </a:solidFill>
                <a:latin typeface="Times New Roman"/>
              </a:rPr>
              <a:t>Rule-based scorecards assign arbitrary heuristic weights without empirical grounding against verified loan default outcomes.</a:t>
            </a:r>
          </a:p>
        </p:txBody>
      </p:sp>
      <p:sp>
        <p:nvSpPr>
          <p:cNvPr id="15" name="Gap card 3"/>
          <p:cNvSpPr/>
          <p:nvPr/>
        </p:nvSpPr>
        <p:spPr>
          <a:xfrm>
            <a:off x="868680" y="3886200"/>
            <a:ext cx="5120640" cy="2103120"/>
          </a:xfrm>
          <a:prstGeom prst="roundRect">
            <a:avLst>
              <a:gd name="adj" fmla="val 5000"/>
            </a:avLst>
          </a:prstGeom>
          <a:solidFill>
            <a:srgbClr val="E4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p>
        </p:txBody>
      </p:sp>
      <p:sp>
        <p:nvSpPr>
          <p:cNvPr id="16" name="Gap number 3"/>
          <p:cNvSpPr/>
          <p:nvPr/>
        </p:nvSpPr>
        <p:spPr>
          <a:xfrm>
            <a:off x="1051560" y="4069080"/>
            <a:ext cx="502920" cy="502920"/>
          </a:xfrm>
          <a:prstGeom prst="ellipse">
            <a:avLst/>
          </a:prstGeom>
          <a:solidFill>
            <a:srgbClr val="1B6F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spcBef>
                <a:spcPts val="0"/>
              </a:spcBef>
              <a:spcAft>
                <a:spcPts val="0"/>
              </a:spcAft>
            </a:pPr>
            <a:r>
              <a:rPr sz="1800" b="1" i="0">
                <a:solidFill>
                  <a:srgbClr val="FFFFFF"/>
                </a:solidFill>
                <a:latin typeface="Times New Roman"/>
              </a:rPr>
              <a:t>3</a:t>
            </a:r>
          </a:p>
        </p:txBody>
      </p:sp>
      <p:sp>
        <p:nvSpPr>
          <p:cNvPr id="17" name="Gap title 3"/>
          <p:cNvSpPr txBox="1"/>
          <p:nvPr/>
        </p:nvSpPr>
        <p:spPr>
          <a:xfrm>
            <a:off x="1691640" y="4041648"/>
            <a:ext cx="4114800" cy="548640"/>
          </a:xfrm>
          <a:prstGeom prst="rect">
            <a:avLst/>
          </a:prstGeom>
          <a:noFill/>
        </p:spPr>
        <p:txBody>
          <a:bodyPr wrap="square" lIns="73152" rIns="73152" tIns="36576" bIns="36576" anchor="ctr">
            <a:spAutoFit/>
          </a:bodyPr>
          <a:lstStyle/>
          <a:p>
            <a:pPr algn="l">
              <a:spcBef>
                <a:spcPts val="0"/>
              </a:spcBef>
              <a:spcAft>
                <a:spcPts val="0"/>
              </a:spcAft>
            </a:pPr>
            <a:r>
              <a:rPr sz="2000" b="1" i="0">
                <a:solidFill>
                  <a:srgbClr val="1F3A5F"/>
                </a:solidFill>
                <a:latin typeface="Times New Roman"/>
              </a:rPr>
              <a:t>Opaque risk attributions</a:t>
            </a:r>
          </a:p>
        </p:txBody>
      </p:sp>
      <p:sp>
        <p:nvSpPr>
          <p:cNvPr id="18" name="Gap text 3"/>
          <p:cNvSpPr txBox="1"/>
          <p:nvPr/>
        </p:nvSpPr>
        <p:spPr>
          <a:xfrm>
            <a:off x="1051560" y="4709160"/>
            <a:ext cx="4754880" cy="1188720"/>
          </a:xfrm>
          <a:prstGeom prst="rect">
            <a:avLst/>
          </a:prstGeom>
          <a:noFill/>
        </p:spPr>
        <p:txBody>
          <a:bodyPr wrap="square" lIns="73152" rIns="73152" tIns="36576" bIns="36576" anchor="t">
            <a:spAutoFit/>
          </a:bodyPr>
          <a:lstStyle/>
          <a:p>
            <a:pPr algn="l">
              <a:spcBef>
                <a:spcPts val="0"/>
              </a:spcBef>
              <a:spcAft>
                <a:spcPts val="0"/>
              </a:spcAft>
            </a:pPr>
            <a:r>
              <a:rPr sz="1800" b="0" i="0">
                <a:solidFill>
                  <a:srgbClr val="1E1E1E"/>
                </a:solidFill>
                <a:latin typeface="Times New Roman"/>
              </a:rPr>
              <a:t>Bank loan underwriters cannot accept black-box scores without exact local feature attributions and calibrated probabilities.</a:t>
            </a:r>
          </a:p>
        </p:txBody>
      </p:sp>
      <p:sp>
        <p:nvSpPr>
          <p:cNvPr id="19" name="Gap card 4"/>
          <p:cNvSpPr/>
          <p:nvPr/>
        </p:nvSpPr>
        <p:spPr>
          <a:xfrm>
            <a:off x="6217920" y="3886200"/>
            <a:ext cx="5120640" cy="210312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p>
        </p:txBody>
      </p:sp>
      <p:sp>
        <p:nvSpPr>
          <p:cNvPr id="20" name="Gap number 4"/>
          <p:cNvSpPr/>
          <p:nvPr/>
        </p:nvSpPr>
        <p:spPr>
          <a:xfrm>
            <a:off x="6400800" y="4069080"/>
            <a:ext cx="502920" cy="50292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spcBef>
                <a:spcPts val="0"/>
              </a:spcBef>
              <a:spcAft>
                <a:spcPts val="0"/>
              </a:spcAft>
            </a:pPr>
            <a:r>
              <a:rPr sz="1800" b="1" i="0">
                <a:solidFill>
                  <a:srgbClr val="FFFFFF"/>
                </a:solidFill>
                <a:latin typeface="Times New Roman"/>
              </a:rPr>
              <a:t>4</a:t>
            </a:r>
          </a:p>
        </p:txBody>
      </p:sp>
      <p:sp>
        <p:nvSpPr>
          <p:cNvPr id="21" name="Gap title 4"/>
          <p:cNvSpPr txBox="1"/>
          <p:nvPr/>
        </p:nvSpPr>
        <p:spPr>
          <a:xfrm>
            <a:off x="7040880" y="4041648"/>
            <a:ext cx="4114800" cy="548640"/>
          </a:xfrm>
          <a:prstGeom prst="rect">
            <a:avLst/>
          </a:prstGeom>
          <a:noFill/>
        </p:spPr>
        <p:txBody>
          <a:bodyPr wrap="square" lIns="73152" rIns="73152" tIns="36576" bIns="36576" anchor="ctr">
            <a:spAutoFit/>
          </a:bodyPr>
          <a:lstStyle/>
          <a:p>
            <a:pPr algn="l">
              <a:spcBef>
                <a:spcPts val="0"/>
              </a:spcBef>
              <a:spcAft>
                <a:spcPts val="0"/>
              </a:spcAft>
            </a:pPr>
            <a:r>
              <a:rPr sz="2000" b="1" i="0">
                <a:solidFill>
                  <a:srgbClr val="1F3A5F"/>
                </a:solidFill>
                <a:latin typeface="Times New Roman"/>
              </a:rPr>
              <a:t>Tamper-vulnerable audit trails</a:t>
            </a:r>
          </a:p>
        </p:txBody>
      </p:sp>
      <p:sp>
        <p:nvSpPr>
          <p:cNvPr id="22" name="Gap text 4"/>
          <p:cNvSpPr txBox="1"/>
          <p:nvPr/>
        </p:nvSpPr>
        <p:spPr>
          <a:xfrm>
            <a:off x="6400800" y="4709160"/>
            <a:ext cx="4754880" cy="1188720"/>
          </a:xfrm>
          <a:prstGeom prst="rect">
            <a:avLst/>
          </a:prstGeom>
          <a:noFill/>
        </p:spPr>
        <p:txBody>
          <a:bodyPr wrap="square" lIns="73152" rIns="73152" tIns="36576" bIns="36576" anchor="t">
            <a:spAutoFit/>
          </a:bodyPr>
          <a:lstStyle/>
          <a:p>
            <a:pPr algn="l">
              <a:spcBef>
                <a:spcPts val="0"/>
              </a:spcBef>
              <a:spcAft>
                <a:spcPts val="0"/>
              </a:spcAft>
            </a:pPr>
            <a:r>
              <a:rPr sz="1800" b="0" i="0">
                <a:solidFill>
                  <a:srgbClr val="1E1E1E"/>
                </a:solidFill>
                <a:latin typeface="Times New Roman"/>
              </a:rPr>
              <a:t>Credit decision logs lack cryptographic integrity guarantees, and statutory privacy erasure under DPDP Act 2023 breaks naive chains.</a:t>
            </a:r>
          </a:p>
        </p:txBody>
      </p:sp>
    </p:spTree>
    <p:extLst>
      <p:ext uri="{BB962C8B-B14F-4D97-AF65-F5344CB8AC3E}">
        <p14:creationId xmlns:p14="http://schemas.microsoft.com/office/powerpoint/2010/main" val="2623102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283ADE1-559A-2DC2-A801-6A915E106C60}"/>
              </a:ext>
            </a:extLst>
          </p:cNvPr>
          <p:cNvSpPr>
            <a:spLocks noGrp="1"/>
          </p:cNvSpPr>
          <p:nvPr>
            <p:ph idx="1"/>
          </p:nvPr>
        </p:nvSpPr>
        <p:spPr>
          <a:xfrm>
            <a:off x="868680" y="1508760"/>
            <a:ext cx="10469880" cy="2560320"/>
          </a:xfrm>
        </p:spPr>
        <p:txBody>
          <a:bodyPr>
            <a:normAutofit/>
          </a:bodyPr>
          <a:lstStyle/>
          <a:p>
            <a:pPr>
              <a:spcAft>
                <a:spcPts val="600"/>
              </a:spcAft>
            </a:pPr>
            <a:r>
              <a:rPr lang="en-IN" dirty="0" sz="1800" b="0">
                <a:solidFill>
                  <a:srgbClr val="1E1E1E"/>
                </a:solidFill>
                <a:latin typeface="Times New Roman" panose="02020603050405020304" pitchFamily="18" charset="0"/>
                <a:cs typeface="Times New Roman" panose="02020603050405020304" pitchFamily="18" charset="0"/>
              </a:rPr>
              <a:t>Parse multi-bank statements with automated PII masking and 100% 10-fold CV Tier 1 NLP transaction categorisation.</a:t>
            </a:r>
          </a:p>
          <a:p>
            <a:pPr>
              <a:spcAft>
                <a:spcPts val="600"/>
              </a:spcAft>
            </a:pPr>
            <a:r>
              <a:rPr lang="en-IN" dirty="0" sz="1800" b="0">
                <a:solidFill>
                  <a:srgbClr val="1E1E1E"/>
                </a:solidFill>
                <a:latin typeface="Times New Roman" panose="02020603050405020304" pitchFamily="18" charset="0"/>
                <a:cs typeface="Times New Roman" panose="02020603050405020304" pitchFamily="18" charset="0"/>
              </a:rPr>
              <a:t>Engineer a 15-dimensional behavioral feature bridge and train a Platt-calibrated Random Forest classifier on 30,000 credit records (ROC-AUC 0.7725).</a:t>
            </a:r>
          </a:p>
          <a:p>
            <a:pPr>
              <a:spcAft>
                <a:spcPts val="600"/>
              </a:spcAft>
            </a:pPr>
            <a:r>
              <a:rPr lang="en-IN" dirty="0" sz="1800" b="0">
                <a:solidFill>
                  <a:srgbClr val="1E1E1E"/>
                </a:solidFill>
                <a:latin typeface="Times New Roman" panose="02020603050405020304" pitchFamily="18" charset="0"/>
                <a:cs typeface="Times New Roman" panose="02020603050405020304" pitchFamily="18" charset="0"/>
              </a:rPr>
              <a:t>Train and calibrate a LightGBM macro bureau benchmark on 196,806 records with exact Tree-SHAP feature attributions (ROC-AUC 0.7737).</a:t>
            </a:r>
          </a:p>
          <a:p>
            <a:pPr>
              <a:spcAft>
                <a:spcPts val="600"/>
              </a:spcAft>
            </a:pPr>
            <a:r>
              <a:rPr lang="en-IN" dirty="0" sz="1800" b="0">
                <a:solidFill>
                  <a:srgbClr val="1E1E1E"/>
                </a:solidFill>
                <a:latin typeface="Times New Roman" panose="02020603050405020304" pitchFamily="18" charset="0"/>
                <a:cs typeface="Times New Roman" panose="02020603050405020304" pitchFamily="18" charset="0"/>
              </a:rPr>
              <a:t>Unify both pillars in a 2×2 ML Risk Matrix with unsupervised anomaly overrides and a tamper-evident SHA-256 audit chain.</a:t>
            </a:r>
          </a:p>
        </p:txBody>
      </p:sp>
      <p:sp>
        <p:nvSpPr>
          <p:cNvPr id="4" name="object 2">
            <a:extLst>
              <a:ext uri="{FF2B5EF4-FFF2-40B4-BE49-F238E27FC236}">
                <a16:creationId xmlns:a16="http://schemas.microsoft.com/office/drawing/2014/main" xmlns="" id="{22BADD22-870A-4D8F-B788-CCCD5C223F9A}"/>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05/10/26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7</a:t>
            </a:fld>
            <a:endParaRPr lang="en-IN" dirty="0">
              <a:latin typeface="Times New Roman" panose="02020603050405020304" pitchFamily="18" charset="0"/>
              <a:cs typeface="Times New Roman" panose="02020603050405020304" pitchFamily="18" charset="0"/>
            </a:endParaRPr>
          </a:p>
        </p:txBody>
      </p:sp>
      <p:pic>
        <p:nvPicPr>
          <p:cNvPr id="8" name="Picture 7" descr="3 The UN 17 Sustainable Development Goals (SDGs), implemented by all... | Download Scientific Diagram">
            <a:extLst>
              <a:ext uri="{FF2B5EF4-FFF2-40B4-BE49-F238E27FC236}">
                <a16:creationId xmlns:a16="http://schemas.microsoft.com/office/drawing/2014/main" xmlns="" id="{36180A9B-AA72-E2D6-8362-4CDF7058D84A}"/>
              </a:ext>
            </a:extLst>
          </p:cNvPr>
          <p:cNvPicPr>
            <a:picLocks noChangeAspect="1"/>
          </p:cNvPicPr>
          <p:nvPr/>
        </p:nvPicPr>
        <p:blipFill>
          <a:blip r:embed="rId2"/>
          <a:stretch>
            <a:fillRect/>
          </a:stretch>
        </p:blipFill>
        <p:spPr>
          <a:xfrm>
            <a:off x="868680" y="4434840"/>
            <a:ext cx="1996249" cy="1600200"/>
          </a:xfrm>
          <a:prstGeom prst="rect">
            <a:avLst/>
          </a:prstGeom>
        </p:spPr>
      </p:pic>
      <p:pic>
        <p:nvPicPr>
          <p:cNvPr id="9" name="Picture 8" descr="What are Technology Readiness Levels (TRL)? - TWI">
            <a:extLst>
              <a:ext uri="{FF2B5EF4-FFF2-40B4-BE49-F238E27FC236}">
                <a16:creationId xmlns:a16="http://schemas.microsoft.com/office/drawing/2014/main" xmlns="" id="{D1491C9C-07B3-89C3-5FA0-72C9F44F30AC}"/>
              </a:ext>
            </a:extLst>
          </p:cNvPr>
          <p:cNvPicPr>
            <a:picLocks noChangeAspect="1"/>
          </p:cNvPicPr>
          <p:nvPr/>
        </p:nvPicPr>
        <p:blipFill>
          <a:blip r:embed="rId3"/>
          <a:stretch>
            <a:fillRect/>
          </a:stretch>
        </p:blipFill>
        <p:spPr>
          <a:xfrm>
            <a:off x="4160520" y="4434840"/>
            <a:ext cx="1753848" cy="1600200"/>
          </a:xfrm>
          <a:prstGeom prst="rect">
            <a:avLst/>
          </a:prstGeom>
        </p:spPr>
      </p:pic>
      <p:sp>
        <p:nvSpPr>
          <p:cNvPr id="10" name="SDG label"/>
          <p:cNvSpPr txBox="1"/>
          <p:nvPr/>
        </p:nvSpPr>
        <p:spPr>
          <a:xfrm>
            <a:off x="868680" y="4160520"/>
            <a:ext cx="3108960" cy="274320"/>
          </a:xfrm>
          <a:prstGeom prst="rect">
            <a:avLst/>
          </a:prstGeom>
          <a:noFill/>
        </p:spPr>
        <p:txBody>
          <a:bodyPr wrap="square" lIns="73152" rIns="73152" tIns="36576" bIns="36576" anchor="t">
            <a:spAutoFit/>
          </a:bodyPr>
          <a:lstStyle/>
          <a:p>
            <a:pPr algn="l">
              <a:spcBef>
                <a:spcPts val="0"/>
              </a:spcBef>
              <a:spcAft>
                <a:spcPts val="0"/>
              </a:spcAft>
            </a:pPr>
            <a:r>
              <a:rPr sz="1400" b="1" i="0">
                <a:solidFill>
                  <a:srgbClr val="1F3A5F"/>
                </a:solidFill>
                <a:latin typeface="Times New Roman"/>
              </a:rPr>
              <a:t>Identified SDGs: 8, 9, 10</a:t>
            </a:r>
          </a:p>
        </p:txBody>
      </p:sp>
      <p:sp>
        <p:nvSpPr>
          <p:cNvPr id="11" name="TRL label"/>
          <p:cNvSpPr txBox="1"/>
          <p:nvPr/>
        </p:nvSpPr>
        <p:spPr>
          <a:xfrm>
            <a:off x="4160520" y="4160520"/>
            <a:ext cx="3291840" cy="274320"/>
          </a:xfrm>
          <a:prstGeom prst="rect">
            <a:avLst/>
          </a:prstGeom>
          <a:noFill/>
        </p:spPr>
        <p:txBody>
          <a:bodyPr wrap="square" lIns="73152" rIns="73152" tIns="36576" bIns="36576" anchor="t">
            <a:spAutoFit/>
          </a:bodyPr>
          <a:lstStyle/>
          <a:p>
            <a:pPr algn="l">
              <a:spcBef>
                <a:spcPts val="0"/>
              </a:spcBef>
              <a:spcAft>
                <a:spcPts val="0"/>
              </a:spcAft>
            </a:pPr>
            <a:r>
              <a:rPr sz="1400" b="1" i="0">
                <a:solidFill>
                  <a:srgbClr val="1F3A5F"/>
                </a:solidFill>
                <a:latin typeface="Times New Roman"/>
              </a:rPr>
              <a:t>Target readiness: TRL 4</a:t>
            </a:r>
          </a:p>
        </p:txBody>
      </p:sp>
      <p:sp>
        <p:nvSpPr>
          <p:cNvPr id="12" name="Outcomes card"/>
          <p:cNvSpPr/>
          <p:nvPr/>
        </p:nvSpPr>
        <p:spPr>
          <a:xfrm>
            <a:off x="7726679" y="4160520"/>
            <a:ext cx="3611880" cy="1600200"/>
          </a:xfrm>
          <a:prstGeom prst="roundRect">
            <a:avLst>
              <a:gd name="adj" fmla="val 5000"/>
            </a:avLst>
          </a:prstGeom>
          <a:solidFill>
            <a:srgbClr val="FFF3D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73152" bIns="73152"/>
          <a:lstStyle/>
          <a:p>
            <a:pPr algn="l">
              <a:spcBef>
                <a:spcPts val="0"/>
              </a:spcBef>
              <a:spcAft>
                <a:spcPts val="300"/>
              </a:spcAft>
            </a:pPr>
            <a:r>
              <a:rPr sz="1600" b="1" i="0">
                <a:solidFill>
                  <a:srgbClr val="B35C00"/>
                </a:solidFill>
                <a:latin typeface="Times New Roman"/>
              </a:rPr>
              <a:t>Outcomes</a:t>
            </a:r>
          </a:p>
          <a:p>
            <a:pPr algn="l" marL="182880" indent="-182880">
              <a:spcBef>
                <a:spcPts val="0"/>
              </a:spcBef>
              <a:spcAft>
                <a:spcPts val="200"/>
              </a:spcAft>
              <a:buFont typeface="Arial"/>
              <a:buChar char="•"/>
            </a:pPr>
            <a:r>
              <a:rPr sz="1400" b="0" i="0">
                <a:solidFill>
                  <a:srgbClr val="1E1E1E"/>
                </a:solidFill>
                <a:latin typeface="Times New Roman"/>
              </a:rPr>
              <a:t>Live cloud prototype: behavioral-credit-system.streamlit.app</a:t>
            </a:r>
          </a:p>
          <a:p>
            <a:pPr algn="l" marL="182880" indent="-182880">
              <a:spcBef>
                <a:spcPts val="0"/>
              </a:spcBef>
              <a:spcAft>
                <a:spcPts val="0"/>
              </a:spcAft>
              <a:buFont typeface="Arial"/>
              <a:buChar char="•"/>
            </a:pPr>
            <a:r>
              <a:rPr sz="1400" b="0" i="0">
                <a:solidFill>
                  <a:srgbClr val="1E1E1E"/>
                </a:solidFill>
                <a:latin typeface="Times New Roman"/>
              </a:rPr>
              <a:t>127/127 automated pytest tests passing (100% test coverage)</a:t>
            </a:r>
          </a:p>
        </p:txBody>
      </p:sp>
    </p:spTree>
    <p:extLst>
      <p:ext uri="{BB962C8B-B14F-4D97-AF65-F5344CB8AC3E}">
        <p14:creationId xmlns:p14="http://schemas.microsoft.com/office/powerpoint/2010/main" val="2335962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8D49C0F-2490-21B4-8186-6F75540ACED9}"/>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5DE9EA00-8D77-8DC9-1AE3-8B6FD1AF6BC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Framework/Architecture/Block Diagram</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3B40592E-46EE-B4F2-7D01-D3568C2F685A}"/>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05/10/26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5BCDC439-5940-84EE-247A-E3018795A43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A6CB23C8-7091-8CFB-BF2C-3A19CCA810FF}"/>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8</a:t>
            </a:fld>
            <a:endParaRPr lang="en-IN" dirty="0">
              <a:latin typeface="Times New Roman" panose="02020603050405020304" pitchFamily="18" charset="0"/>
              <a:cs typeface="Times New Roman" panose="02020603050405020304" pitchFamily="18" charset="0"/>
            </a:endParaRPr>
          </a:p>
        </p:txBody>
      </p:sp>
      <p:sp>
        <p:nvSpPr>
          <p:cNvPr id="7" name="PILLAR 1 input"/>
          <p:cNvSpPr/>
          <p:nvPr/>
        </p:nvSpPr>
        <p:spPr>
          <a:xfrm>
            <a:off x="868680" y="1645920"/>
            <a:ext cx="1737360" cy="1417320"/>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spcBef>
                <a:spcPts val="0"/>
              </a:spcBef>
              <a:spcAft>
                <a:spcPts val="300"/>
              </a:spcAft>
            </a:pPr>
            <a:r>
              <a:rPr sz="1300" b="1" i="0">
                <a:solidFill>
                  <a:srgbClr val="FFFFFF"/>
                </a:solidFill>
                <a:latin typeface="Times New Roman"/>
              </a:rPr>
              <a:t>PILLAR 1</a:t>
            </a:r>
          </a:p>
          <a:p>
            <a:pPr algn="l">
              <a:spcBef>
                <a:spcPts val="0"/>
              </a:spcBef>
              <a:spcAft>
                <a:spcPts val="0"/>
              </a:spcAft>
            </a:pPr>
            <a:r>
              <a:rPr sz="1500" b="1" i="0">
                <a:solidFill>
                  <a:srgbClr val="FFFFFF"/>
                </a:solidFill>
                <a:latin typeface="Times New Roman"/>
              </a:rPr>
              <a:t>Bank statement CSV / PDF</a:t>
            </a:r>
          </a:p>
        </p:txBody>
      </p:sp>
      <p:sp>
        <p:nvSpPr>
          <p:cNvPr id="8" name="Right Arrow 7"/>
          <p:cNvSpPr/>
          <p:nvPr/>
        </p:nvSpPr>
        <p:spPr>
          <a:xfrm>
            <a:off x="2651760" y="2212848"/>
            <a:ext cx="201168" cy="274320"/>
          </a:xfrm>
          <a:prstGeom prst="right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ILLAR 1 stage 1"/>
          <p:cNvSpPr/>
          <p:nvPr/>
        </p:nvSpPr>
        <p:spPr>
          <a:xfrm>
            <a:off x="2880360" y="1645920"/>
            <a:ext cx="1783080" cy="141732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lstStyle/>
          <a:p>
            <a:pPr algn="l">
              <a:spcBef>
                <a:spcPts val="0"/>
              </a:spcBef>
              <a:spcAft>
                <a:spcPts val="300"/>
              </a:spcAft>
            </a:pPr>
            <a:r>
              <a:rPr sz="1500" b="1" i="0">
                <a:solidFill>
                  <a:srgbClr val="1F3A5F"/>
                </a:solidFill>
                <a:latin typeface="Times New Roman"/>
              </a:rPr>
              <a:t>Parse &amp; validate</a:t>
            </a:r>
          </a:p>
          <a:p>
            <a:pPr algn="l">
              <a:spcBef>
                <a:spcPts val="0"/>
              </a:spcBef>
              <a:spcAft>
                <a:spcPts val="0"/>
              </a:spcAft>
            </a:pPr>
            <a:r>
              <a:rPr sz="1400" b="0" i="0">
                <a:solidFill>
                  <a:srgbClr val="1E1E1E"/>
                </a:solidFill>
                <a:latin typeface="Times New Roman"/>
              </a:rPr>
              <a:t>5 bank formats · PII masking · reconciliation</a:t>
            </a:r>
          </a:p>
        </p:txBody>
      </p:sp>
      <p:sp>
        <p:nvSpPr>
          <p:cNvPr id="10" name="Right Arrow 9"/>
          <p:cNvSpPr/>
          <p:nvPr/>
        </p:nvSpPr>
        <p:spPr>
          <a:xfrm>
            <a:off x="4681728" y="2212848"/>
            <a:ext cx="237744" cy="274320"/>
          </a:xfrm>
          <a:prstGeom prst="right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ILLAR 1 stage 2"/>
          <p:cNvSpPr/>
          <p:nvPr/>
        </p:nvSpPr>
        <p:spPr>
          <a:xfrm>
            <a:off x="4937760" y="1645920"/>
            <a:ext cx="1783080" cy="141732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lstStyle/>
          <a:p>
            <a:pPr algn="l">
              <a:spcBef>
                <a:spcPts val="0"/>
              </a:spcBef>
              <a:spcAft>
                <a:spcPts val="300"/>
              </a:spcAft>
            </a:pPr>
            <a:r>
              <a:rPr sz="1500" b="1" i="0">
                <a:solidFill>
                  <a:srgbClr val="1F3A5F"/>
                </a:solidFill>
                <a:latin typeface="Times New Roman"/>
              </a:rPr>
              <a:t>NLP &amp; Feature Bridge</a:t>
            </a:r>
          </a:p>
          <a:p>
            <a:pPr algn="l">
              <a:spcBef>
                <a:spcPts val="0"/>
              </a:spcBef>
              <a:spcAft>
                <a:spcPts val="0"/>
              </a:spcAft>
            </a:pPr>
            <a:r>
              <a:rPr sz="1400" b="0" i="0">
                <a:solidFill>
                  <a:srgbClr val="1E1E1E"/>
                </a:solidFill>
                <a:latin typeface="Times New Roman"/>
              </a:rPr>
              <a:t>Tier 1 NLP (18 classes) · 15-Dim Feature Bridge</a:t>
            </a:r>
          </a:p>
        </p:txBody>
      </p:sp>
      <p:sp>
        <p:nvSpPr>
          <p:cNvPr id="12" name="Right Arrow 11"/>
          <p:cNvSpPr/>
          <p:nvPr/>
        </p:nvSpPr>
        <p:spPr>
          <a:xfrm>
            <a:off x="6739128" y="2212848"/>
            <a:ext cx="237744" cy="274320"/>
          </a:xfrm>
          <a:prstGeom prst="right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ILLAR 1 stage 3"/>
          <p:cNvSpPr/>
          <p:nvPr/>
        </p:nvSpPr>
        <p:spPr>
          <a:xfrm>
            <a:off x="6995160" y="1645920"/>
            <a:ext cx="1783080" cy="141732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lstStyle/>
          <a:p>
            <a:pPr algn="l">
              <a:spcBef>
                <a:spcPts val="0"/>
              </a:spcBef>
              <a:spcAft>
                <a:spcPts val="300"/>
              </a:spcAft>
            </a:pPr>
            <a:r>
              <a:rPr sz="1500" b="1" i="0">
                <a:solidFill>
                  <a:srgbClr val="1F3A5F"/>
                </a:solidFill>
                <a:latin typeface="Times New Roman"/>
              </a:rPr>
              <a:t>Pillar 1 Behavioral ML</a:t>
            </a:r>
          </a:p>
          <a:p>
            <a:pPr algn="l">
              <a:spcBef>
                <a:spcPts val="0"/>
              </a:spcBef>
              <a:spcAft>
                <a:spcPts val="0"/>
              </a:spcAft>
            </a:pPr>
            <a:r>
              <a:rPr sz="1400" b="0" i="0">
                <a:solidFill>
                  <a:srgbClr val="1E1E1E"/>
                </a:solidFill>
                <a:latin typeface="Times New Roman"/>
              </a:rPr>
              <a:t>Platt-calibrated RF · P_behav (ROC 0.7725)</a:t>
            </a:r>
          </a:p>
        </p:txBody>
      </p:sp>
      <p:sp>
        <p:nvSpPr>
          <p:cNvPr id="14" name="Right Arrow 13"/>
          <p:cNvSpPr/>
          <p:nvPr/>
        </p:nvSpPr>
        <p:spPr>
          <a:xfrm>
            <a:off x="8823960" y="2212848"/>
            <a:ext cx="274320" cy="274320"/>
          </a:xfrm>
          <a:prstGeom prst="rightArrow">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ILLAR 2 input"/>
          <p:cNvSpPr/>
          <p:nvPr/>
        </p:nvSpPr>
        <p:spPr>
          <a:xfrm>
            <a:off x="868680" y="3337560"/>
            <a:ext cx="1737360" cy="1417320"/>
          </a:xfrm>
          <a:prstGeom prst="roundRect">
            <a:avLst>
              <a:gd name="adj" fmla="val 5000"/>
            </a:avLst>
          </a:prstGeom>
          <a:solidFill>
            <a:srgbClr val="1B6F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spcBef>
                <a:spcPts val="0"/>
              </a:spcBef>
              <a:spcAft>
                <a:spcPts val="300"/>
              </a:spcAft>
            </a:pPr>
            <a:r>
              <a:rPr sz="1300" b="1" i="0">
                <a:solidFill>
                  <a:srgbClr val="FFFFFF"/>
                </a:solidFill>
                <a:latin typeface="Times New Roman"/>
              </a:rPr>
              <a:t>PILLAR 2</a:t>
            </a:r>
          </a:p>
          <a:p>
            <a:pPr algn="l">
              <a:spcBef>
                <a:spcPts val="0"/>
              </a:spcBef>
              <a:spcAft>
                <a:spcPts val="0"/>
              </a:spcAft>
            </a:pPr>
            <a:r>
              <a:rPr sz="1500" b="1" i="0">
                <a:solidFill>
                  <a:srgbClr val="FFFFFF"/>
                </a:solidFill>
                <a:latin typeface="Times New Roman"/>
              </a:rPr>
              <a:t>Bureau fields (officer-entered)</a:t>
            </a:r>
          </a:p>
        </p:txBody>
      </p:sp>
      <p:sp>
        <p:nvSpPr>
          <p:cNvPr id="16" name="Right Arrow 15"/>
          <p:cNvSpPr/>
          <p:nvPr/>
        </p:nvSpPr>
        <p:spPr>
          <a:xfrm>
            <a:off x="2651760" y="3904487"/>
            <a:ext cx="201168" cy="274320"/>
          </a:xfrm>
          <a:prstGeom prst="rightArrow">
            <a:avLst/>
          </a:prstGeom>
          <a:solidFill>
            <a:srgbClr val="1B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ILLAR 2 stage 1"/>
          <p:cNvSpPr/>
          <p:nvPr/>
        </p:nvSpPr>
        <p:spPr>
          <a:xfrm>
            <a:off x="2880360" y="3337560"/>
            <a:ext cx="1783080" cy="1417320"/>
          </a:xfrm>
          <a:prstGeom prst="roundRect">
            <a:avLst>
              <a:gd name="adj" fmla="val 5000"/>
            </a:avLst>
          </a:prstGeom>
          <a:solidFill>
            <a:srgbClr val="E4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lstStyle/>
          <a:p>
            <a:pPr algn="l">
              <a:spcBef>
                <a:spcPts val="0"/>
              </a:spcBef>
              <a:spcAft>
                <a:spcPts val="300"/>
              </a:spcAft>
            </a:pPr>
            <a:r>
              <a:rPr sz="1500" b="1" i="0">
                <a:solidFill>
                  <a:srgbClr val="1B6F6A"/>
                </a:solidFill>
                <a:latin typeface="Times New Roman"/>
              </a:rPr>
              <a:t>Prepare inputs</a:t>
            </a:r>
          </a:p>
          <a:p>
            <a:pPr algn="l">
              <a:spcBef>
                <a:spcPts val="0"/>
              </a:spcBef>
              <a:spcAft>
                <a:spcPts val="0"/>
              </a:spcAft>
            </a:pPr>
            <a:r>
              <a:rPr sz="1400" b="0" i="0">
                <a:solidFill>
                  <a:srgbClr val="1E1E1E"/>
                </a:solidFill>
                <a:latin typeface="Times New Roman"/>
              </a:rPr>
              <a:t>CIBIL, age, tenure, loans, overdue days</a:t>
            </a:r>
          </a:p>
        </p:txBody>
      </p:sp>
      <p:sp>
        <p:nvSpPr>
          <p:cNvPr id="18" name="Right Arrow 17"/>
          <p:cNvSpPr/>
          <p:nvPr/>
        </p:nvSpPr>
        <p:spPr>
          <a:xfrm>
            <a:off x="4681728" y="3904487"/>
            <a:ext cx="237744" cy="274320"/>
          </a:xfrm>
          <a:prstGeom prst="rightArrow">
            <a:avLst/>
          </a:prstGeom>
          <a:solidFill>
            <a:srgbClr val="1B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ILLAR 2 stage 2"/>
          <p:cNvSpPr/>
          <p:nvPr/>
        </p:nvSpPr>
        <p:spPr>
          <a:xfrm>
            <a:off x="4937760" y="3337560"/>
            <a:ext cx="1783080" cy="1417320"/>
          </a:xfrm>
          <a:prstGeom prst="roundRect">
            <a:avLst>
              <a:gd name="adj" fmla="val 5000"/>
            </a:avLst>
          </a:prstGeom>
          <a:solidFill>
            <a:srgbClr val="E4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lstStyle/>
          <a:p>
            <a:pPr algn="l">
              <a:spcBef>
                <a:spcPts val="0"/>
              </a:spcBef>
              <a:spcAft>
                <a:spcPts val="300"/>
              </a:spcAft>
            </a:pPr>
            <a:r>
              <a:rPr sz="1500" b="1" i="0">
                <a:solidFill>
                  <a:srgbClr val="1B6F6A"/>
                </a:solidFill>
                <a:latin typeface="Times New Roman"/>
              </a:rPr>
              <a:t>Pillar 2 Bureau ML</a:t>
            </a:r>
          </a:p>
          <a:p>
            <a:pPr algn="l">
              <a:spcBef>
                <a:spcPts val="0"/>
              </a:spcBef>
              <a:spcAft>
                <a:spcPts val="0"/>
              </a:spcAft>
            </a:pPr>
            <a:r>
              <a:rPr sz="1400" b="0" i="0">
                <a:solidFill>
                  <a:srgbClr val="1E1E1E"/>
                </a:solidFill>
                <a:latin typeface="Times New Roman"/>
              </a:rPr>
              <a:t>Platt-scaled LightGBM · 196k Home Credit records</a:t>
            </a:r>
          </a:p>
        </p:txBody>
      </p:sp>
      <p:sp>
        <p:nvSpPr>
          <p:cNvPr id="20" name="Right Arrow 19"/>
          <p:cNvSpPr/>
          <p:nvPr/>
        </p:nvSpPr>
        <p:spPr>
          <a:xfrm>
            <a:off x="6739128" y="3904487"/>
            <a:ext cx="237744" cy="274320"/>
          </a:xfrm>
          <a:prstGeom prst="rightArrow">
            <a:avLst/>
          </a:prstGeom>
          <a:solidFill>
            <a:srgbClr val="1B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LLAR 2 stage 3"/>
          <p:cNvSpPr/>
          <p:nvPr/>
        </p:nvSpPr>
        <p:spPr>
          <a:xfrm>
            <a:off x="6995160" y="3337560"/>
            <a:ext cx="1783080" cy="1417320"/>
          </a:xfrm>
          <a:prstGeom prst="roundRect">
            <a:avLst>
              <a:gd name="adj" fmla="val 5000"/>
            </a:avLst>
          </a:prstGeom>
          <a:solidFill>
            <a:srgbClr val="E4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73152" bIns="73152"/>
          <a:lstStyle/>
          <a:p>
            <a:pPr algn="l">
              <a:spcBef>
                <a:spcPts val="0"/>
              </a:spcBef>
              <a:spcAft>
                <a:spcPts val="300"/>
              </a:spcAft>
            </a:pPr>
            <a:r>
              <a:rPr sz="1500" b="1" i="0">
                <a:solidFill>
                  <a:srgbClr val="1B6F6A"/>
                </a:solidFill>
                <a:latin typeface="Times New Roman"/>
              </a:rPr>
              <a:t>P_bureau + Tree-SHAP</a:t>
            </a:r>
          </a:p>
          <a:p>
            <a:pPr algn="l">
              <a:spcBef>
                <a:spcPts val="0"/>
              </a:spcBef>
              <a:spcAft>
                <a:spcPts val="0"/>
              </a:spcAft>
            </a:pPr>
            <a:r>
              <a:rPr sz="1400" b="0" i="0">
                <a:solidFill>
                  <a:srgbClr val="1E1E1E"/>
                </a:solidFill>
                <a:latin typeface="Times New Roman"/>
              </a:rPr>
              <a:t>Exact attributions · Brier score 0.0667</a:t>
            </a:r>
          </a:p>
        </p:txBody>
      </p:sp>
      <p:sp>
        <p:nvSpPr>
          <p:cNvPr id="22" name="Right Arrow 21"/>
          <p:cNvSpPr/>
          <p:nvPr/>
        </p:nvSpPr>
        <p:spPr>
          <a:xfrm>
            <a:off x="8823960" y="3904487"/>
            <a:ext cx="274320" cy="274320"/>
          </a:xfrm>
          <a:prstGeom prst="rightArrow">
            <a:avLst/>
          </a:prstGeom>
          <a:solidFill>
            <a:srgbClr val="1B6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ntegration box"/>
          <p:cNvSpPr/>
          <p:nvPr/>
        </p:nvSpPr>
        <p:spPr>
          <a:xfrm>
            <a:off x="9144000" y="1645920"/>
            <a:ext cx="2194560" cy="3108960"/>
          </a:xfrm>
          <a:prstGeom prst="roundRect">
            <a:avLst>
              <a:gd name="adj" fmla="val 5000"/>
            </a:avLst>
          </a:prstGeom>
          <a:solidFill>
            <a:srgbClr val="FFF3D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73152" bIns="73152"/>
          <a:lstStyle/>
          <a:p>
            <a:pPr algn="l">
              <a:spcBef>
                <a:spcPts val="0"/>
              </a:spcBef>
              <a:spcAft>
                <a:spcPts val="300"/>
              </a:spcAft>
            </a:pPr>
            <a:r>
              <a:rPr sz="1300" b="1" i="0">
                <a:solidFill>
                  <a:srgbClr val="B35C00"/>
                </a:solidFill>
                <a:latin typeface="Times New Roman"/>
              </a:rPr>
              <a:t>INTEGRATION</a:t>
            </a:r>
          </a:p>
          <a:p>
            <a:pPr algn="l">
              <a:spcBef>
                <a:spcPts val="0"/>
              </a:spcBef>
              <a:spcAft>
                <a:spcPts val="600"/>
              </a:spcAft>
            </a:pPr>
            <a:r>
              <a:rPr sz="1700" b="1" i="0">
                <a:solidFill>
                  <a:srgbClr val="B35C00"/>
                </a:solidFill>
                <a:latin typeface="Times New Roman"/>
              </a:rPr>
              <a:t>2×2 ML Decision Matrix</a:t>
            </a:r>
          </a:p>
          <a:p>
            <a:pPr algn="l">
              <a:spcBef>
                <a:spcPts val="0"/>
              </a:spcBef>
              <a:spcAft>
                <a:spcPts val="600"/>
              </a:spcAft>
            </a:pPr>
            <a:r>
              <a:rPr sz="1400" b="0" i="0">
                <a:solidFill>
                  <a:srgbClr val="1E1E1E"/>
                </a:solidFill>
                <a:latin typeface="Times New Roman"/>
              </a:rPr>
              <a:t>P_behav (threshold 0.20) × P_bureau (threshold 0.20)</a:t>
            </a:r>
          </a:p>
          <a:p>
            <a:pPr algn="l">
              <a:spcBef>
                <a:spcPts val="0"/>
              </a:spcBef>
              <a:spcAft>
                <a:spcPts val="600"/>
              </a:spcAft>
            </a:pPr>
            <a:r>
              <a:rPr sz="1400" b="0" i="0">
                <a:solidFill>
                  <a:srgbClr val="1E1E1E"/>
                </a:solidFill>
                <a:latin typeface="Times New Roman"/>
              </a:rPr>
              <a:t>Q1 Approve · Q2 Bureau Alert · Q3 Behavioral Alert · Q4 Decline</a:t>
            </a:r>
          </a:p>
          <a:p>
            <a:pPr algn="l">
              <a:spcBef>
                <a:spcPts val="0"/>
              </a:spcBef>
              <a:spcAft>
                <a:spcPts val="0"/>
              </a:spcAft>
            </a:pPr>
            <a:r>
              <a:rPr sz="1400" b="0" i="0">
                <a:solidFill>
                  <a:srgbClr val="1E1E1E"/>
                </a:solidFill>
                <a:latin typeface="Times New Roman"/>
              </a:rPr>
              <a:t>Isolation Forest &amp; Salary-slip Anomaly Overrides</a:t>
            </a:r>
          </a:p>
        </p:txBody>
      </p:sp>
      <p:sp>
        <p:nvSpPr>
          <p:cNvPr id="24" name="Down Arrow 23"/>
          <p:cNvSpPr/>
          <p:nvPr/>
        </p:nvSpPr>
        <p:spPr>
          <a:xfrm>
            <a:off x="10104120" y="4773168"/>
            <a:ext cx="274320" cy="274320"/>
          </a:xfrm>
          <a:prstGeom prst="downArrow">
            <a:avLst/>
          </a:prstGeom>
          <a:solidFill>
            <a:srgbClr val="B3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fficer box"/>
          <p:cNvSpPr/>
          <p:nvPr/>
        </p:nvSpPr>
        <p:spPr>
          <a:xfrm>
            <a:off x="868680" y="5120640"/>
            <a:ext cx="5120640" cy="868680"/>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Bef>
                <a:spcPts val="0"/>
              </a:spcBef>
              <a:spcAft>
                <a:spcPts val="0"/>
              </a:spcAft>
            </a:pPr>
            <a:r>
              <a:rPr sz="1500" b="1" i="0">
                <a:solidFill>
                  <a:srgbClr val="FFFFFF"/>
                </a:solidFill>
                <a:latin typeface="Times New Roman"/>
              </a:rPr>
              <a:t>Human-in-the-loop: the officer reviews the evidence and takes the final decision</a:t>
            </a:r>
          </a:p>
        </p:txBody>
      </p:sp>
      <p:sp>
        <p:nvSpPr>
          <p:cNvPr id="26" name="Audit box"/>
          <p:cNvSpPr/>
          <p:nvPr/>
        </p:nvSpPr>
        <p:spPr>
          <a:xfrm>
            <a:off x="6172200" y="5120640"/>
            <a:ext cx="5166360" cy="868680"/>
          </a:xfrm>
          <a:prstGeom prst="roundRect">
            <a:avLst>
              <a:gd name="adj" fmla="val 5000"/>
            </a:avLst>
          </a:prstGeom>
          <a:solidFill>
            <a:srgbClr val="FFF3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Bef>
                <a:spcPts val="0"/>
              </a:spcBef>
              <a:spcAft>
                <a:spcPts val="0"/>
              </a:spcAft>
            </a:pPr>
            <a:r>
              <a:rPr sz="1400" b="0" i="0">
                <a:solidFill>
                  <a:srgbClr val="1E1E1E"/>
                </a:solidFill>
                <a:latin typeface="Times New Roman"/>
              </a:rPr>
              <a:t>SQLite audit trail · SHA-256 hash chain · external head-hash anchor · DPDP tombstone erasure</a:t>
            </a:r>
          </a:p>
        </p:txBody>
      </p:sp>
    </p:spTree>
    <p:extLst>
      <p:ext uri="{BB962C8B-B14F-4D97-AF65-F5344CB8AC3E}">
        <p14:creationId xmlns:p14="http://schemas.microsoft.com/office/powerpoint/2010/main" val="63813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8D49C0F-2490-21B4-8186-6F75540ACED9}"/>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5DE9EA00-8D77-8DC9-1AE3-8B6FD1AF6BC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Framework: 2×2 Decision Matrix</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3B40592E-46EE-B4F2-7D01-D3568C2F685A}"/>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05/10/26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5BCDC439-5940-84EE-247A-E3018795A43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A6CB23C8-7091-8CFB-BF2C-3A19CCA810FF}"/>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8</a:t>
            </a:fld>
            <a:endParaRPr lang="en-IN" dirty="0">
              <a:latin typeface="Times New Roman" panose="02020603050405020304" pitchFamily="18" charset="0"/>
              <a:cs typeface="Times New Roman" panose="02020603050405020304" pitchFamily="18" charset="0"/>
            </a:endParaRPr>
          </a:p>
        </p:txBody>
      </p:sp>
      <p:sp>
        <p:nvSpPr>
          <p:cNvPr id="7" name="Column label 1"/>
          <p:cNvSpPr txBox="1"/>
          <p:nvPr/>
        </p:nvSpPr>
        <p:spPr>
          <a:xfrm>
            <a:off x="1463040" y="1554480"/>
            <a:ext cx="2651760" cy="365760"/>
          </a:xfrm>
          <a:prstGeom prst="rect">
            <a:avLst/>
          </a:prstGeom>
          <a:noFill/>
        </p:spPr>
        <p:txBody>
          <a:bodyPr wrap="square" lIns="73152" rIns="73152" tIns="36576" bIns="36576" anchor="ctr">
            <a:spAutoFit/>
          </a:bodyPr>
          <a:lstStyle/>
          <a:p>
            <a:pPr algn="ctr">
              <a:spcBef>
                <a:spcPts val="0"/>
              </a:spcBef>
              <a:spcAft>
                <a:spcPts val="0"/>
              </a:spcAft>
            </a:pPr>
            <a:r>
              <a:rPr sz="1400" b="1" i="0">
                <a:solidFill>
                  <a:srgbClr val="555555"/>
                </a:solidFill>
                <a:latin typeface="Times New Roman"/>
              </a:rPr>
              <a:t>LOW BUREAU RISK (P_bureau &lt; 0.20)</a:t>
            </a:r>
          </a:p>
        </p:txBody>
      </p:sp>
      <p:sp>
        <p:nvSpPr>
          <p:cNvPr id="8" name="Column label 2"/>
          <p:cNvSpPr txBox="1"/>
          <p:nvPr/>
        </p:nvSpPr>
        <p:spPr>
          <a:xfrm>
            <a:off x="4206240" y="1554480"/>
            <a:ext cx="2651760" cy="365760"/>
          </a:xfrm>
          <a:prstGeom prst="rect">
            <a:avLst/>
          </a:prstGeom>
          <a:noFill/>
        </p:spPr>
        <p:txBody>
          <a:bodyPr wrap="square" lIns="73152" rIns="73152" tIns="36576" bIns="36576" anchor="ctr">
            <a:spAutoFit/>
          </a:bodyPr>
          <a:lstStyle/>
          <a:p>
            <a:pPr algn="ctr">
              <a:spcBef>
                <a:spcPts val="0"/>
              </a:spcBef>
              <a:spcAft>
                <a:spcPts val="0"/>
              </a:spcAft>
            </a:pPr>
            <a:r>
              <a:rPr sz="1400" b="1" i="0">
                <a:solidFill>
                  <a:srgbClr val="555555"/>
                </a:solidFill>
                <a:latin typeface="Times New Roman"/>
              </a:rPr>
              <a:t>HIGH BUREAU RISK (P_bureau ≥ 0.20)</a:t>
            </a:r>
          </a:p>
        </p:txBody>
      </p:sp>
      <p:sp>
        <p:nvSpPr>
          <p:cNvPr id="9" name="Row label 1"/>
          <p:cNvSpPr txBox="1"/>
          <p:nvPr/>
        </p:nvSpPr>
        <p:spPr>
          <a:xfrm rot="16200000">
            <a:off x="251459" y="2628900"/>
            <a:ext cx="1691640" cy="365760"/>
          </a:xfrm>
          <a:prstGeom prst="rect">
            <a:avLst/>
          </a:prstGeom>
          <a:noFill/>
        </p:spPr>
        <p:txBody>
          <a:bodyPr wrap="square" lIns="73152" rIns="73152" tIns="36576" bIns="36576" anchor="ctr">
            <a:spAutoFit/>
          </a:bodyPr>
          <a:lstStyle/>
          <a:p>
            <a:pPr algn="ctr">
              <a:spcBef>
                <a:spcPts val="0"/>
              </a:spcBef>
              <a:spcAft>
                <a:spcPts val="0"/>
              </a:spcAft>
            </a:pPr>
            <a:r>
              <a:rPr sz="1400" b="1" i="0">
                <a:solidFill>
                  <a:srgbClr val="555555"/>
                </a:solidFill>
                <a:latin typeface="Times New Roman"/>
              </a:rPr>
              <a:t>LOW BEHAVIORAL RISK (P_behav &lt; 0.20)</a:t>
            </a:r>
          </a:p>
        </p:txBody>
      </p:sp>
      <p:sp>
        <p:nvSpPr>
          <p:cNvPr id="10" name="Row label 2"/>
          <p:cNvSpPr txBox="1"/>
          <p:nvPr/>
        </p:nvSpPr>
        <p:spPr>
          <a:xfrm rot="16200000">
            <a:off x="251459" y="4411979"/>
            <a:ext cx="1691640" cy="365760"/>
          </a:xfrm>
          <a:prstGeom prst="rect">
            <a:avLst/>
          </a:prstGeom>
          <a:noFill/>
        </p:spPr>
        <p:txBody>
          <a:bodyPr wrap="square" lIns="73152" rIns="73152" tIns="36576" bIns="36576" anchor="ctr">
            <a:spAutoFit/>
          </a:bodyPr>
          <a:lstStyle/>
          <a:p>
            <a:pPr algn="ctr">
              <a:spcBef>
                <a:spcPts val="0"/>
              </a:spcBef>
              <a:spcAft>
                <a:spcPts val="0"/>
              </a:spcAft>
            </a:pPr>
            <a:r>
              <a:rPr sz="1400" b="1" i="0">
                <a:solidFill>
                  <a:srgbClr val="555555"/>
                </a:solidFill>
                <a:latin typeface="Times New Roman"/>
              </a:rPr>
              <a:t>HIGH BEHAVIORAL RISK (P_behav ≥ 0.20)</a:t>
            </a:r>
          </a:p>
        </p:txBody>
      </p:sp>
      <p:sp>
        <p:nvSpPr>
          <p:cNvPr id="11" name="Quadrant 1"/>
          <p:cNvSpPr/>
          <p:nvPr/>
        </p:nvSpPr>
        <p:spPr>
          <a:xfrm>
            <a:off x="1463040" y="1965960"/>
            <a:ext cx="2651760" cy="1691640"/>
          </a:xfrm>
          <a:prstGeom prst="roundRect">
            <a:avLst>
              <a:gd name="adj" fmla="val 5000"/>
            </a:avLst>
          </a:prstGeom>
          <a:solidFill>
            <a:srgbClr val="E3F1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Bef>
                <a:spcPts val="0"/>
              </a:spcBef>
              <a:spcAft>
                <a:spcPts val="400"/>
              </a:spcAft>
            </a:pPr>
            <a:r>
              <a:rPr sz="1900" b="1" i="0">
                <a:solidFill>
                  <a:srgbClr val="2E6B3A"/>
                </a:solidFill>
                <a:latin typeface="Times New Roman"/>
              </a:rPr>
              <a:t>Q1 · Approve</a:t>
            </a:r>
          </a:p>
          <a:p>
            <a:pPr algn="l">
              <a:spcBef>
                <a:spcPts val="0"/>
              </a:spcBef>
              <a:spcAft>
                <a:spcPts val="0"/>
              </a:spcAft>
            </a:pPr>
            <a:r>
              <a:rPr sz="1500" b="0" i="0">
                <a:solidFill>
                  <a:srgbClr val="1E1E1E"/>
                </a:solidFill>
                <a:latin typeface="Times New Roman"/>
              </a:rPr>
              <a:t>Low behavioral risk, low bureau risk</a:t>
            </a:r>
          </a:p>
        </p:txBody>
      </p:sp>
      <p:sp>
        <p:nvSpPr>
          <p:cNvPr id="12" name="Quadrant 2"/>
          <p:cNvSpPr/>
          <p:nvPr/>
        </p:nvSpPr>
        <p:spPr>
          <a:xfrm>
            <a:off x="4206240" y="1965960"/>
            <a:ext cx="2651760" cy="1691640"/>
          </a:xfrm>
          <a:prstGeom prst="roundRect">
            <a:avLst>
              <a:gd name="adj" fmla="val 5000"/>
            </a:avLst>
          </a:prstGeom>
          <a:solidFill>
            <a:srgbClr val="FFF3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Bef>
                <a:spcPts val="0"/>
              </a:spcBef>
              <a:spcAft>
                <a:spcPts val="400"/>
              </a:spcAft>
            </a:pPr>
            <a:r>
              <a:rPr sz="1900" b="1" i="0">
                <a:solidFill>
                  <a:srgbClr val="B35C00"/>
                </a:solidFill>
                <a:latin typeface="Times New Roman"/>
              </a:rPr>
              <a:t>Q2 · Bureau Alert</a:t>
            </a:r>
          </a:p>
          <a:p>
            <a:pPr algn="l">
              <a:spcBef>
                <a:spcPts val="0"/>
              </a:spcBef>
              <a:spcAft>
                <a:spcPts val="0"/>
              </a:spcAft>
            </a:pPr>
            <a:r>
              <a:rPr sz="1500" b="0" i="0">
                <a:solidFill>
                  <a:srgbClr val="1E1E1E"/>
                </a:solidFill>
                <a:latin typeface="Times New Roman"/>
              </a:rPr>
              <a:t>Healthy cash flow, but elevated bureau default risk</a:t>
            </a:r>
          </a:p>
        </p:txBody>
      </p:sp>
      <p:sp>
        <p:nvSpPr>
          <p:cNvPr id="13" name="Quadrant 3"/>
          <p:cNvSpPr/>
          <p:nvPr/>
        </p:nvSpPr>
        <p:spPr>
          <a:xfrm>
            <a:off x="1463040" y="3749039"/>
            <a:ext cx="2651760" cy="1691640"/>
          </a:xfrm>
          <a:prstGeom prst="roundRect">
            <a:avLst>
              <a:gd name="adj" fmla="val 5000"/>
            </a:avLst>
          </a:prstGeom>
          <a:solidFill>
            <a:srgbClr val="FDE6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Bef>
                <a:spcPts val="0"/>
              </a:spcBef>
              <a:spcAft>
                <a:spcPts val="400"/>
              </a:spcAft>
            </a:pPr>
            <a:r>
              <a:rPr sz="1900" b="1" i="0">
                <a:solidFill>
                  <a:srgbClr val="A04A00"/>
                </a:solidFill>
                <a:latin typeface="Times New Roman"/>
              </a:rPr>
              <a:t>Q3 · Behavioral Alert</a:t>
            </a:r>
          </a:p>
          <a:p>
            <a:pPr algn="l">
              <a:spcBef>
                <a:spcPts val="0"/>
              </a:spcBef>
              <a:spcAft>
                <a:spcPts val="0"/>
              </a:spcAft>
            </a:pPr>
            <a:r>
              <a:rPr sz="1500" b="0" i="0">
                <a:solidFill>
                  <a:srgbClr val="1E1E1E"/>
                </a:solidFill>
                <a:latin typeface="Times New Roman"/>
              </a:rPr>
              <a:t>Clean bureau history, but high cash-flow risk</a:t>
            </a:r>
          </a:p>
        </p:txBody>
      </p:sp>
      <p:sp>
        <p:nvSpPr>
          <p:cNvPr id="14" name="Quadrant 4"/>
          <p:cNvSpPr/>
          <p:nvPr/>
        </p:nvSpPr>
        <p:spPr>
          <a:xfrm>
            <a:off x="4206240" y="3749039"/>
            <a:ext cx="2651760" cy="1691640"/>
          </a:xfrm>
          <a:prstGeom prst="roundRect">
            <a:avLst>
              <a:gd name="adj" fmla="val 5000"/>
            </a:avLst>
          </a:prstGeom>
          <a:solidFill>
            <a:srgbClr val="F8DA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spcBef>
                <a:spcPts val="0"/>
              </a:spcBef>
              <a:spcAft>
                <a:spcPts val="400"/>
              </a:spcAft>
            </a:pPr>
            <a:r>
              <a:rPr sz="1900" b="1" i="0">
                <a:solidFill>
                  <a:srgbClr val="9B2226"/>
                </a:solidFill>
                <a:latin typeface="Times New Roman"/>
              </a:rPr>
              <a:t>Q4 · Decline</a:t>
            </a:r>
          </a:p>
          <a:p>
            <a:pPr algn="l">
              <a:spcBef>
                <a:spcPts val="0"/>
              </a:spcBef>
              <a:spcAft>
                <a:spcPts val="0"/>
              </a:spcAft>
            </a:pPr>
            <a:r>
              <a:rPr sz="1500" b="0" i="0">
                <a:solidFill>
                  <a:srgbClr val="1E1E1E"/>
                </a:solidFill>
                <a:latin typeface="Times New Roman"/>
              </a:rPr>
              <a:t>High behavioral risk and high bureau risk</a:t>
            </a:r>
          </a:p>
        </p:txBody>
      </p:sp>
      <p:sp>
        <p:nvSpPr>
          <p:cNvPr id="15" name="Matrix notes"/>
          <p:cNvSpPr/>
          <p:nvPr/>
        </p:nvSpPr>
        <p:spPr>
          <a:xfrm>
            <a:off x="7269480" y="1554480"/>
            <a:ext cx="4069080" cy="388620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73152" bIns="73152"/>
          <a:lstStyle/>
          <a:p>
            <a:pPr algn="l">
              <a:spcBef>
                <a:spcPts val="0"/>
              </a:spcBef>
              <a:spcAft>
                <a:spcPts val="600"/>
              </a:spcAft>
            </a:pPr>
            <a:r>
              <a:rPr sz="1800" b="1" i="0">
                <a:solidFill>
                  <a:srgbClr val="1F3A5F"/>
                </a:solidFill>
                <a:latin typeface="Times New Roman"/>
              </a:rPr>
              <a:t>How the matrix is used</a:t>
            </a:r>
          </a:p>
          <a:p>
            <a:pPr algn="l" marL="182880" indent="-182880">
              <a:spcBef>
                <a:spcPts val="0"/>
              </a:spcBef>
              <a:spcAft>
                <a:spcPts val="600"/>
              </a:spcAft>
              <a:buFont typeface="Arial"/>
              <a:buChar char="•"/>
            </a:pPr>
            <a:r>
              <a:rPr sz="1500" b="1" i="0">
                <a:solidFill>
                  <a:srgbClr val="1E1E1E"/>
                </a:solidFill>
                <a:latin typeface="Times New Roman"/>
              </a:rPr>
              <a:t>Behavioral ML: </a:t>
            </a:r>
            <a:r>
              <a:rPr sz="1500" b="0" i="0">
                <a:solidFill>
                  <a:srgbClr val="1E1E1E"/>
                </a:solidFill>
                <a:latin typeface="Times New Roman"/>
              </a:rPr>
              <a:t>Platt-calibrated Random Forest P_behav with decision threshold 0.20 (ROC-AUC 0.7725).</a:t>
            </a:r>
          </a:p>
          <a:p>
            <a:pPr algn="l" marL="182880" indent="-182880">
              <a:spcBef>
                <a:spcPts val="0"/>
              </a:spcBef>
              <a:spcAft>
                <a:spcPts val="600"/>
              </a:spcAft>
              <a:buFont typeface="Arial"/>
              <a:buChar char="•"/>
            </a:pPr>
            <a:r>
              <a:rPr sz="1500" b="1" i="0">
                <a:solidFill>
                  <a:srgbClr val="1E1E1E"/>
                </a:solidFill>
                <a:latin typeface="Times New Roman"/>
              </a:rPr>
              <a:t>Bureau Benchmark: </a:t>
            </a:r>
            <a:r>
              <a:rPr sz="1500" b="0" i="0">
                <a:solidFill>
                  <a:srgbClr val="1E1E1E"/>
                </a:solidFill>
                <a:latin typeface="Times New Roman"/>
              </a:rPr>
              <a:t>Platt-calibrated LightGBM P_bureau with decision threshold 0.20 (ROC-AUC 0.7737) and Tree-SHAP.</a:t>
            </a:r>
          </a:p>
          <a:p>
            <a:pPr algn="l" marL="182880" indent="-182880">
              <a:spcBef>
                <a:spcPts val="0"/>
              </a:spcBef>
              <a:spcAft>
                <a:spcPts val="600"/>
              </a:spcAft>
              <a:buFont typeface="Arial"/>
              <a:buChar char="•"/>
            </a:pPr>
            <a:r>
              <a:rPr sz="1500" b="1" i="0">
                <a:solidFill>
                  <a:srgbClr val="1E1E1E"/>
                </a:solidFill>
                <a:latin typeface="Times New Roman"/>
              </a:rPr>
              <a:t>Safety Overrides: </a:t>
            </a:r>
            <a:r>
              <a:rPr sz="1500" b="0" i="0">
                <a:solidFill>
                  <a:srgbClr val="1E1E1E"/>
                </a:solidFill>
                <a:latin typeface="Times New Roman"/>
              </a:rPr>
              <a:t>Salary-slip mismatch or Isolation Forest cash-flow anomaly forces underwriter manual review.</a:t>
            </a:r>
          </a:p>
          <a:p>
            <a:pPr algn="l" marL="182880" indent="-182880">
              <a:spcBef>
                <a:spcPts val="0"/>
              </a:spcBef>
              <a:spcAft>
                <a:spcPts val="0"/>
              </a:spcAft>
              <a:buFont typeface="Arial"/>
              <a:buChar char="•"/>
            </a:pPr>
            <a:r>
              <a:rPr sz="1500" b="1" i="0">
                <a:solidFill>
                  <a:srgbClr val="1E1E1E"/>
                </a:solidFill>
                <a:latin typeface="Times New Roman"/>
              </a:rPr>
              <a:t>Governance: </a:t>
            </a:r>
            <a:r>
              <a:rPr sz="1500" b="0" i="0">
                <a:solidFill>
                  <a:srgbClr val="1E1E1E"/>
                </a:solidFill>
                <a:latin typeface="Times New Roman"/>
              </a:rPr>
              <a:t>Dual-Pillar ML matrix recommends; human loan officer retains final lending authority.</a:t>
            </a:r>
          </a:p>
        </p:txBody>
      </p:sp>
    </p:spTree>
    <p:extLst>
      <p:ext uri="{BB962C8B-B14F-4D97-AF65-F5344CB8AC3E}">
        <p14:creationId xmlns:p14="http://schemas.microsoft.com/office/powerpoint/2010/main" val="63813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FE95AF1-B807-AC15-9C1A-B86677AF63D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0C9A0194-5820-F292-3A94-449C000E51A7}"/>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Functional Requirements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D4F25267-3005-EC45-A624-B78484DFA4EC}"/>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05/10/26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610022FF-AD0C-E15E-5F17-B2827B5546B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BD8D6198-8B2C-26FB-53D2-A5B87C95A4FB}"/>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9</a:t>
            </a:fld>
            <a:endParaRPr lang="en-IN" dirty="0">
              <a:latin typeface="Times New Roman" panose="02020603050405020304" pitchFamily="18" charset="0"/>
              <a:cs typeface="Times New Roman" panose="02020603050405020304" pitchFamily="18" charset="0"/>
            </a:endParaRPr>
          </a:p>
        </p:txBody>
      </p:sp>
      <p:sp>
        <p:nvSpPr>
          <p:cNvPr id="7" name="FR card 1"/>
          <p:cNvSpPr/>
          <p:nvPr/>
        </p:nvSpPr>
        <p:spPr>
          <a:xfrm>
            <a:off x="868680" y="1554480"/>
            <a:ext cx="5120640" cy="320040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73152" bIns="73152"/>
          <a:lstStyle/>
          <a:p>
            <a:pPr algn="l">
              <a:spcBef>
                <a:spcPts val="0"/>
              </a:spcBef>
              <a:spcAft>
                <a:spcPts val="800"/>
              </a:spcAft>
            </a:pPr>
            <a:r>
              <a:rPr sz="1900" b="1" i="0">
                <a:solidFill>
                  <a:srgbClr val="1F3A5F"/>
                </a:solidFill>
                <a:latin typeface="Times New Roman"/>
              </a:rPr>
              <a:t>Behavioral ML Engine (Pillar 1)</a:t>
            </a:r>
          </a:p>
          <a:p>
            <a:pPr algn="l">
              <a:spcBef>
                <a:spcPts val="0"/>
              </a:spcBef>
              <a:spcAft>
                <a:spcPts val="800"/>
              </a:spcAft>
            </a:pPr>
            <a:r>
              <a:rPr sz="1600" b="1" i="0">
                <a:solidFill>
                  <a:srgbClr val="1F3A5F"/>
                </a:solidFill>
                <a:latin typeface="Times New Roman"/>
              </a:rPr>
              <a:t>FR1  </a:t>
            </a:r>
            <a:r>
              <a:rPr sz="1600" b="0" i="0">
                <a:solidFill>
                  <a:srgbClr val="1E1E1E"/>
                </a:solidFill>
                <a:latin typeface="Times New Roman"/>
              </a:rPr>
              <a:t>Ingest multi-bank statements (CSV / PDF) with column mapping and data hygiene checks</a:t>
            </a:r>
          </a:p>
          <a:p>
            <a:pPr algn="l">
              <a:spcBef>
                <a:spcPts val="0"/>
              </a:spcBef>
              <a:spcAft>
                <a:spcPts val="800"/>
              </a:spcAft>
            </a:pPr>
            <a:r>
              <a:rPr sz="1600" b="1" i="0">
                <a:solidFill>
                  <a:srgbClr val="1F3A5F"/>
                </a:solidFill>
                <a:latin typeface="Times New Roman"/>
              </a:rPr>
              <a:t>FR2  </a:t>
            </a:r>
            <a:r>
              <a:rPr sz="1600" b="0" i="0">
                <a:solidFill>
                  <a:srgbClr val="1E1E1E"/>
                </a:solidFill>
                <a:latin typeface="Times New Roman"/>
              </a:rPr>
              <a:t>Categorise transactions via Tier 1 NLP (18 classes) with manual override logging</a:t>
            </a:r>
          </a:p>
          <a:p>
            <a:pPr algn="l">
              <a:spcBef>
                <a:spcPts val="0"/>
              </a:spcBef>
              <a:spcAft>
                <a:spcPts val="800"/>
              </a:spcAft>
            </a:pPr>
            <a:r>
              <a:rPr sz="1600" b="1" i="0">
                <a:solidFill>
                  <a:srgbClr val="1F3A5F"/>
                </a:solidFill>
                <a:latin typeface="Times New Roman"/>
              </a:rPr>
              <a:t>FR3  </a:t>
            </a:r>
            <a:r>
              <a:rPr sz="1600" b="0" i="0">
                <a:solidFill>
                  <a:srgbClr val="1E1E1E"/>
                </a:solidFill>
                <a:latin typeface="Times New Roman"/>
              </a:rPr>
              <a:t>Map 23+ cash-flow signals via 15-dim bridge to calibrated Behavioral ML (RF)</a:t>
            </a:r>
          </a:p>
          <a:p>
            <a:pPr algn="l">
              <a:spcBef>
                <a:spcPts val="0"/>
              </a:spcBef>
              <a:spcAft>
                <a:spcPts val="800"/>
              </a:spcAft>
            </a:pPr>
            <a:r>
              <a:rPr sz="1600" b="1" i="0">
                <a:solidFill>
                  <a:srgbClr val="1F3A5F"/>
                </a:solidFill>
                <a:latin typeface="Times New Roman"/>
              </a:rPr>
              <a:t>FR4  </a:t>
            </a:r>
            <a:r>
              <a:rPr sz="1600" b="0" i="0">
                <a:solidFill>
                  <a:srgbClr val="1E1E1E"/>
                </a:solidFill>
                <a:latin typeface="Times New Roman"/>
              </a:rPr>
              <a:t>Detect cash-flow anomalies via Isolation Forest and verify salary slips (15% tolerance)</a:t>
            </a:r>
          </a:p>
        </p:txBody>
      </p:sp>
      <p:sp>
        <p:nvSpPr>
          <p:cNvPr id="8" name="FR card 2"/>
          <p:cNvSpPr/>
          <p:nvPr/>
        </p:nvSpPr>
        <p:spPr>
          <a:xfrm>
            <a:off x="6217920" y="1554480"/>
            <a:ext cx="5120640" cy="3200400"/>
          </a:xfrm>
          <a:prstGeom prst="roundRect">
            <a:avLst>
              <a:gd name="adj" fmla="val 5000"/>
            </a:avLst>
          </a:prstGeom>
          <a:solidFill>
            <a:srgbClr val="E4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73152" bIns="73152"/>
          <a:lstStyle/>
          <a:p>
            <a:pPr algn="l">
              <a:spcBef>
                <a:spcPts val="0"/>
              </a:spcBef>
              <a:spcAft>
                <a:spcPts val="800"/>
              </a:spcAft>
            </a:pPr>
            <a:r>
              <a:rPr sz="1900" b="1" i="0">
                <a:solidFill>
                  <a:srgbClr val="1B6F6A"/>
                </a:solidFill>
                <a:latin typeface="Times New Roman"/>
              </a:rPr>
              <a:t>Bureau Benchmark &amp; Platform (Pillar 2)</a:t>
            </a:r>
          </a:p>
          <a:p>
            <a:pPr algn="l">
              <a:spcBef>
                <a:spcPts val="0"/>
              </a:spcBef>
              <a:spcAft>
                <a:spcPts val="800"/>
              </a:spcAft>
            </a:pPr>
            <a:r>
              <a:rPr sz="1600" b="1" i="0">
                <a:solidFill>
                  <a:srgbClr val="1B6F6A"/>
                </a:solidFill>
                <a:latin typeface="Times New Roman"/>
              </a:rPr>
              <a:t>FR5  </a:t>
            </a:r>
            <a:r>
              <a:rPr sz="1600" b="0" i="0">
                <a:solidFill>
                  <a:srgbClr val="1E1E1E"/>
                </a:solidFill>
                <a:latin typeface="Times New Roman"/>
              </a:rPr>
              <a:t>Predict macro default risk using Platt-calibrated LightGBM with exact Tree-SHAP attributions</a:t>
            </a:r>
          </a:p>
          <a:p>
            <a:pPr algn="l">
              <a:spcBef>
                <a:spcPts val="0"/>
              </a:spcBef>
              <a:spcAft>
                <a:spcPts val="800"/>
              </a:spcAft>
            </a:pPr>
            <a:r>
              <a:rPr sz="1600" b="1" i="0">
                <a:solidFill>
                  <a:srgbClr val="1B6F6A"/>
                </a:solidFill>
                <a:latin typeface="Times New Roman"/>
              </a:rPr>
              <a:t>FR6  </a:t>
            </a:r>
            <a:r>
              <a:rPr sz="1600" b="0" i="0">
                <a:solidFill>
                  <a:srgbClr val="1E1E1E"/>
                </a:solidFill>
                <a:latin typeface="Times New Roman"/>
              </a:rPr>
              <a:t>Synthesize decisions onto 2×2 ML Risk Matrix with dynamic quadrant boundary plotting</a:t>
            </a:r>
          </a:p>
          <a:p>
            <a:pPr algn="l">
              <a:spcBef>
                <a:spcPts val="0"/>
              </a:spcBef>
              <a:spcAft>
                <a:spcPts val="800"/>
              </a:spcAft>
            </a:pPr>
            <a:r>
              <a:rPr sz="1600" b="1" i="0">
                <a:solidFill>
                  <a:srgbClr val="1B6F6A"/>
                </a:solidFill>
                <a:latin typeface="Times New Roman"/>
              </a:rPr>
              <a:t>FR7  </a:t>
            </a:r>
            <a:r>
              <a:rPr sz="1600" b="0" i="0">
                <a:solidFill>
                  <a:srgbClr val="1E1E1E"/>
                </a:solidFill>
                <a:latin typeface="Times New Roman"/>
              </a:rPr>
              <a:t>Persist immutable decision records in SQLite with SHA-256 hash chaining and anchor verification</a:t>
            </a:r>
          </a:p>
          <a:p>
            <a:pPr algn="l">
              <a:spcBef>
                <a:spcPts val="0"/>
              </a:spcBef>
              <a:spcAft>
                <a:spcPts val="800"/>
              </a:spcAft>
            </a:pPr>
            <a:r>
              <a:rPr sz="1600" b="1" i="0">
                <a:solidFill>
                  <a:srgbClr val="1B6F6A"/>
                </a:solidFill>
                <a:latin typeface="Times New Roman"/>
              </a:rPr>
              <a:t>FR8  </a:t>
            </a:r>
            <a:r>
              <a:rPr sz="1600" b="0" i="0">
                <a:solidFill>
                  <a:srgbClr val="1E1E1E"/>
                </a:solidFill>
                <a:latin typeface="Times New Roman"/>
              </a:rPr>
              <a:t>Provide DPDP-compliant cryptographic PII erasure without invalidating chain integrity</a:t>
            </a:r>
          </a:p>
        </p:txBody>
      </p:sp>
      <p:sp>
        <p:nvSpPr>
          <p:cNvPr id="9" name="NFR 1"/>
          <p:cNvSpPr/>
          <p:nvPr/>
        </p:nvSpPr>
        <p:spPr>
          <a:xfrm>
            <a:off x="868680" y="5029200"/>
            <a:ext cx="2468880" cy="777240"/>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Bef>
                <a:spcPts val="0"/>
              </a:spcBef>
              <a:spcAft>
                <a:spcPts val="0"/>
              </a:spcAft>
            </a:pPr>
            <a:r>
              <a:rPr sz="1600" b="1" i="0">
                <a:solidFill>
                  <a:srgbClr val="FFFFFF"/>
                </a:solidFill>
                <a:latin typeface="Times New Roman"/>
              </a:rPr>
              <a:t>Explainable (Tree-SHAP)</a:t>
            </a:r>
          </a:p>
        </p:txBody>
      </p:sp>
      <p:sp>
        <p:nvSpPr>
          <p:cNvPr id="10" name="NFR 2"/>
          <p:cNvSpPr/>
          <p:nvPr/>
        </p:nvSpPr>
        <p:spPr>
          <a:xfrm>
            <a:off x="3535710" y="5029200"/>
            <a:ext cx="2468880" cy="777240"/>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Bef>
                <a:spcPts val="0"/>
              </a:spcBef>
              <a:spcAft>
                <a:spcPts val="0"/>
              </a:spcAft>
            </a:pPr>
            <a:r>
              <a:rPr sz="1600" b="1" i="0">
                <a:solidFill>
                  <a:srgbClr val="FFFFFF"/>
                </a:solidFill>
                <a:latin typeface="Times New Roman"/>
              </a:rPr>
              <a:t>Reproducible (Seed 42)</a:t>
            </a:r>
          </a:p>
        </p:txBody>
      </p:sp>
      <p:sp>
        <p:nvSpPr>
          <p:cNvPr id="11" name="NFR 3"/>
          <p:cNvSpPr/>
          <p:nvPr/>
        </p:nvSpPr>
        <p:spPr>
          <a:xfrm>
            <a:off x="6202740" y="5029200"/>
            <a:ext cx="2468880" cy="777240"/>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Bef>
                <a:spcPts val="0"/>
              </a:spcBef>
              <a:spcAft>
                <a:spcPts val="0"/>
              </a:spcAft>
            </a:pPr>
            <a:r>
              <a:rPr sz="1600" b="1" i="0">
                <a:solidFill>
                  <a:srgbClr val="FFFFFF"/>
                </a:solidFill>
                <a:latin typeface="Times New Roman"/>
              </a:rPr>
              <a:t>DPDP Act 2023 Compliant</a:t>
            </a:r>
          </a:p>
        </p:txBody>
      </p:sp>
      <p:sp>
        <p:nvSpPr>
          <p:cNvPr id="12" name="NFR 4"/>
          <p:cNvSpPr/>
          <p:nvPr/>
        </p:nvSpPr>
        <p:spPr>
          <a:xfrm>
            <a:off x="8869771" y="5029200"/>
            <a:ext cx="2468880" cy="777240"/>
          </a:xfrm>
          <a:prstGeom prst="roundRect">
            <a:avLst>
              <a:gd name="adj" fmla="val 5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Bef>
                <a:spcPts val="0"/>
              </a:spcBef>
              <a:spcAft>
                <a:spcPts val="0"/>
              </a:spcAft>
            </a:pPr>
            <a:r>
              <a:rPr sz="1600" b="1" i="0">
                <a:solidFill>
                  <a:srgbClr val="FFFFFF"/>
                </a:solidFill>
                <a:latin typeface="Times New Roman"/>
              </a:rPr>
              <a:t>Tamper-Evident SHA-256</a:t>
            </a:r>
          </a:p>
        </p:txBody>
      </p:sp>
    </p:spTree>
    <p:extLst>
      <p:ext uri="{BB962C8B-B14F-4D97-AF65-F5344CB8AC3E}">
        <p14:creationId xmlns:p14="http://schemas.microsoft.com/office/powerpoint/2010/main" val="3191299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D42F2ED-50F9-3DFA-95BB-1A1059C5D893}"/>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B27DA514-48FC-4BF4-8205-DE21D456C5FF}"/>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Modules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D74A04E0-6631-130F-A154-C85D978EA39B}"/>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05/10/26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39615995-EDEB-C984-B852-1229C23B1A05}"/>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067F5109-389C-3E37-E553-A559233EFD9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10</a:t>
            </a:fld>
            <a:endParaRPr lang="en-IN" dirty="0">
              <a:latin typeface="Times New Roman" panose="02020603050405020304" pitchFamily="18" charset="0"/>
              <a:cs typeface="Times New Roman" panose="02020603050405020304" pitchFamily="18" charset="0"/>
            </a:endParaRPr>
          </a:p>
        </p:txBody>
      </p:sp>
      <p:sp>
        <p:nvSpPr>
          <p:cNvPr id="7" name="Module card 1"/>
          <p:cNvSpPr/>
          <p:nvPr/>
        </p:nvSpPr>
        <p:spPr>
          <a:xfrm>
            <a:off x="868680" y="1554480"/>
            <a:ext cx="3337560" cy="214884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p>
        </p:txBody>
      </p:sp>
      <p:sp>
        <p:nvSpPr>
          <p:cNvPr id="8" name="Module number 1"/>
          <p:cNvSpPr/>
          <p:nvPr/>
        </p:nvSpPr>
        <p:spPr>
          <a:xfrm>
            <a:off x="1005839" y="1691639"/>
            <a:ext cx="457200" cy="4572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spcBef>
                <a:spcPts val="0"/>
              </a:spcBef>
              <a:spcAft>
                <a:spcPts val="0"/>
              </a:spcAft>
            </a:pPr>
            <a:r>
              <a:rPr sz="1600" b="1" i="0">
                <a:solidFill>
                  <a:srgbClr val="FFFFFF"/>
                </a:solidFill>
                <a:latin typeface="Times New Roman"/>
              </a:rPr>
              <a:t>1</a:t>
            </a:r>
          </a:p>
        </p:txBody>
      </p:sp>
      <p:sp>
        <p:nvSpPr>
          <p:cNvPr id="9" name="Module title 1"/>
          <p:cNvSpPr txBox="1"/>
          <p:nvPr/>
        </p:nvSpPr>
        <p:spPr>
          <a:xfrm>
            <a:off x="1554480" y="1664207"/>
            <a:ext cx="2560320" cy="512064"/>
          </a:xfrm>
          <a:prstGeom prst="rect">
            <a:avLst/>
          </a:prstGeom>
          <a:noFill/>
        </p:spPr>
        <p:txBody>
          <a:bodyPr wrap="square" lIns="73152" rIns="73152" tIns="36576" bIns="36576" anchor="ctr">
            <a:spAutoFit/>
          </a:bodyPr>
          <a:lstStyle/>
          <a:p>
            <a:pPr algn="l">
              <a:spcBef>
                <a:spcPts val="0"/>
              </a:spcBef>
              <a:spcAft>
                <a:spcPts val="0"/>
              </a:spcAft>
            </a:pPr>
            <a:r>
              <a:rPr sz="1700" b="1" i="0">
                <a:solidFill>
                  <a:srgbClr val="1F3A5F"/>
                </a:solidFill>
                <a:latin typeface="Times New Roman"/>
              </a:rPr>
              <a:t>Statement Ingestion &amp; Security</a:t>
            </a:r>
          </a:p>
        </p:txBody>
      </p:sp>
      <p:sp>
        <p:nvSpPr>
          <p:cNvPr id="10" name="Module text 1"/>
          <p:cNvSpPr txBox="1"/>
          <p:nvPr/>
        </p:nvSpPr>
        <p:spPr>
          <a:xfrm>
            <a:off x="960120" y="2267712"/>
            <a:ext cx="3154680" cy="1371600"/>
          </a:xfrm>
          <a:prstGeom prst="rect">
            <a:avLst/>
          </a:prstGeom>
          <a:noFill/>
        </p:spPr>
        <p:txBody>
          <a:bodyPr wrap="square" lIns="73152" rIns="73152" tIns="36576" bIns="36576" anchor="t">
            <a:spAutoFit/>
          </a:bodyPr>
          <a:lstStyle/>
          <a:p>
            <a:pPr algn="l" marL="182880" indent="-182880">
              <a:spcBef>
                <a:spcPts val="0"/>
              </a:spcBef>
              <a:spcAft>
                <a:spcPts val="300"/>
              </a:spcAft>
              <a:buFont typeface="Arial"/>
              <a:buChar char="•"/>
            </a:pPr>
            <a:r>
              <a:rPr sz="1400" b="0" i="0">
                <a:solidFill>
                  <a:srgbClr val="1E1E1E"/>
                </a:solidFill>
                <a:latin typeface="Times New Roman"/>
              </a:rPr>
              <a:t>CSV (5 bank formats) &amp; text PDF parser</a:t>
            </a:r>
          </a:p>
          <a:p>
            <a:pPr algn="l" marL="182880" indent="-182880">
              <a:spcBef>
                <a:spcPts val="0"/>
              </a:spcBef>
              <a:spcAft>
                <a:spcPts val="300"/>
              </a:spcAft>
              <a:buFont typeface="Arial"/>
              <a:buChar char="•"/>
            </a:pPr>
            <a:r>
              <a:rPr sz="1400" b="0" i="0">
                <a:solidFill>
                  <a:srgbClr val="1E1E1E"/>
                </a:solidFill>
                <a:latin typeface="Times New Roman"/>
              </a:rPr>
              <a:t>Regex PII masking &amp; de-duplication</a:t>
            </a:r>
          </a:p>
          <a:p>
            <a:pPr algn="l" marL="182880" indent="-182880">
              <a:spcBef>
                <a:spcPts val="0"/>
              </a:spcBef>
              <a:spcAft>
                <a:spcPts val="300"/>
              </a:spcAft>
              <a:buFont typeface="Arial"/>
              <a:buChar char="•"/>
            </a:pPr>
            <a:r>
              <a:rPr sz="1400" b="0" i="0">
                <a:solidFill>
                  <a:srgbClr val="1E1E1E"/>
                </a:solidFill>
                <a:latin typeface="Times New Roman"/>
              </a:rPr>
              <a:t>Salary-slip reconciliation (15% tolerance)</a:t>
            </a:r>
          </a:p>
        </p:txBody>
      </p:sp>
      <p:sp>
        <p:nvSpPr>
          <p:cNvPr id="11" name="Module card 2"/>
          <p:cNvSpPr/>
          <p:nvPr/>
        </p:nvSpPr>
        <p:spPr>
          <a:xfrm>
            <a:off x="4434840" y="1554480"/>
            <a:ext cx="3337560" cy="214884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p>
        </p:txBody>
      </p:sp>
      <p:sp>
        <p:nvSpPr>
          <p:cNvPr id="12" name="Module number 2"/>
          <p:cNvSpPr/>
          <p:nvPr/>
        </p:nvSpPr>
        <p:spPr>
          <a:xfrm>
            <a:off x="4572000" y="1691639"/>
            <a:ext cx="457200" cy="4572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spcBef>
                <a:spcPts val="0"/>
              </a:spcBef>
              <a:spcAft>
                <a:spcPts val="0"/>
              </a:spcAft>
            </a:pPr>
            <a:r>
              <a:rPr sz="1600" b="1" i="0">
                <a:solidFill>
                  <a:srgbClr val="FFFFFF"/>
                </a:solidFill>
                <a:latin typeface="Times New Roman"/>
              </a:rPr>
              <a:t>2</a:t>
            </a:r>
          </a:p>
        </p:txBody>
      </p:sp>
      <p:sp>
        <p:nvSpPr>
          <p:cNvPr id="13" name="Module title 2"/>
          <p:cNvSpPr txBox="1"/>
          <p:nvPr/>
        </p:nvSpPr>
        <p:spPr>
          <a:xfrm>
            <a:off x="5120640" y="1664207"/>
            <a:ext cx="2560320" cy="512064"/>
          </a:xfrm>
          <a:prstGeom prst="rect">
            <a:avLst/>
          </a:prstGeom>
          <a:noFill/>
        </p:spPr>
        <p:txBody>
          <a:bodyPr wrap="square" lIns="73152" rIns="73152" tIns="36576" bIns="36576" anchor="ctr">
            <a:spAutoFit/>
          </a:bodyPr>
          <a:lstStyle/>
          <a:p>
            <a:pPr algn="l">
              <a:spcBef>
                <a:spcPts val="0"/>
              </a:spcBef>
              <a:spcAft>
                <a:spcPts val="0"/>
              </a:spcAft>
            </a:pPr>
            <a:r>
              <a:rPr sz="1700" b="1" i="0">
                <a:solidFill>
                  <a:srgbClr val="1F3A5F"/>
                </a:solidFill>
                <a:latin typeface="Times New Roman"/>
              </a:rPr>
              <a:t>Tier 1 NLP Categorisation</a:t>
            </a:r>
          </a:p>
        </p:txBody>
      </p:sp>
      <p:sp>
        <p:nvSpPr>
          <p:cNvPr id="14" name="Module text 2"/>
          <p:cNvSpPr txBox="1"/>
          <p:nvPr/>
        </p:nvSpPr>
        <p:spPr>
          <a:xfrm>
            <a:off x="4526279" y="2267712"/>
            <a:ext cx="3154680" cy="1371600"/>
          </a:xfrm>
          <a:prstGeom prst="rect">
            <a:avLst/>
          </a:prstGeom>
          <a:noFill/>
        </p:spPr>
        <p:txBody>
          <a:bodyPr wrap="square" lIns="73152" rIns="73152" tIns="36576" bIns="36576" anchor="t">
            <a:spAutoFit/>
          </a:bodyPr>
          <a:lstStyle/>
          <a:p>
            <a:pPr algn="l" marL="182880" indent="-182880">
              <a:spcBef>
                <a:spcPts val="0"/>
              </a:spcBef>
              <a:spcAft>
                <a:spcPts val="300"/>
              </a:spcAft>
              <a:buFont typeface="Arial"/>
              <a:buChar char="•"/>
            </a:pPr>
            <a:r>
              <a:rPr sz="1400" b="0" i="0">
                <a:solidFill>
                  <a:srgbClr val="1E1E1E"/>
                </a:solidFill>
                <a:latin typeface="Times New Roman"/>
              </a:rPr>
              <a:t>18-class TF-IDF + Logistic Regression</a:t>
            </a:r>
          </a:p>
          <a:p>
            <a:pPr algn="l" marL="182880" indent="-182880">
              <a:spcBef>
                <a:spcPts val="0"/>
              </a:spcBef>
              <a:spcAft>
                <a:spcPts val="300"/>
              </a:spcAft>
              <a:buFont typeface="Arial"/>
              <a:buChar char="•"/>
            </a:pPr>
            <a:r>
              <a:rPr sz="1400" b="0" i="0">
                <a:solidFill>
                  <a:srgbClr val="1E1E1E"/>
                </a:solidFill>
                <a:latin typeface="Times New Roman"/>
              </a:rPr>
              <a:t>100% 10-fold cross-validated accuracy</a:t>
            </a:r>
          </a:p>
          <a:p>
            <a:pPr algn="l" marL="182880" indent="-182880">
              <a:spcBef>
                <a:spcPts val="0"/>
              </a:spcBef>
              <a:spcAft>
                <a:spcPts val="300"/>
              </a:spcAft>
              <a:buFont typeface="Arial"/>
              <a:buChar char="•"/>
            </a:pPr>
            <a:r>
              <a:rPr sz="1400" b="0" i="0">
                <a:solidFill>
                  <a:srgbClr val="1E1E1E"/>
                </a:solidFill>
                <a:latin typeface="Times New Roman"/>
              </a:rPr>
              <a:t>Underwriter manual override &amp; audit logging</a:t>
            </a:r>
          </a:p>
        </p:txBody>
      </p:sp>
      <p:sp>
        <p:nvSpPr>
          <p:cNvPr id="15" name="Module card 3"/>
          <p:cNvSpPr/>
          <p:nvPr/>
        </p:nvSpPr>
        <p:spPr>
          <a:xfrm>
            <a:off x="8001000" y="1554480"/>
            <a:ext cx="3337560" cy="214884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p>
        </p:txBody>
      </p:sp>
      <p:sp>
        <p:nvSpPr>
          <p:cNvPr id="16" name="Module number 3"/>
          <p:cNvSpPr/>
          <p:nvPr/>
        </p:nvSpPr>
        <p:spPr>
          <a:xfrm>
            <a:off x="8138160" y="1691639"/>
            <a:ext cx="457200" cy="4572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spcBef>
                <a:spcPts val="0"/>
              </a:spcBef>
              <a:spcAft>
                <a:spcPts val="0"/>
              </a:spcAft>
            </a:pPr>
            <a:r>
              <a:rPr sz="1600" b="1" i="0">
                <a:solidFill>
                  <a:srgbClr val="FFFFFF"/>
                </a:solidFill>
                <a:latin typeface="Times New Roman"/>
              </a:rPr>
              <a:t>3</a:t>
            </a:r>
          </a:p>
        </p:txBody>
      </p:sp>
      <p:sp>
        <p:nvSpPr>
          <p:cNvPr id="17" name="Module title 3"/>
          <p:cNvSpPr txBox="1"/>
          <p:nvPr/>
        </p:nvSpPr>
        <p:spPr>
          <a:xfrm>
            <a:off x="8686800" y="1664207"/>
            <a:ext cx="2560320" cy="512064"/>
          </a:xfrm>
          <a:prstGeom prst="rect">
            <a:avLst/>
          </a:prstGeom>
          <a:noFill/>
        </p:spPr>
        <p:txBody>
          <a:bodyPr wrap="square" lIns="73152" rIns="73152" tIns="36576" bIns="36576" anchor="ctr">
            <a:spAutoFit/>
          </a:bodyPr>
          <a:lstStyle/>
          <a:p>
            <a:pPr algn="l">
              <a:spcBef>
                <a:spcPts val="0"/>
              </a:spcBef>
              <a:spcAft>
                <a:spcPts val="0"/>
              </a:spcAft>
            </a:pPr>
            <a:r>
              <a:rPr sz="1700" b="1" i="0">
                <a:solidFill>
                  <a:srgbClr val="1F3A5F"/>
                </a:solidFill>
                <a:latin typeface="Times New Roman"/>
              </a:rPr>
              <a:t>15-Dim Behavioral ML Bridge</a:t>
            </a:r>
          </a:p>
        </p:txBody>
      </p:sp>
      <p:sp>
        <p:nvSpPr>
          <p:cNvPr id="18" name="Module text 3"/>
          <p:cNvSpPr txBox="1"/>
          <p:nvPr/>
        </p:nvSpPr>
        <p:spPr>
          <a:xfrm>
            <a:off x="8092440" y="2267712"/>
            <a:ext cx="3154680" cy="1371600"/>
          </a:xfrm>
          <a:prstGeom prst="rect">
            <a:avLst/>
          </a:prstGeom>
          <a:noFill/>
        </p:spPr>
        <p:txBody>
          <a:bodyPr wrap="square" lIns="73152" rIns="73152" tIns="36576" bIns="36576" anchor="t">
            <a:spAutoFit/>
          </a:bodyPr>
          <a:lstStyle/>
          <a:p>
            <a:pPr algn="l" marL="182880" indent="-182880">
              <a:spcBef>
                <a:spcPts val="0"/>
              </a:spcBef>
              <a:spcAft>
                <a:spcPts val="300"/>
              </a:spcAft>
              <a:buFont typeface="Arial"/>
              <a:buChar char="•"/>
            </a:pPr>
            <a:r>
              <a:rPr sz="1400" b="0" i="0">
                <a:solidFill>
                  <a:srgbClr val="1E1E1E"/>
                </a:solidFill>
                <a:latin typeface="Times New Roman"/>
              </a:rPr>
              <a:t>Synthesizes 23+ cash flows to 15 features</a:t>
            </a:r>
          </a:p>
          <a:p>
            <a:pPr algn="l" marL="182880" indent="-182880">
              <a:spcBef>
                <a:spcPts val="0"/>
              </a:spcBef>
              <a:spcAft>
                <a:spcPts val="300"/>
              </a:spcAft>
              <a:buFont typeface="Arial"/>
              <a:buChar char="•"/>
            </a:pPr>
            <a:r>
              <a:rPr sz="1400" b="0" i="0">
                <a:solidFill>
                  <a:srgbClr val="1E1E1E"/>
                </a:solidFill>
                <a:latin typeface="Times New Roman"/>
              </a:rPr>
              <a:t>Trained on 30,000 UCI Credit Card records</a:t>
            </a:r>
          </a:p>
          <a:p>
            <a:pPr algn="l" marL="182880" indent="-182880">
              <a:spcBef>
                <a:spcPts val="0"/>
              </a:spcBef>
              <a:spcAft>
                <a:spcPts val="300"/>
              </a:spcAft>
              <a:buFont typeface="Arial"/>
              <a:buChar char="•"/>
            </a:pPr>
            <a:r>
              <a:rPr sz="1400" b="0" i="0">
                <a:solidFill>
                  <a:srgbClr val="1E1E1E"/>
                </a:solidFill>
                <a:latin typeface="Times New Roman"/>
              </a:rPr>
              <a:t>Platt-calibrated Random Forest (ROC 0.7725)</a:t>
            </a:r>
          </a:p>
        </p:txBody>
      </p:sp>
      <p:sp>
        <p:nvSpPr>
          <p:cNvPr id="19" name="Module card 4"/>
          <p:cNvSpPr/>
          <p:nvPr/>
        </p:nvSpPr>
        <p:spPr>
          <a:xfrm>
            <a:off x="868680" y="3931920"/>
            <a:ext cx="3337560" cy="214884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p>
        </p:txBody>
      </p:sp>
      <p:sp>
        <p:nvSpPr>
          <p:cNvPr id="20" name="Module number 4"/>
          <p:cNvSpPr/>
          <p:nvPr/>
        </p:nvSpPr>
        <p:spPr>
          <a:xfrm>
            <a:off x="1005839" y="4069080"/>
            <a:ext cx="457200" cy="4572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spcBef>
                <a:spcPts val="0"/>
              </a:spcBef>
              <a:spcAft>
                <a:spcPts val="0"/>
              </a:spcAft>
            </a:pPr>
            <a:r>
              <a:rPr sz="1600" b="1" i="0">
                <a:solidFill>
                  <a:srgbClr val="FFFFFF"/>
                </a:solidFill>
                <a:latin typeface="Times New Roman"/>
              </a:rPr>
              <a:t>4</a:t>
            </a:r>
          </a:p>
        </p:txBody>
      </p:sp>
      <p:sp>
        <p:nvSpPr>
          <p:cNvPr id="21" name="Module title 4"/>
          <p:cNvSpPr txBox="1"/>
          <p:nvPr/>
        </p:nvSpPr>
        <p:spPr>
          <a:xfrm>
            <a:off x="1554480" y="4041648"/>
            <a:ext cx="2560320" cy="512064"/>
          </a:xfrm>
          <a:prstGeom prst="rect">
            <a:avLst/>
          </a:prstGeom>
          <a:noFill/>
        </p:spPr>
        <p:txBody>
          <a:bodyPr wrap="square" lIns="73152" rIns="73152" tIns="36576" bIns="36576" anchor="ctr">
            <a:spAutoFit/>
          </a:bodyPr>
          <a:lstStyle/>
          <a:p>
            <a:pPr algn="l">
              <a:spcBef>
                <a:spcPts val="0"/>
              </a:spcBef>
              <a:spcAft>
                <a:spcPts val="0"/>
              </a:spcAft>
            </a:pPr>
            <a:r>
              <a:rPr sz="1700" b="1" i="0">
                <a:solidFill>
                  <a:srgbClr val="1F3A5F"/>
                </a:solidFill>
                <a:latin typeface="Times New Roman"/>
              </a:rPr>
              <a:t>Unsupervised Anomaly Lab</a:t>
            </a:r>
          </a:p>
        </p:txBody>
      </p:sp>
      <p:sp>
        <p:nvSpPr>
          <p:cNvPr id="22" name="Module text 4"/>
          <p:cNvSpPr txBox="1"/>
          <p:nvPr/>
        </p:nvSpPr>
        <p:spPr>
          <a:xfrm>
            <a:off x="960120" y="4645152"/>
            <a:ext cx="3154680" cy="1371600"/>
          </a:xfrm>
          <a:prstGeom prst="rect">
            <a:avLst/>
          </a:prstGeom>
          <a:noFill/>
        </p:spPr>
        <p:txBody>
          <a:bodyPr wrap="square" lIns="73152" rIns="73152" tIns="36576" bIns="36576" anchor="t">
            <a:spAutoFit/>
          </a:bodyPr>
          <a:lstStyle/>
          <a:p>
            <a:pPr algn="l" marL="182880" indent="-182880">
              <a:spcBef>
                <a:spcPts val="0"/>
              </a:spcBef>
              <a:spcAft>
                <a:spcPts val="300"/>
              </a:spcAft>
              <a:buFont typeface="Arial"/>
              <a:buChar char="•"/>
            </a:pPr>
            <a:r>
              <a:rPr sz="1400" b="0" i="0">
                <a:solidFill>
                  <a:srgbClr val="1E1E1E"/>
                </a:solidFill>
                <a:latin typeface="Times New Roman"/>
              </a:rPr>
              <a:t>Isolation Forest (150 trees) for fraud/spikes</a:t>
            </a:r>
          </a:p>
          <a:p>
            <a:pPr algn="l" marL="182880" indent="-182880">
              <a:spcBef>
                <a:spcPts val="0"/>
              </a:spcBef>
              <a:spcAft>
                <a:spcPts val="300"/>
              </a:spcAft>
              <a:buFont typeface="Arial"/>
              <a:buChar char="•"/>
            </a:pPr>
            <a:r>
              <a:rPr sz="1400" b="0" i="0">
                <a:solidFill>
                  <a:srgbClr val="1E1E1E"/>
                </a:solidFill>
                <a:latin typeface="Times New Roman"/>
              </a:rPr>
              <a:t>K-Means persona clustering (k=4) for peers</a:t>
            </a:r>
          </a:p>
          <a:p>
            <a:pPr algn="l" marL="182880" indent="-182880">
              <a:spcBef>
                <a:spcPts val="0"/>
              </a:spcBef>
              <a:spcAft>
                <a:spcPts val="300"/>
              </a:spcAft>
              <a:buFont typeface="Arial"/>
              <a:buChar char="•"/>
            </a:pPr>
            <a:r>
              <a:rPr sz="1400" b="0" i="0">
                <a:solidFill>
                  <a:srgbClr val="1E1E1E"/>
                </a:solidFill>
                <a:latin typeface="Times New Roman"/>
              </a:rPr>
              <a:t>Parametric stress lab (income shock, rates)</a:t>
            </a:r>
          </a:p>
        </p:txBody>
      </p:sp>
      <p:sp>
        <p:nvSpPr>
          <p:cNvPr id="23" name="Module card 5"/>
          <p:cNvSpPr/>
          <p:nvPr/>
        </p:nvSpPr>
        <p:spPr>
          <a:xfrm>
            <a:off x="4434840" y="3931920"/>
            <a:ext cx="3337560" cy="2148840"/>
          </a:xfrm>
          <a:prstGeom prst="roundRect">
            <a:avLst>
              <a:gd name="adj" fmla="val 5000"/>
            </a:avLst>
          </a:prstGeom>
          <a:solidFill>
            <a:srgbClr val="E4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p>
        </p:txBody>
      </p:sp>
      <p:sp>
        <p:nvSpPr>
          <p:cNvPr id="24" name="Module number 5"/>
          <p:cNvSpPr/>
          <p:nvPr/>
        </p:nvSpPr>
        <p:spPr>
          <a:xfrm>
            <a:off x="4572000" y="4069080"/>
            <a:ext cx="457200" cy="457200"/>
          </a:xfrm>
          <a:prstGeom prst="ellipse">
            <a:avLst/>
          </a:prstGeom>
          <a:solidFill>
            <a:srgbClr val="1B6F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spcBef>
                <a:spcPts val="0"/>
              </a:spcBef>
              <a:spcAft>
                <a:spcPts val="0"/>
              </a:spcAft>
            </a:pPr>
            <a:r>
              <a:rPr sz="1600" b="1" i="0">
                <a:solidFill>
                  <a:srgbClr val="FFFFFF"/>
                </a:solidFill>
                <a:latin typeface="Times New Roman"/>
              </a:rPr>
              <a:t>5</a:t>
            </a:r>
          </a:p>
        </p:txBody>
      </p:sp>
      <p:sp>
        <p:nvSpPr>
          <p:cNvPr id="25" name="Module title 5"/>
          <p:cNvSpPr txBox="1"/>
          <p:nvPr/>
        </p:nvSpPr>
        <p:spPr>
          <a:xfrm>
            <a:off x="5120640" y="4041648"/>
            <a:ext cx="2560320" cy="512064"/>
          </a:xfrm>
          <a:prstGeom prst="rect">
            <a:avLst/>
          </a:prstGeom>
          <a:noFill/>
        </p:spPr>
        <p:txBody>
          <a:bodyPr wrap="square" lIns="73152" rIns="73152" tIns="36576" bIns="36576" anchor="ctr">
            <a:spAutoFit/>
          </a:bodyPr>
          <a:lstStyle/>
          <a:p>
            <a:pPr algn="l">
              <a:spcBef>
                <a:spcPts val="0"/>
              </a:spcBef>
              <a:spcAft>
                <a:spcPts val="0"/>
              </a:spcAft>
            </a:pPr>
            <a:r>
              <a:rPr sz="1700" b="1" i="0">
                <a:solidFill>
                  <a:srgbClr val="1B6F6A"/>
                </a:solidFill>
                <a:latin typeface="Times New Roman"/>
              </a:rPr>
              <a:t>Pillar 2 Macro Bureau ML</a:t>
            </a:r>
          </a:p>
        </p:txBody>
      </p:sp>
      <p:sp>
        <p:nvSpPr>
          <p:cNvPr id="26" name="Module text 5"/>
          <p:cNvSpPr txBox="1"/>
          <p:nvPr/>
        </p:nvSpPr>
        <p:spPr>
          <a:xfrm>
            <a:off x="4526279" y="4645152"/>
            <a:ext cx="3154680" cy="1371600"/>
          </a:xfrm>
          <a:prstGeom prst="rect">
            <a:avLst/>
          </a:prstGeom>
          <a:noFill/>
        </p:spPr>
        <p:txBody>
          <a:bodyPr wrap="square" lIns="73152" rIns="73152" tIns="36576" bIns="36576" anchor="t">
            <a:spAutoFit/>
          </a:bodyPr>
          <a:lstStyle/>
          <a:p>
            <a:pPr algn="l" marL="182880" indent="-182880">
              <a:spcBef>
                <a:spcPts val="0"/>
              </a:spcBef>
              <a:spcAft>
                <a:spcPts val="300"/>
              </a:spcAft>
              <a:buFont typeface="Arial"/>
              <a:buChar char="•"/>
            </a:pPr>
            <a:r>
              <a:rPr sz="1400" b="0" i="0">
                <a:solidFill>
                  <a:srgbClr val="1E1E1E"/>
                </a:solidFill>
                <a:latin typeface="Times New Roman"/>
              </a:rPr>
              <a:t>Platt-calibrated LightGBM on 196,806 records</a:t>
            </a:r>
          </a:p>
          <a:p>
            <a:pPr algn="l" marL="182880" indent="-182880">
              <a:spcBef>
                <a:spcPts val="0"/>
              </a:spcBef>
              <a:spcAft>
                <a:spcPts val="300"/>
              </a:spcAft>
              <a:buFont typeface="Arial"/>
              <a:buChar char="•"/>
            </a:pPr>
            <a:r>
              <a:rPr sz="1400" b="0" i="0">
                <a:solidFill>
                  <a:srgbClr val="1E1E1E"/>
                </a:solidFill>
                <a:latin typeface="Times New Roman"/>
              </a:rPr>
              <a:t>Exact Tree-SHAP local feature attributions</a:t>
            </a:r>
          </a:p>
          <a:p>
            <a:pPr algn="l" marL="182880" indent="-182880">
              <a:spcBef>
                <a:spcPts val="0"/>
              </a:spcBef>
              <a:spcAft>
                <a:spcPts val="300"/>
              </a:spcAft>
              <a:buFont typeface="Arial"/>
              <a:buChar char="•"/>
            </a:pPr>
            <a:r>
              <a:rPr sz="1400" b="0" i="0">
                <a:solidFill>
                  <a:srgbClr val="1E1E1E"/>
                </a:solidFill>
                <a:latin typeface="Times New Roman"/>
              </a:rPr>
              <a:t>Completeness scoring &amp; alert threshold (0.20)</a:t>
            </a:r>
          </a:p>
        </p:txBody>
      </p:sp>
      <p:sp>
        <p:nvSpPr>
          <p:cNvPr id="27" name="Module card 6"/>
          <p:cNvSpPr/>
          <p:nvPr/>
        </p:nvSpPr>
        <p:spPr>
          <a:xfrm>
            <a:off x="8001000" y="3931920"/>
            <a:ext cx="3337560" cy="2148840"/>
          </a:xfrm>
          <a:prstGeom prst="roundRect">
            <a:avLst>
              <a:gd name="adj" fmla="val 5000"/>
            </a:avLst>
          </a:prstGeom>
          <a:solidFill>
            <a:srgbClr val="FFF3D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73152" bIns="73152"/>
          <a:lstStyle/>
          <a:p>
            <a:pPr algn="ctr"/>
          </a:p>
        </p:txBody>
      </p:sp>
      <p:sp>
        <p:nvSpPr>
          <p:cNvPr id="28" name="Module number 6"/>
          <p:cNvSpPr/>
          <p:nvPr/>
        </p:nvSpPr>
        <p:spPr>
          <a:xfrm>
            <a:off x="8138160" y="4069080"/>
            <a:ext cx="457200" cy="457200"/>
          </a:xfrm>
          <a:prstGeom prst="ellipse">
            <a:avLst/>
          </a:prstGeom>
          <a:solidFill>
            <a:srgbClr val="B3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73152" bIns="73152"/>
          <a:lstStyle/>
          <a:p>
            <a:pPr algn="ctr">
              <a:spcBef>
                <a:spcPts val="0"/>
              </a:spcBef>
              <a:spcAft>
                <a:spcPts val="0"/>
              </a:spcAft>
            </a:pPr>
            <a:r>
              <a:rPr sz="1600" b="1" i="0">
                <a:solidFill>
                  <a:srgbClr val="FFFFFF"/>
                </a:solidFill>
                <a:latin typeface="Times New Roman"/>
              </a:rPr>
              <a:t>6</a:t>
            </a:r>
          </a:p>
        </p:txBody>
      </p:sp>
      <p:sp>
        <p:nvSpPr>
          <p:cNvPr id="29" name="Module title 6"/>
          <p:cNvSpPr txBox="1"/>
          <p:nvPr/>
        </p:nvSpPr>
        <p:spPr>
          <a:xfrm>
            <a:off x="8686800" y="4041648"/>
            <a:ext cx="2560320" cy="512064"/>
          </a:xfrm>
          <a:prstGeom prst="rect">
            <a:avLst/>
          </a:prstGeom>
          <a:noFill/>
        </p:spPr>
        <p:txBody>
          <a:bodyPr wrap="square" lIns="73152" rIns="73152" tIns="36576" bIns="36576" anchor="ctr">
            <a:spAutoFit/>
          </a:bodyPr>
          <a:lstStyle/>
          <a:p>
            <a:pPr algn="l">
              <a:spcBef>
                <a:spcPts val="0"/>
              </a:spcBef>
              <a:spcAft>
                <a:spcPts val="0"/>
              </a:spcAft>
            </a:pPr>
            <a:r>
              <a:rPr sz="1700" b="1" i="0">
                <a:solidFill>
                  <a:srgbClr val="B35C00"/>
                </a:solidFill>
                <a:latin typeface="Times New Roman"/>
              </a:rPr>
              <a:t>2×2 ML Decision &amp; Audit</a:t>
            </a:r>
          </a:p>
        </p:txBody>
      </p:sp>
      <p:sp>
        <p:nvSpPr>
          <p:cNvPr id="30" name="Module text 6"/>
          <p:cNvSpPr txBox="1"/>
          <p:nvPr/>
        </p:nvSpPr>
        <p:spPr>
          <a:xfrm>
            <a:off x="8092440" y="4645152"/>
            <a:ext cx="3154680" cy="1371600"/>
          </a:xfrm>
          <a:prstGeom prst="rect">
            <a:avLst/>
          </a:prstGeom>
          <a:noFill/>
        </p:spPr>
        <p:txBody>
          <a:bodyPr wrap="square" lIns="73152" rIns="73152" tIns="36576" bIns="36576" anchor="t">
            <a:spAutoFit/>
          </a:bodyPr>
          <a:lstStyle/>
          <a:p>
            <a:pPr algn="l" marL="182880" indent="-182880">
              <a:spcBef>
                <a:spcPts val="0"/>
              </a:spcBef>
              <a:spcAft>
                <a:spcPts val="300"/>
              </a:spcAft>
              <a:buFont typeface="Arial"/>
              <a:buChar char="•"/>
            </a:pPr>
            <a:r>
              <a:rPr sz="1400" b="0" i="0">
                <a:solidFill>
                  <a:srgbClr val="1E1E1E"/>
                </a:solidFill>
                <a:latin typeface="Times New Roman"/>
              </a:rPr>
              <a:t>Dual-Pillar 2×2 ML matrix quadrant placement</a:t>
            </a:r>
          </a:p>
          <a:p>
            <a:pPr algn="l" marL="182880" indent="-182880">
              <a:spcBef>
                <a:spcPts val="0"/>
              </a:spcBef>
              <a:spcAft>
                <a:spcPts val="300"/>
              </a:spcAft>
              <a:buFont typeface="Arial"/>
              <a:buChar char="•"/>
            </a:pPr>
            <a:r>
              <a:rPr sz="1400" b="0" i="0">
                <a:solidFill>
                  <a:srgbClr val="1E1E1E"/>
                </a:solidFill>
                <a:latin typeface="Times New Roman"/>
              </a:rPr>
              <a:t>Tamper-evident SHA-256 forward hash chain</a:t>
            </a:r>
          </a:p>
          <a:p>
            <a:pPr algn="l" marL="182880" indent="-182880">
              <a:spcBef>
                <a:spcPts val="0"/>
              </a:spcBef>
              <a:spcAft>
                <a:spcPts val="300"/>
              </a:spcAft>
              <a:buFont typeface="Arial"/>
              <a:buChar char="•"/>
            </a:pPr>
            <a:r>
              <a:rPr sz="1400" b="0" i="0">
                <a:solidFill>
                  <a:srgbClr val="1E1E1E"/>
                </a:solidFill>
                <a:latin typeface="Times New Roman"/>
              </a:rPr>
              <a:t>External filesystem anchor &amp; DPDP erasure</a:t>
            </a:r>
          </a:p>
        </p:txBody>
      </p:sp>
    </p:spTree>
    <p:extLst>
      <p:ext uri="{BB962C8B-B14F-4D97-AF65-F5344CB8AC3E}">
        <p14:creationId xmlns:p14="http://schemas.microsoft.com/office/powerpoint/2010/main" val="3799870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1556E8-0003-02C5-D37D-A5CC4CE44D5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Experiments and Results: Risk Benchmark</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05/10/26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sp>
        <p:nvSpPr>
          <p:cNvPr id="7" name="Metric 1"/>
          <p:cNvSpPr/>
          <p:nvPr/>
        </p:nvSpPr>
        <p:spPr>
          <a:xfrm>
            <a:off x="868680" y="1554480"/>
            <a:ext cx="1874519" cy="146304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56032" bIns="256032"/>
          <a:lstStyle/>
          <a:p>
            <a:pPr algn="ctr">
              <a:spcBef>
                <a:spcPts val="0"/>
              </a:spcBef>
              <a:spcAft>
                <a:spcPts val="200"/>
              </a:spcAft>
            </a:pPr>
            <a:r>
              <a:rPr sz="3000" b="1" i="0">
                <a:solidFill>
                  <a:srgbClr val="1F3A5F"/>
                </a:solidFill>
                <a:latin typeface="Times New Roman"/>
              </a:rPr>
              <a:t>0.774</a:t>
            </a:r>
          </a:p>
          <a:p>
            <a:pPr algn="ctr">
              <a:spcBef>
                <a:spcPts val="0"/>
              </a:spcBef>
              <a:spcAft>
                <a:spcPts val="0"/>
              </a:spcAft>
            </a:pPr>
            <a:r>
              <a:rPr sz="1400" b="0" i="0">
                <a:solidFill>
                  <a:srgbClr val="1E1E1E"/>
                </a:solidFill>
                <a:latin typeface="Times New Roman"/>
              </a:rPr>
              <a:t>ROC-AUC (95% CI 0.767–0.781)</a:t>
            </a:r>
          </a:p>
        </p:txBody>
      </p:sp>
      <p:sp>
        <p:nvSpPr>
          <p:cNvPr id="8" name="Metric 2"/>
          <p:cNvSpPr/>
          <p:nvPr/>
        </p:nvSpPr>
        <p:spPr>
          <a:xfrm>
            <a:off x="2944368" y="1554480"/>
            <a:ext cx="1874519" cy="146304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56032" bIns="256032"/>
          <a:lstStyle/>
          <a:p>
            <a:pPr algn="ctr">
              <a:spcBef>
                <a:spcPts val="0"/>
              </a:spcBef>
              <a:spcAft>
                <a:spcPts val="200"/>
              </a:spcAft>
            </a:pPr>
            <a:r>
              <a:rPr sz="3000" b="1" i="0">
                <a:solidFill>
                  <a:srgbClr val="1F3A5F"/>
                </a:solidFill>
                <a:latin typeface="Times New Roman"/>
              </a:rPr>
              <a:t>0.266</a:t>
            </a:r>
          </a:p>
          <a:p>
            <a:pPr algn="ctr">
              <a:spcBef>
                <a:spcPts val="0"/>
              </a:spcBef>
              <a:spcAft>
                <a:spcPts val="0"/>
              </a:spcAft>
            </a:pPr>
            <a:r>
              <a:rPr sz="1400" b="0" i="0">
                <a:solidFill>
                  <a:srgbClr val="1E1E1E"/>
                </a:solidFill>
                <a:latin typeface="Times New Roman"/>
              </a:rPr>
              <a:t>PR-AUC (~3.3× lift)</a:t>
            </a:r>
          </a:p>
        </p:txBody>
      </p:sp>
      <p:sp>
        <p:nvSpPr>
          <p:cNvPr id="9" name="Metric 3"/>
          <p:cNvSpPr/>
          <p:nvPr/>
        </p:nvSpPr>
        <p:spPr>
          <a:xfrm>
            <a:off x="5020056" y="1554480"/>
            <a:ext cx="1874519" cy="146304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56032" bIns="256032"/>
          <a:lstStyle/>
          <a:p>
            <a:pPr algn="ctr">
              <a:spcBef>
                <a:spcPts val="0"/>
              </a:spcBef>
              <a:spcAft>
                <a:spcPts val="200"/>
              </a:spcAft>
            </a:pPr>
            <a:r>
              <a:rPr sz="3000" b="1" i="0">
                <a:solidFill>
                  <a:srgbClr val="1F3A5F"/>
                </a:solidFill>
                <a:latin typeface="Times New Roman"/>
              </a:rPr>
              <a:t>0.067</a:t>
            </a:r>
          </a:p>
          <a:p>
            <a:pPr algn="ctr">
              <a:spcBef>
                <a:spcPts val="0"/>
              </a:spcBef>
              <a:spcAft>
                <a:spcPts val="0"/>
              </a:spcAft>
            </a:pPr>
            <a:r>
              <a:rPr sz="1400" b="0" i="0">
                <a:solidFill>
                  <a:srgbClr val="1E1E1E"/>
                </a:solidFill>
                <a:latin typeface="Times New Roman"/>
              </a:rPr>
              <a:t>Brier score</a:t>
            </a:r>
          </a:p>
        </p:txBody>
      </p:sp>
      <p:sp>
        <p:nvSpPr>
          <p:cNvPr id="10" name="Setup notes"/>
          <p:cNvSpPr txBox="1"/>
          <p:nvPr/>
        </p:nvSpPr>
        <p:spPr>
          <a:xfrm>
            <a:off x="868680" y="3246120"/>
            <a:ext cx="6035040" cy="2834640"/>
          </a:xfrm>
          <a:prstGeom prst="rect">
            <a:avLst/>
          </a:prstGeom>
          <a:noFill/>
        </p:spPr>
        <p:txBody>
          <a:bodyPr wrap="square" lIns="73152" rIns="73152" tIns="36576" bIns="36576" anchor="t">
            <a:spAutoFit/>
          </a:bodyPr>
          <a:lstStyle/>
          <a:p>
            <a:pPr algn="l" marL="228600" indent="-228600">
              <a:spcBef>
                <a:spcPts val="0"/>
              </a:spcBef>
              <a:spcAft>
                <a:spcPts val="800"/>
              </a:spcAft>
              <a:buFont typeface="Arial"/>
              <a:buChar char="•"/>
            </a:pPr>
            <a:r>
              <a:rPr sz="1700" b="0" i="0">
                <a:solidFill>
                  <a:srgbClr val="1E1E1E"/>
                </a:solidFill>
                <a:latin typeface="Times New Roman"/>
              </a:rPr>
              <a:t>196,806 Home Credit applicants; stratified 64 / 16 / 20 split, seed 42</a:t>
            </a:r>
          </a:p>
          <a:p>
            <a:pPr algn="l" marL="228600" indent="-228600">
              <a:spcBef>
                <a:spcPts val="0"/>
              </a:spcBef>
              <a:spcAft>
                <a:spcPts val="800"/>
              </a:spcAft>
              <a:buFont typeface="Arial"/>
              <a:buChar char="•"/>
            </a:pPr>
            <a:r>
              <a:rPr sz="1700" b="0" i="0">
                <a:solidFill>
                  <a:srgbClr val="1E1E1E"/>
                </a:solidFill>
                <a:latin typeface="Times New Roman"/>
              </a:rPr>
              <a:t>Imputer and scaler fitted on train only; test set used once</a:t>
            </a:r>
          </a:p>
          <a:p>
            <a:pPr algn="l" marL="228600" indent="-228600">
              <a:spcBef>
                <a:spcPts val="0"/>
              </a:spcBef>
              <a:spcAft>
                <a:spcPts val="800"/>
              </a:spcAft>
              <a:buFont typeface="Arial"/>
              <a:buChar char="•"/>
            </a:pPr>
            <a:r>
              <a:rPr sz="1700" b="0" i="0">
                <a:solidFill>
                  <a:srgbClr val="1E1E1E"/>
                </a:solidFill>
                <a:latin typeface="Times New Roman"/>
              </a:rPr>
              <a:t>Candidates: logistic regression, random forest, XGBoost, two LightGBM; chosen on validation PR-AUC, then ROC-AUC, then Brier</a:t>
            </a:r>
          </a:p>
          <a:p>
            <a:pPr algn="l" marL="228600" indent="-228600">
              <a:spcBef>
                <a:spcPts val="0"/>
              </a:spcBef>
              <a:spcAft>
                <a:spcPts val="800"/>
              </a:spcAft>
              <a:buFont typeface="Arial"/>
              <a:buChar char="•"/>
            </a:pPr>
            <a:r>
              <a:rPr sz="1700" b="0" i="0">
                <a:solidFill>
                  <a:srgbClr val="1E1E1E"/>
                </a:solidFill>
                <a:latin typeface="Times New Roman"/>
              </a:rPr>
              <a:t>Platt-scaled probabilities; thresholds set on validation data</a:t>
            </a:r>
          </a:p>
        </p:txBody>
      </p:sp>
      <p:graphicFrame>
        <p:nvGraphicFramePr>
          <p:cNvPr id="11" name="Data split chart"/>
          <p:cNvGraphicFramePr>
            <a:graphicFrameLocks noGrp="1"/>
          </p:cNvGraphicFramePr>
          <p:nvPr/>
        </p:nvGraphicFramePr>
        <p:xfrm>
          <a:off x="7315200" y="1554480"/>
          <a:ext cx="4023360" cy="4389120"/>
        </p:xfrm>
        <a:graphic>
          <a:graphicData uri="http://schemas.openxmlformats.org/drawingml/2006/chart">
            <c:chart xmlns:c="http://schemas.openxmlformats.org/drawingml/2006/chart" r:id="rId2"/>
          </a:graphicData>
        </a:graphic>
      </p:graphicFrame>
    </p:spTree>
    <p:extLst>
      <p:ext uri="{BB962C8B-B14F-4D97-AF65-F5344CB8AC3E}">
        <p14:creationId xmlns:p14="http://schemas.microsoft.com/office/powerpoint/2010/main" val="3666188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1556E8-0003-02C5-D37D-A5CC4CE44D5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solidFill>
                  <a:srgbClr val="1F3A5F"/>
                </a:solidFill>
                <a:latin typeface="Times New Roman" panose="02020603050405020304" pitchFamily="18" charset="0"/>
                <a:cs typeface="Times New Roman" panose="02020603050405020304" pitchFamily="18" charset="0"/>
              </a:rPr>
              <a:t>Experiments and Results: Pillar 1 Behavioral ML</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05/10/26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sp>
        <p:nvSpPr>
          <p:cNvPr id="7" name="Result card 1"/>
          <p:cNvSpPr/>
          <p:nvPr/>
        </p:nvSpPr>
        <p:spPr>
          <a:xfrm>
            <a:off x="868680" y="1554480"/>
            <a:ext cx="2880360" cy="169164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74320" bIns="274320"/>
          <a:lstStyle/>
          <a:p>
            <a:pPr algn="ctr">
              <a:spcBef>
                <a:spcPts val="0"/>
              </a:spcBef>
              <a:spcAft>
                <a:spcPts val="200"/>
              </a:spcAft>
            </a:pPr>
            <a:r>
              <a:rPr sz="3000" b="1" i="0">
                <a:solidFill>
                  <a:srgbClr val="1F3A5F"/>
                </a:solidFill>
                <a:latin typeface="Times New Roman"/>
              </a:rPr>
              <a:t>0.7725</a:t>
            </a:r>
          </a:p>
          <a:p>
            <a:pPr algn="ctr">
              <a:spcBef>
                <a:spcPts val="0"/>
              </a:spcBef>
              <a:spcAft>
                <a:spcPts val="0"/>
              </a:spcAft>
            </a:pPr>
            <a:r>
              <a:rPr sz="1400" b="0" i="0">
                <a:solidFill>
                  <a:srgbClr val="1E1E1E"/>
                </a:solidFill>
                <a:latin typeface="Times New Roman"/>
              </a:rPr>
              <a:t>Platt-calibrated RF ROC-AUC (PR-AUC 0.5304, 30k UCI records)</a:t>
            </a:r>
          </a:p>
        </p:txBody>
      </p:sp>
      <p:sp>
        <p:nvSpPr>
          <p:cNvPr id="8" name="Result card 2"/>
          <p:cNvSpPr/>
          <p:nvPr/>
        </p:nvSpPr>
        <p:spPr>
          <a:xfrm>
            <a:off x="3931920" y="1554480"/>
            <a:ext cx="2880360" cy="169164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74320" bIns="274320"/>
          <a:lstStyle/>
          <a:p>
            <a:pPr algn="ctr">
              <a:spcBef>
                <a:spcPts val="0"/>
              </a:spcBef>
              <a:spcAft>
                <a:spcPts val="200"/>
              </a:spcAft>
            </a:pPr>
            <a:r>
              <a:rPr sz="3000" b="1" i="0">
                <a:solidFill>
                  <a:srgbClr val="1F3A5F"/>
                </a:solidFill>
                <a:latin typeface="Times New Roman"/>
              </a:rPr>
              <a:t>81.53%</a:t>
            </a:r>
          </a:p>
          <a:p>
            <a:pPr algn="ctr">
              <a:spcBef>
                <a:spcPts val="0"/>
              </a:spcBef>
              <a:spcAft>
                <a:spcPts val="0"/>
              </a:spcAft>
            </a:pPr>
            <a:r>
              <a:rPr sz="1400" b="0" i="0">
                <a:solidFill>
                  <a:srgbClr val="1E1E1E"/>
                </a:solidFill>
                <a:latin typeface="Times New Roman"/>
              </a:rPr>
              <a:t>Test Accuracy (P_behav default threshold 0.20)</a:t>
            </a:r>
          </a:p>
        </p:txBody>
      </p:sp>
      <p:sp>
        <p:nvSpPr>
          <p:cNvPr id="9" name="Result card 3"/>
          <p:cNvSpPr/>
          <p:nvPr/>
        </p:nvSpPr>
        <p:spPr>
          <a:xfrm>
            <a:off x="868680" y="3429000"/>
            <a:ext cx="2880360" cy="169164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74320" bIns="274320"/>
          <a:lstStyle/>
          <a:p>
            <a:pPr algn="ctr">
              <a:spcBef>
                <a:spcPts val="0"/>
              </a:spcBef>
              <a:spcAft>
                <a:spcPts val="200"/>
              </a:spcAft>
            </a:pPr>
            <a:r>
              <a:rPr sz="3000" b="1" i="0">
                <a:solidFill>
                  <a:srgbClr val="1F3A5F"/>
                </a:solidFill>
                <a:latin typeface="Times New Roman"/>
              </a:rPr>
              <a:t>100%</a:t>
            </a:r>
          </a:p>
          <a:p>
            <a:pPr algn="ctr">
              <a:spcBef>
                <a:spcPts val="0"/>
              </a:spcBef>
              <a:spcAft>
                <a:spcPts val="0"/>
              </a:spcAft>
            </a:pPr>
            <a:r>
              <a:rPr sz="1400" b="0" i="0">
                <a:solidFill>
                  <a:srgbClr val="1E1E1E"/>
                </a:solidFill>
                <a:latin typeface="Times New Roman"/>
              </a:rPr>
              <a:t>Tier 1 NLP Categorisation (10-fold CV on 18 classes)</a:t>
            </a:r>
          </a:p>
        </p:txBody>
      </p:sp>
      <p:sp>
        <p:nvSpPr>
          <p:cNvPr id="10" name="Result card 4"/>
          <p:cNvSpPr/>
          <p:nvPr/>
        </p:nvSpPr>
        <p:spPr>
          <a:xfrm>
            <a:off x="3931920" y="3429000"/>
            <a:ext cx="2880360" cy="169164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274320" bIns="274320"/>
          <a:lstStyle/>
          <a:p>
            <a:pPr algn="ctr">
              <a:spcBef>
                <a:spcPts val="0"/>
              </a:spcBef>
              <a:spcAft>
                <a:spcPts val="200"/>
              </a:spcAft>
            </a:pPr>
            <a:r>
              <a:rPr sz="3000" b="1" i="0">
                <a:solidFill>
                  <a:srgbClr val="1F3A5F"/>
                </a:solidFill>
                <a:latin typeface="Times New Roman"/>
              </a:rPr>
              <a:t>127 / 127</a:t>
            </a:r>
          </a:p>
          <a:p>
            <a:pPr algn="ctr">
              <a:spcBef>
                <a:spcPts val="0"/>
              </a:spcBef>
              <a:spcAft>
                <a:spcPts val="0"/>
              </a:spcAft>
            </a:pPr>
            <a:r>
              <a:rPr sz="1400" b="0" i="0">
                <a:solidFill>
                  <a:srgbClr val="1E1E1E"/>
                </a:solidFill>
                <a:latin typeface="Times New Roman"/>
              </a:rPr>
              <a:t>Automated pytest checks passing (100% test suite)</a:t>
            </a:r>
          </a:p>
        </p:txBody>
      </p:sp>
      <p:sp>
        <p:nvSpPr>
          <p:cNvPr id="11" name="Caveat"/>
          <p:cNvSpPr txBox="1"/>
          <p:nvPr/>
        </p:nvSpPr>
        <p:spPr>
          <a:xfrm>
            <a:off x="868680" y="5349240"/>
            <a:ext cx="5943600" cy="731520"/>
          </a:xfrm>
          <a:prstGeom prst="rect">
            <a:avLst/>
          </a:prstGeom>
          <a:noFill/>
        </p:spPr>
        <p:txBody>
          <a:bodyPr wrap="square" lIns="73152" rIns="73152" tIns="36576" bIns="36576" anchor="t">
            <a:spAutoFit/>
          </a:bodyPr>
          <a:lstStyle/>
          <a:p>
            <a:pPr algn="l">
              <a:spcBef>
                <a:spcPts val="0"/>
              </a:spcBef>
              <a:spcAft>
                <a:spcPts val="0"/>
              </a:spcAft>
            </a:pPr>
            <a:r>
              <a:rPr sz="1400" b="0" i="1">
                <a:solidFill>
                  <a:srgbClr val="555555"/>
                </a:solidFill>
                <a:latin typeface="Times New Roman"/>
              </a:rPr>
              <a:t>15 cash-flow dynamics mapped via bridge; Isolation Forest flags anomalies to ensure high-fidelity inference.</a:t>
            </a:r>
          </a:p>
        </p:txBody>
      </p:sp>
      <p:pic>
        <p:nvPicPr>
          <p:cNvPr id="12" name="Picture 11" descr="fig_7_1_model_comparison.png"/>
          <p:cNvPicPr>
            <a:picLocks noChangeAspect="1"/>
          </p:cNvPicPr>
          <p:nvPr/>
        </p:nvPicPr>
        <p:blipFill>
          <a:blip r:embed="rId3"/>
          <a:stretch>
            <a:fillRect/>
          </a:stretch>
        </p:blipFill>
        <p:spPr>
          <a:xfrm>
            <a:off x="7132320" y="1554480"/>
            <a:ext cx="4206240" cy="4389120"/>
          </a:xfrm>
          <a:prstGeom prst="rect">
            <a:avLst/>
          </a:prstGeom>
        </p:spPr>
      </p:pic>
    </p:spTree>
    <p:extLst>
      <p:ext uri="{BB962C8B-B14F-4D97-AF65-F5344CB8AC3E}">
        <p14:creationId xmlns:p14="http://schemas.microsoft.com/office/powerpoint/2010/main" val="3666188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CC49A39-F362-DB35-B5DF-7E322AB9CAE0}"/>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3754A46F-4AC3-5AF1-0B78-C0B5112BD14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Conclusion and Future Work</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851BAA61-633E-E24B-7DEE-4B2A2B1FA9A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05/10/26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AB93C553-2D0C-5A0A-39DC-21C43BD88BF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6BF7A7E9-45BE-62F4-D3A6-F19DC6ABEDE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12</a:t>
            </a:fld>
            <a:endParaRPr lang="en-IN" dirty="0">
              <a:latin typeface="Times New Roman" panose="02020603050405020304" pitchFamily="18" charset="0"/>
              <a:cs typeface="Times New Roman" panose="02020603050405020304" pitchFamily="18" charset="0"/>
            </a:endParaRPr>
          </a:p>
        </p:txBody>
      </p:sp>
      <p:sp>
        <p:nvSpPr>
          <p:cNvPr id="7" name="Conclusion card"/>
          <p:cNvSpPr/>
          <p:nvPr/>
        </p:nvSpPr>
        <p:spPr>
          <a:xfrm>
            <a:off x="868680" y="1554480"/>
            <a:ext cx="5120640" cy="4206240"/>
          </a:xfrm>
          <a:prstGeom prst="roundRect">
            <a:avLst>
              <a:gd name="adj" fmla="val 5000"/>
            </a:avLst>
          </a:prstGeom>
          <a:solidFill>
            <a:srgbClr val="E9EF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spcBef>
                <a:spcPts val="0"/>
              </a:spcBef>
              <a:spcAft>
                <a:spcPts val="1000"/>
              </a:spcAft>
            </a:pPr>
            <a:r>
              <a:rPr sz="2200" b="1" i="0">
                <a:solidFill>
                  <a:srgbClr val="1F3A5F"/>
                </a:solidFill>
                <a:latin typeface="Times New Roman"/>
              </a:rPr>
              <a:t>Conclusion</a:t>
            </a:r>
          </a:p>
          <a:p>
            <a:pPr algn="l" marL="228600" indent="-228600">
              <a:spcBef>
                <a:spcPts val="0"/>
              </a:spcBef>
              <a:spcAft>
                <a:spcPts val="1200"/>
              </a:spcAft>
              <a:buFont typeface="Arial"/>
              <a:buChar char="•"/>
            </a:pPr>
            <a:r>
              <a:rPr sz="1800" b="0" i="0">
                <a:solidFill>
                  <a:srgbClr val="1E1E1E"/>
                </a:solidFill>
                <a:latin typeface="Times New Roman"/>
              </a:rPr>
              <a:t>Delivered a working Dual-Pillar Supervised ML platform pairing a 15-dimensional statement behavioral model with a macro bureau benchmark.</a:t>
            </a:r>
          </a:p>
          <a:p>
            <a:pPr algn="l" marL="228600" indent="-228600">
              <a:spcBef>
                <a:spcPts val="0"/>
              </a:spcBef>
              <a:spcAft>
                <a:spcPts val="1200"/>
              </a:spcAft>
              <a:buFont typeface="Arial"/>
              <a:buChar char="•"/>
            </a:pPr>
            <a:r>
              <a:rPr sz="1800" b="0" i="0">
                <a:solidFill>
                  <a:srgbClr val="1E1E1E"/>
                </a:solidFill>
                <a:latin typeface="Times New Roman"/>
              </a:rPr>
              <a:t>Engineered an empirical bridge to 30,000 UCI credit records, achieving ROC-AUC 0.7725 and PR-AUC 0.5304 on behavioral default risk.</a:t>
            </a:r>
          </a:p>
          <a:p>
            <a:pPr algn="l" marL="228600" indent="-228600">
              <a:spcBef>
                <a:spcPts val="0"/>
              </a:spcBef>
              <a:spcAft>
                <a:spcPts val="1200"/>
              </a:spcAft>
              <a:buFont typeface="Arial"/>
              <a:buChar char="•"/>
            </a:pPr>
            <a:r>
              <a:rPr sz="1800" b="0" i="0">
                <a:solidFill>
                  <a:srgbClr val="1E1E1E"/>
                </a:solidFill>
                <a:latin typeface="Times New Roman"/>
              </a:rPr>
              <a:t>Full explainability via Tree-SHAP attributions and complete auditability via SHA-256 hash chains; 127 tests pass, keeping the officer in command.</a:t>
            </a:r>
          </a:p>
        </p:txBody>
      </p:sp>
      <p:sp>
        <p:nvSpPr>
          <p:cNvPr id="8" name="Future Work card"/>
          <p:cNvSpPr/>
          <p:nvPr/>
        </p:nvSpPr>
        <p:spPr>
          <a:xfrm>
            <a:off x="6217920" y="1554480"/>
            <a:ext cx="5120640" cy="4206240"/>
          </a:xfrm>
          <a:prstGeom prst="roundRect">
            <a:avLst>
              <a:gd name="adj" fmla="val 5000"/>
            </a:avLst>
          </a:prstGeom>
          <a:solidFill>
            <a:srgbClr val="E4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spcBef>
                <a:spcPts val="0"/>
              </a:spcBef>
              <a:spcAft>
                <a:spcPts val="1000"/>
              </a:spcAft>
            </a:pPr>
            <a:r>
              <a:rPr sz="2200" b="1" i="0">
                <a:solidFill>
                  <a:srgbClr val="1B6F6A"/>
                </a:solidFill>
                <a:latin typeface="Times New Roman"/>
              </a:rPr>
              <a:t>Future Work</a:t>
            </a:r>
          </a:p>
          <a:p>
            <a:pPr algn="l" marL="228600" indent="-228600">
              <a:spcBef>
                <a:spcPts val="0"/>
              </a:spcBef>
              <a:spcAft>
                <a:spcPts val="1200"/>
              </a:spcAft>
              <a:buFont typeface="Arial"/>
              <a:buChar char="•"/>
            </a:pPr>
            <a:r>
              <a:rPr sz="1800" b="0" i="0">
                <a:solidFill>
                  <a:srgbClr val="1E1E1E"/>
                </a:solidFill>
                <a:latin typeface="Times New Roman"/>
              </a:rPr>
              <a:t>Integrate live Open Banking / Account Aggregator (AA) API connectors for automated e-statement retrieval</a:t>
            </a:r>
          </a:p>
          <a:p>
            <a:pPr algn="l" marL="228600" indent="-228600">
              <a:spcBef>
                <a:spcPts val="0"/>
              </a:spcBef>
              <a:spcAft>
                <a:spcPts val="1200"/>
              </a:spcAft>
              <a:buFont typeface="Arial"/>
              <a:buChar char="•"/>
            </a:pPr>
            <a:r>
              <a:rPr sz="1800" b="0" i="0">
                <a:solidFill>
                  <a:srgbClr val="1E1E1E"/>
                </a:solidFill>
                <a:latin typeface="Times New Roman"/>
              </a:rPr>
              <a:t>Deploy transformer-based embeddings (e.g. FinBERT) for cross-lingual regional Indian banking narrations</a:t>
            </a:r>
          </a:p>
          <a:p>
            <a:pPr algn="l" marL="228600" indent="-228600">
              <a:spcBef>
                <a:spcPts val="0"/>
              </a:spcBef>
              <a:spcAft>
                <a:spcPts val="1200"/>
              </a:spcAft>
              <a:buFont typeface="Arial"/>
              <a:buChar char="•"/>
            </a:pPr>
            <a:r>
              <a:rPr sz="1800" b="0" i="0">
                <a:solidFill>
                  <a:srgbClr val="1E1E1E"/>
                </a:solidFill>
                <a:latin typeface="Times New Roman"/>
              </a:rPr>
              <a:t>Implement continuous model drift monitoring (Population Stability Index / Wasserstein distance)</a:t>
            </a:r>
          </a:p>
          <a:p>
            <a:pPr algn="l" marL="228600" indent="-228600">
              <a:spcBef>
                <a:spcPts val="0"/>
              </a:spcBef>
              <a:spcAft>
                <a:spcPts val="1200"/>
              </a:spcAft>
              <a:buFont typeface="Arial"/>
              <a:buChar char="•"/>
            </a:pPr>
            <a:r>
              <a:rPr sz="1800" b="0" i="0">
                <a:solidFill>
                  <a:srgbClr val="1E1E1E"/>
                </a:solidFill>
                <a:latin typeface="Times New Roman"/>
              </a:rPr>
              <a:t>Incorporate federated learning protocols for privacy-preserving multi-institutional credit benchmarking</a:t>
            </a:r>
          </a:p>
        </p:txBody>
      </p:sp>
    </p:spTree>
    <p:extLst>
      <p:ext uri="{BB962C8B-B14F-4D97-AF65-F5344CB8AC3E}">
        <p14:creationId xmlns:p14="http://schemas.microsoft.com/office/powerpoint/2010/main" val="1317498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1EE89F-6F96-DF9C-768A-8B2A7BEAD23D}"/>
              </a:ext>
            </a:extLst>
          </p:cNvPr>
          <p:cNvSpPr>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Outcome Achieved</a:t>
            </a:r>
            <a:endParaRPr sz="30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7F86E621-0A63-DDD2-60A0-511D9D7C817E}"/>
              </a:ext>
            </a:extLst>
          </p:cNvPr>
          <p:cNvSpPr>
            <a:spLocks noGrp="1"/>
          </p:cNvSpPr>
          <p:nvPr>
            <p:ph type="dt" sz="half" idx="10"/>
          </p:nvPr>
        </p:nvSpPr>
        <p:spPr/>
        <p:txBody>
          <a:bodyPr/>
          <a:lstStyle/>
          <a:p>
            <a:fld id="{FEA886FF-1BA7-4533-94E6-869CE1E2970B}" type="datetime1">
              <a:rPr lang="en-IN" smtClean="0"/>
              <a:t>05/10/26</a:t>
            </a:fld>
            <a:endParaRPr lang="en-IN"/>
          </a:p>
        </p:txBody>
      </p:sp>
      <p:sp>
        <p:nvSpPr>
          <p:cNvPr id="5" name="Footer Placeholder 4">
            <a:extLst>
              <a:ext uri="{FF2B5EF4-FFF2-40B4-BE49-F238E27FC236}">
                <a16:creationId xmlns:a16="http://schemas.microsoft.com/office/drawing/2014/main" xmlns="" id="{74966F66-9685-CC43-3B74-035A03CAF328}"/>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32234F7B-54B7-5C34-9356-A94BE39E2151}"/>
              </a:ext>
            </a:extLst>
          </p:cNvPr>
          <p:cNvSpPr>
            <a:spLocks noGrp="1"/>
          </p:cNvSpPr>
          <p:nvPr>
            <p:ph type="sldNum" sz="quarter" idx="12"/>
          </p:nvPr>
        </p:nvSpPr>
        <p:spPr/>
        <p:txBody>
          <a:bodyPr/>
          <a:lstStyle/>
          <a:p>
            <a:fld id="{65201FD4-9D8D-4491-815B-63C7BF4F0034}" type="slidenum">
              <a:rPr lang="en-IN" smtClean="0"/>
              <a:t>13</a:t>
            </a:fld>
            <a:endParaRPr lang="en-IN"/>
          </a:p>
        </p:txBody>
      </p:sp>
      <p:sp>
        <p:nvSpPr>
          <p:cNvPr id="7" name="Achieved card"/>
          <p:cNvSpPr/>
          <p:nvPr/>
        </p:nvSpPr>
        <p:spPr>
          <a:xfrm>
            <a:off x="868680" y="1554480"/>
            <a:ext cx="5120640" cy="3566160"/>
          </a:xfrm>
          <a:prstGeom prst="roundRect">
            <a:avLst>
              <a:gd name="adj" fmla="val 5000"/>
            </a:avLst>
          </a:prstGeom>
          <a:solidFill>
            <a:srgbClr val="E4F2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spcBef>
                <a:spcPts val="0"/>
              </a:spcBef>
              <a:spcAft>
                <a:spcPts val="1000"/>
              </a:spcAft>
            </a:pPr>
            <a:r>
              <a:rPr sz="2200" b="1" i="0">
                <a:solidFill>
                  <a:srgbClr val="1B6F6A"/>
                </a:solidFill>
                <a:latin typeface="Times New Roman"/>
              </a:rPr>
              <a:t>Achieved</a:t>
            </a:r>
          </a:p>
          <a:p>
            <a:pPr algn="l" marL="228600" indent="-228600">
              <a:spcBef>
                <a:spcPts val="0"/>
              </a:spcBef>
              <a:spcAft>
                <a:spcPts val="800"/>
              </a:spcAft>
              <a:buFont typeface="Arial"/>
              <a:buChar char="•"/>
            </a:pPr>
            <a:r>
              <a:rPr sz="1800" b="0" i="0">
                <a:solidFill>
                  <a:srgbClr val="1E1E1E"/>
                </a:solidFill>
                <a:latin typeface="Times New Roman"/>
              </a:rPr>
              <a:t>Live Cloud Platform: behavioral-credit-system.streamlit.app</a:t>
            </a:r>
          </a:p>
          <a:p>
            <a:pPr algn="l" marL="228600" indent="-228600">
              <a:spcBef>
                <a:spcPts val="0"/>
              </a:spcBef>
              <a:spcAft>
                <a:spcPts val="800"/>
              </a:spcAft>
              <a:buFont typeface="Arial"/>
              <a:buChar char="•"/>
            </a:pPr>
            <a:r>
              <a:rPr sz="1800" b="0" i="0">
                <a:solidFill>
                  <a:srgbClr val="1E1E1E"/>
                </a:solidFill>
                <a:latin typeface="Times New Roman"/>
              </a:rPr>
              <a:t>Public GitHub repository with documentation and clean source code</a:t>
            </a:r>
          </a:p>
          <a:p>
            <a:pPr algn="l" marL="228600" indent="-228600">
              <a:spcBef>
                <a:spcPts val="0"/>
              </a:spcBef>
              <a:spcAft>
                <a:spcPts val="0"/>
              </a:spcAft>
              <a:buFont typeface="Arial"/>
              <a:buChar char="•"/>
            </a:pPr>
            <a:r>
              <a:rPr sz="1800" b="0" i="0">
                <a:solidFill>
                  <a:srgbClr val="1E1E1E"/>
                </a:solidFill>
                <a:latin typeface="Times New Roman"/>
              </a:rPr>
              <a:t>127 / 127 automated pytest tests passing (100% test coverage)</a:t>
            </a:r>
          </a:p>
          <a:p>
            <a:r>
              <a:rPr sz="1800" b="0">
                <a:solidFill>
                  <a:srgbClr val="1E1E1E"/>
                </a:solidFill>
                <a:latin typeface="Times New Roman"/>
              </a:rPr>
              <a:t>Comprehensive 58-page IEEE / VIT formatted final project report</a:t>
            </a:r>
          </a:p>
        </p:txBody>
      </p:sp>
      <p:sp>
        <p:nvSpPr>
          <p:cNvPr id="8" name="Targeted card"/>
          <p:cNvSpPr/>
          <p:nvPr/>
        </p:nvSpPr>
        <p:spPr>
          <a:xfrm>
            <a:off x="6217920" y="1554480"/>
            <a:ext cx="5120640" cy="3566160"/>
          </a:xfrm>
          <a:prstGeom prst="roundRect">
            <a:avLst>
              <a:gd name="adj" fmla="val 5000"/>
            </a:avLst>
          </a:prstGeom>
          <a:solidFill>
            <a:srgbClr val="FFF3D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73152" bIns="73152"/>
          <a:lstStyle/>
          <a:p>
            <a:pPr algn="l">
              <a:spcBef>
                <a:spcPts val="0"/>
              </a:spcBef>
              <a:spcAft>
                <a:spcPts val="1000"/>
              </a:spcAft>
            </a:pPr>
            <a:r>
              <a:rPr sz="2200" b="1" i="0">
                <a:solidFill>
                  <a:srgbClr val="B35C00"/>
                </a:solidFill>
                <a:latin typeface="Times New Roman"/>
              </a:rPr>
              <a:t>Targeted</a:t>
            </a:r>
          </a:p>
          <a:p>
            <a:pPr algn="l" marL="228600" indent="-228600">
              <a:spcBef>
                <a:spcPts val="0"/>
              </a:spcBef>
              <a:spcAft>
                <a:spcPts val="800"/>
              </a:spcAft>
              <a:buFont typeface="Arial"/>
              <a:buChar char="•"/>
            </a:pPr>
            <a:r>
              <a:rPr sz="1800" b="0" i="0">
                <a:solidFill>
                  <a:srgbClr val="1E1E1E"/>
                </a:solidFill>
                <a:latin typeface="Times New Roman"/>
              </a:rPr>
              <a:t>Conference paper (Scopus-indexed) on Dual-Pillar Supervised Credit Decision Systems</a:t>
            </a:r>
          </a:p>
          <a:p>
            <a:pPr algn="l" marL="228600" indent="-228600">
              <a:spcBef>
                <a:spcPts val="0"/>
              </a:spcBef>
              <a:spcAft>
                <a:spcPts val="0"/>
              </a:spcAft>
              <a:buFont typeface="Arial"/>
              <a:buChar char="•"/>
            </a:pPr>
            <a:r>
              <a:rPr sz="1800" b="0" i="0">
                <a:solidFill>
                  <a:srgbClr val="1E1E1E"/>
                </a:solidFill>
                <a:latin typeface="Times New Roman"/>
              </a:rPr>
              <a:t>Pilot evaluation with cooperative banking institutions and credit unions</a:t>
            </a:r>
          </a:p>
          <a:p>
            <a:r>
              <a:rPr sz="1800" b="0">
                <a:solidFill>
                  <a:srgbClr val="1E1E1E"/>
                </a:solidFill>
                <a:latin typeface="Times New Roman"/>
              </a:rPr>
              <a:t>Copyright registration for 15-Dimensional Behavioral Bridge Architecture</a:t>
            </a:r>
          </a:p>
        </p:txBody>
      </p:sp>
      <p:sp>
        <p:nvSpPr>
          <p:cNvPr id="9" name="Repo link"/>
          <p:cNvSpPr txBox="1"/>
          <p:nvPr/>
        </p:nvSpPr>
        <p:spPr>
          <a:xfrm>
            <a:off x="868680" y="5349240"/>
            <a:ext cx="10469880" cy="411480"/>
          </a:xfrm>
          <a:prstGeom prst="rect">
            <a:avLst/>
          </a:prstGeom>
          <a:noFill/>
        </p:spPr>
        <p:txBody>
          <a:bodyPr wrap="square" lIns="73152" rIns="73152" tIns="36576" bIns="36576" anchor="t">
            <a:spAutoFit/>
          </a:bodyPr>
          <a:lstStyle/>
          <a:p>
            <a:pPr algn="l">
              <a:spcBef>
                <a:spcPts val="0"/>
              </a:spcBef>
              <a:spcAft>
                <a:spcPts val="0"/>
              </a:spcAft>
            </a:pPr>
            <a:r>
              <a:rPr sz="1400" b="0" i="0">
                <a:solidFill>
                  <a:srgbClr val="555555"/>
                </a:solidFill>
                <a:latin typeface="Times New Roman"/>
              </a:rPr>
              <a:t>github.com/rohith5709/behavioral-credit-decision-support-system · Live: behavioral-credit-system.streamlit.app</a:t>
            </a:r>
          </a:p>
        </p:txBody>
      </p:sp>
    </p:spTree>
    <p:extLst>
      <p:ext uri="{BB962C8B-B14F-4D97-AF65-F5344CB8AC3E}">
        <p14:creationId xmlns:p14="http://schemas.microsoft.com/office/powerpoint/2010/main" val="4071570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xmlns="" id="{CC4F09CD-956A-B8B3-1183-9C28C80DDB9A}"/>
              </a:ext>
            </a:extLst>
          </p:cNvPr>
          <p:cNvSpPr>
            <a:spLocks noGrp="1" noChangeArrowheads="1"/>
          </p:cNvSpPr>
          <p:nvPr>
            <p:ph idx="1"/>
          </p:nvPr>
        </p:nvSpPr>
        <p:spPr bwMode="auto">
          <a:xfrm>
            <a:off x="868680" y="1417320"/>
            <a:ext cx="1046988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ts val="500"/>
              </a:spcAft>
              <a:buNone/>
            </a:pPr>
            <a:r>
              <a:rPr lang="en-IN" sz="1400" dirty="0">
                <a:latin typeface="Times New Roman" panose="02020603050405020304" pitchFamily="18" charset="0"/>
                <a:cs typeface="Times New Roman" panose="02020603050405020304" pitchFamily="18" charset="0"/>
              </a:rPr>
              <a:t>[1] I.-C. Yeh and C. Lien, “The comparisons of data mining techniques for the predictive accuracy of probability of default of credit card clients,” Expert Syst. Appl., vol. 36, no. 2, pp. 2473–2480, 2009.</a:t>
            </a:r>
          </a:p>
          <a:p>
            <a:pPr marL="0" indent="0" eaLnBrk="0" fontAlgn="base" hangingPunct="0">
              <a:lnSpc>
                <a:spcPct val="100000"/>
              </a:lnSpc>
              <a:spcBef>
                <a:spcPct val="0"/>
              </a:spcBef>
              <a:spcAft>
                <a:spcPts val="500"/>
              </a:spcAft>
              <a:buNone/>
            </a:pPr>
            <a:r>
              <a:rPr lang="en-IN" sz="1400" dirty="0">
                <a:latin typeface="Times New Roman" panose="02020603050405020304" pitchFamily="18" charset="0"/>
                <a:cs typeface="Times New Roman" panose="02020603050405020304" pitchFamily="18" charset="0"/>
              </a:rPr>
              <a:t>[2] S. Lessmann, B. Baesens, H.-V. Seow, and L. C. Thomas, “Benchmarking state-of-the-art classification algorithms for credit scoring: An update of research,” Eur. J. Oper. Res., vol. 247, no. 1, pp. 124–136, 2015.</a:t>
            </a:r>
          </a:p>
          <a:p>
            <a:pPr marL="0" indent="0" eaLnBrk="0" fontAlgn="base" hangingPunct="0">
              <a:lnSpc>
                <a:spcPct val="100000"/>
              </a:lnSpc>
              <a:spcBef>
                <a:spcPct val="0"/>
              </a:spcBef>
              <a:spcAft>
                <a:spcPts val="500"/>
              </a:spcAft>
              <a:buNone/>
            </a:pPr>
            <a:r>
              <a:rPr lang="en-IN" sz="1400" dirty="0">
                <a:latin typeface="Times New Roman" panose="02020603050405020304" pitchFamily="18" charset="0"/>
                <a:cs typeface="Times New Roman" panose="02020603050405020304" pitchFamily="18" charset="0"/>
              </a:rPr>
              <a:t>[3] A. E. Khandani, A. J. Kim, and A. W. Lo, “Consumer credit-risk models via machine-learning algorithms,” J. Bank. Financ., vol. 34, no. 11, pp. 2767–2787, 2010.</a:t>
            </a:r>
          </a:p>
          <a:p>
            <a:pPr marL="0" indent="0" eaLnBrk="0" fontAlgn="base" hangingPunct="0">
              <a:lnSpc>
                <a:spcPct val="100000"/>
              </a:lnSpc>
              <a:spcBef>
                <a:spcPct val="0"/>
              </a:spcBef>
              <a:spcAft>
                <a:spcPts val="500"/>
              </a:spcAft>
              <a:buNone/>
            </a:pPr>
            <a:r>
              <a:rPr lang="en-IN" sz="1400" dirty="0">
                <a:latin typeface="Times New Roman" panose="02020603050405020304" pitchFamily="18" charset="0"/>
                <a:cs typeface="Times New Roman" panose="02020603050405020304" pitchFamily="18" charset="0"/>
              </a:rPr>
              <a:t>[4] S. Bhatore, L. Mohan, and Y. R. Reddy, “Machine learning techniques for credit risk evaluation: A systematic literature review,” J. Bank. Financ. Technol., vol. 4, pp. 111–138, 2020.</a:t>
            </a:r>
          </a:p>
          <a:p>
            <a:pPr marL="0" indent="0" eaLnBrk="0" fontAlgn="base" hangingPunct="0">
              <a:lnSpc>
                <a:spcPct val="100000"/>
              </a:lnSpc>
              <a:spcBef>
                <a:spcPct val="0"/>
              </a:spcBef>
              <a:spcAft>
                <a:spcPts val="500"/>
              </a:spcAft>
              <a:buNone/>
            </a:pPr>
            <a:r>
              <a:rPr lang="en-IN" sz="1400" dirty="0">
                <a:latin typeface="Times New Roman" panose="02020603050405020304" pitchFamily="18" charset="0"/>
                <a:cs typeface="Times New Roman" panose="02020603050405020304" pitchFamily="18" charset="0"/>
              </a:rPr>
              <a:t>[5] G. Ke et al., “LightGBM: A highly efficient gradient boosting decision tree,” in Proc. NeurIPS, 2017, pp. 3146–3154.</a:t>
            </a:r>
          </a:p>
          <a:p>
            <a:pPr marL="0" indent="0" eaLnBrk="0" fontAlgn="base" hangingPunct="0">
              <a:lnSpc>
                <a:spcPct val="100000"/>
              </a:lnSpc>
              <a:spcBef>
                <a:spcPct val="0"/>
              </a:spcBef>
              <a:spcAft>
                <a:spcPts val="500"/>
              </a:spcAft>
              <a:buNone/>
            </a:pPr>
            <a:r>
              <a:rPr lang="en-IN" sz="1400" dirty="0">
                <a:latin typeface="Times New Roman" panose="02020603050405020304" pitchFamily="18" charset="0"/>
                <a:cs typeface="Times New Roman" panose="02020603050405020304" pitchFamily="18" charset="0"/>
              </a:rPr>
              <a:t>[6] S. M. Lundberg and S.-I. Lee, “A unified approach to interpreting model predictions,” in Proc. NeurIPS, 2017, pp. 4765–4774.</a:t>
            </a:r>
          </a:p>
          <a:p>
            <a:pPr marL="0" indent="0" eaLnBrk="0" fontAlgn="base" hangingPunct="0">
              <a:lnSpc>
                <a:spcPct val="100000"/>
              </a:lnSpc>
              <a:spcBef>
                <a:spcPct val="0"/>
              </a:spcBef>
              <a:spcAft>
                <a:spcPts val="500"/>
              </a:spcAft>
              <a:buNone/>
            </a:pPr>
            <a:r>
              <a:rPr lang="en-IN" sz="1400" dirty="0">
                <a:latin typeface="Times New Roman" panose="02020603050405020304" pitchFamily="18" charset="0"/>
                <a:cs typeface="Times New Roman" panose="02020603050405020304" pitchFamily="18" charset="0"/>
              </a:rPr>
              <a:t>[7] J. C. Platt, “Probabilistic outputs for support vector machines and comparisons to regularized likelihood methods,” in Advances in Large Margin Classifiers, MIT Press, 1999, pp. 61–74.</a:t>
            </a:r>
          </a:p>
          <a:p>
            <a:pPr marL="0" indent="0" eaLnBrk="0" fontAlgn="base" hangingPunct="0">
              <a:lnSpc>
                <a:spcPct val="100000"/>
              </a:lnSpc>
              <a:spcBef>
                <a:spcPct val="0"/>
              </a:spcBef>
              <a:spcAft>
                <a:spcPts val="500"/>
              </a:spcAft>
              <a:buNone/>
            </a:pPr>
            <a:r>
              <a:rPr lang="en-IN" sz="1400" dirty="0">
                <a:latin typeface="Times New Roman" panose="02020603050405020304" pitchFamily="18" charset="0"/>
                <a:cs typeface="Times New Roman" panose="02020603050405020304" pitchFamily="18" charset="0"/>
              </a:rPr>
              <a:t>[8] Home Credit Group, “Home Credit Default Risk,” Kaggle dataset, 2018.</a:t>
            </a:r>
          </a:p>
          <a:p>
            <a:pPr marL="0" indent="0" eaLnBrk="0" fontAlgn="base" hangingPunct="0">
              <a:lnSpc>
                <a:spcPct val="100000"/>
              </a:lnSpc>
              <a:spcBef>
                <a:spcPct val="0"/>
              </a:spcBef>
              <a:spcAft>
                <a:spcPts val="500"/>
              </a:spcAft>
              <a:buNone/>
            </a:pPr>
            <a:r>
              <a:rPr lang="en-IN" sz="1400" dirty="0">
                <a:latin typeface="Times New Roman" panose="02020603050405020304" pitchFamily="18" charset="0"/>
                <a:cs typeface="Times New Roman" panose="02020603050405020304" pitchFamily="18" charset="0"/>
              </a:rPr>
              <a:t>[9] Government of India, “The Digital Personal Data Protection Act, 2023,” Act No. 22 of 2023.</a:t>
            </a:r>
          </a:p>
        </p:txBody>
      </p:sp>
      <p:sp>
        <p:nvSpPr>
          <p:cNvPr id="5" name="Date Placeholder 4">
            <a:extLst>
              <a:ext uri="{FF2B5EF4-FFF2-40B4-BE49-F238E27FC236}">
                <a16:creationId xmlns:a16="http://schemas.microsoft.com/office/drawing/2014/main" xmlns="" id="{B732D3DB-7149-E1E5-D5F9-4FC93A788894}"/>
              </a:ext>
            </a:extLst>
          </p:cNvPr>
          <p:cNvSpPr>
            <a:spLocks noGrp="1"/>
          </p:cNvSpPr>
          <p:nvPr>
            <p:ph type="dt" sz="half" idx="10"/>
          </p:nvPr>
        </p:nvSpPr>
        <p:spPr/>
        <p:txBody>
          <a:bodyPr/>
          <a:lstStyle/>
          <a:p>
            <a:fld id="{0A7C7B6C-E68D-4047-8A1E-3C7BD2842AF7}" type="datetime1">
              <a:rPr lang="en-IN" smtClean="0"/>
              <a:t>05/10/26</a:t>
            </a:fld>
            <a:endParaRPr lang="en-IN"/>
          </a:p>
        </p:txBody>
      </p:sp>
      <p:sp>
        <p:nvSpPr>
          <p:cNvPr id="6" name="Footer Placeholder 5">
            <a:extLst>
              <a:ext uri="{FF2B5EF4-FFF2-40B4-BE49-F238E27FC236}">
                <a16:creationId xmlns:a16="http://schemas.microsoft.com/office/drawing/2014/main" xmlns=""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xmlns="" id="{E431EAEC-BCE3-2979-69C6-273309B9FFA7}"/>
              </a:ext>
            </a:extLst>
          </p:cNvPr>
          <p:cNvSpPr>
            <a:spLocks noGrp="1"/>
          </p:cNvSpPr>
          <p:nvPr>
            <p:ph type="sldNum" sz="quarter" idx="12"/>
          </p:nvPr>
        </p:nvSpPr>
        <p:spPr/>
        <p:txBody>
          <a:bodyPr/>
          <a:lstStyle/>
          <a:p>
            <a:fld id="{65201FD4-9D8D-4491-815B-63C7BF4F0034}" type="slidenum">
              <a:rPr lang="en-IN" smtClean="0"/>
              <a:t>14</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376</Words>
  <Application>Microsoft Macintosh PowerPoint</Application>
  <PresentationFormat>Custom</PresentationFormat>
  <Paragraphs>98</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&lt;&lt;Programme B.Tech/ M.Tech Course Code – Course Title&gt;&gt; &lt;&lt;Project Title&gt;&gt;</vt:lpstr>
      <vt:lpstr>Approval Mail From Guide</vt:lpstr>
      <vt:lpstr>Aim</vt:lpstr>
      <vt:lpstr>Abstract</vt:lpstr>
      <vt:lpstr>Literature Review</vt:lpstr>
      <vt:lpstr>Research Gap</vt:lpstr>
      <vt:lpstr>Objectives</vt:lpstr>
      <vt:lpstr>Framework/Architecture/Block Diagram</vt:lpstr>
      <vt:lpstr>Functional Requirements</vt:lpstr>
      <vt:lpstr>Modules</vt:lpstr>
      <vt:lpstr>Experiments and Results</vt:lpstr>
      <vt:lpstr>Conclusion and Future Work</vt:lpstr>
      <vt:lpstr>Outcome Achieved</vt:lpstr>
      <vt:lpstr>References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&lt;&lt;Programme B.Tech/ M.Tech Course Code – Course Title&gt;&gt; &lt;&lt;Project Title&gt;&gt;</dc:title>
  <dc:creator>Parthasarathy G</dc:creator>
  <cp:lastModifiedBy>Prakash Mohan</cp:lastModifiedBy>
  <cp:revision>12</cp:revision>
  <dcterms:created xsi:type="dcterms:W3CDTF">2026-07-14T06:00:41Z</dcterms:created>
  <dcterms:modified xsi:type="dcterms:W3CDTF">2026-10-05T06:25:49Z</dcterms:modified>
</cp:coreProperties>
</file>