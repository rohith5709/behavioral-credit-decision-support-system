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_Picture 4.png"/>
          <p:cNvPicPr>
            <a:picLocks noChangeAspect="1"/>
          </p:cNvPicPr>
          <p:nvPr/>
        </p:nvPicPr>
        <p:blipFill>
          <a:blip r:embed="rId2"/>
          <a:stretch>
            <a:fillRect/>
          </a:stretch>
        </p:blipFill>
        <p:spPr>
          <a:xfrm>
            <a:off x="4206240" y="594360"/>
            <a:ext cx="3776472" cy="1097280"/>
          </a:xfrm>
          <a:prstGeom prst="rect">
            <a:avLst/>
          </a:prstGeom>
        </p:spPr>
      </p:pic>
      <p:sp>
        <p:nvSpPr>
          <p:cNvPr id="3" name="Rounded Rectangle 2"/>
          <p:cNvSpPr/>
          <p:nvPr/>
        </p:nvSpPr>
        <p:spPr>
          <a:xfrm>
            <a:off x="3566160" y="1920240"/>
            <a:ext cx="5056632" cy="320040"/>
          </a:xfrm>
          <a:prstGeom prst="roundRect">
            <a:avLst/>
          </a:prstGeom>
          <a:solidFill>
            <a:srgbClr val="EEF2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2563EB"/>
                </a:solidFill>
                <a:latin typeface="Segoe UI"/>
              </a:defRPr>
            </a:pPr>
            <a:r>
              <a:t>B.TECH CAPSTONE PROJECT I  ·  BCSE497J</a:t>
            </a:r>
          </a:p>
        </p:txBody>
      </p:sp>
      <p:sp>
        <p:nvSpPr>
          <p:cNvPr id="4" name="TextBox 3"/>
          <p:cNvSpPr txBox="1"/>
          <p:nvPr/>
        </p:nvSpPr>
        <p:spPr>
          <a:xfrm>
            <a:off x="914400" y="2377440"/>
            <a:ext cx="10362895" cy="822960"/>
          </a:xfrm>
          <a:prstGeom prst="rect">
            <a:avLst/>
          </a:prstGeom>
          <a:noFill/>
        </p:spPr>
        <p:txBody>
          <a:bodyPr wrap="none">
            <a:spAutoFit/>
          </a:bodyPr>
          <a:lstStyle/>
          <a:p>
            <a:pPr algn="ctr">
              <a:defRPr sz="3000" b="1">
                <a:solidFill>
                  <a:srgbClr val="0F172A"/>
                </a:solidFill>
                <a:latin typeface="Segoe UI"/>
              </a:defRPr>
            </a:pPr>
            <a:r>
              <a:t>Behavioral Credit Decision Support System</a:t>
            </a:r>
          </a:p>
        </p:txBody>
      </p:sp>
      <p:sp>
        <p:nvSpPr>
          <p:cNvPr id="5" name="TextBox 4"/>
          <p:cNvSpPr txBox="1"/>
          <p:nvPr/>
        </p:nvSpPr>
        <p:spPr>
          <a:xfrm>
            <a:off x="914400" y="3246120"/>
            <a:ext cx="10362895" cy="457200"/>
          </a:xfrm>
          <a:prstGeom prst="rect">
            <a:avLst/>
          </a:prstGeom>
          <a:noFill/>
        </p:spPr>
        <p:txBody>
          <a:bodyPr wrap="none">
            <a:spAutoFit/>
          </a:bodyPr>
          <a:lstStyle/>
          <a:p>
            <a:pPr algn="ctr">
              <a:defRPr sz="1300">
                <a:solidFill>
                  <a:srgbClr val="64748B"/>
                </a:solidFill>
                <a:latin typeface="Segoe UI"/>
              </a:defRPr>
            </a:pPr>
            <a:r>
              <a:t>A Dual-Pillar Supervised Machine Learning &amp; Cryptographic Audit Architecture for Retail Lending</a:t>
            </a:r>
          </a:p>
        </p:txBody>
      </p:sp>
      <p:sp>
        <p:nvSpPr>
          <p:cNvPr id="6" name="Rounded Rectangle 5"/>
          <p:cNvSpPr/>
          <p:nvPr/>
        </p:nvSpPr>
        <p:spPr>
          <a:xfrm>
            <a:off x="1371600" y="4069080"/>
            <a:ext cx="4480560" cy="2103120"/>
          </a:xfrm>
          <a:prstGeom prst="round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00200" y="4206240"/>
            <a:ext cx="4023360" cy="1828800"/>
          </a:xfrm>
          <a:prstGeom prst="rect">
            <a:avLst/>
          </a:prstGeom>
          <a:noFill/>
        </p:spPr>
        <p:txBody>
          <a:bodyPr wrap="square">
            <a:spAutoFit/>
          </a:bodyPr>
          <a:lstStyle/>
          <a:p>
            <a:pPr>
              <a:defRPr sz="1000" b="1">
                <a:solidFill>
                  <a:srgbClr val="2563EB"/>
                </a:solidFill>
                <a:latin typeface="Segoe UI"/>
              </a:defRPr>
            </a:pPr>
            <a:r>
              <a:t>PROJECT TEAM MEMBERS</a:t>
            </a:r>
          </a:p>
          <a:p>
            <a:pPr>
              <a:spcBef>
                <a:spcPts val="300"/>
              </a:spcBef>
              <a:defRPr sz="1150">
                <a:solidFill>
                  <a:srgbClr val="334155"/>
                </a:solidFill>
                <a:latin typeface="Segoe UI"/>
              </a:defRPr>
            </a:pPr>
            <a:r>
              <a:t>•  Adharsh S   (23BDS0029)</a:t>
            </a:r>
          </a:p>
          <a:p>
            <a:pPr>
              <a:spcBef>
                <a:spcPts val="300"/>
              </a:spcBef>
              <a:defRPr sz="1150">
                <a:solidFill>
                  <a:srgbClr val="334155"/>
                </a:solidFill>
                <a:latin typeface="Segoe UI"/>
              </a:defRPr>
            </a:pPr>
            <a:r>
              <a:t>•  Gowtham Kumar D   (23BDS0186)</a:t>
            </a:r>
          </a:p>
          <a:p>
            <a:pPr>
              <a:spcBef>
                <a:spcPts val="300"/>
              </a:spcBef>
              <a:defRPr sz="1150">
                <a:solidFill>
                  <a:srgbClr val="334155"/>
                </a:solidFill>
                <a:latin typeface="Segoe UI"/>
              </a:defRPr>
            </a:pPr>
            <a:r>
              <a:t>•  Rohith S M   (23BDS0025)</a:t>
            </a:r>
          </a:p>
          <a:p>
            <a:pPr>
              <a:spcBef>
                <a:spcPts val="600"/>
              </a:spcBef>
              <a:defRPr sz="950">
                <a:solidFill>
                  <a:srgbClr val="64748B"/>
                </a:solidFill>
                <a:latin typeface="Segoe UI"/>
              </a:defRPr>
            </a:pPr>
            <a:r>
              <a:t>School of Computer Science and Engineering (SCOPE)</a:t>
            </a:r>
          </a:p>
        </p:txBody>
      </p:sp>
      <p:sp>
        <p:nvSpPr>
          <p:cNvPr id="8" name="Rounded Rectangle 7"/>
          <p:cNvSpPr/>
          <p:nvPr/>
        </p:nvSpPr>
        <p:spPr>
          <a:xfrm>
            <a:off x="6309360" y="4069080"/>
            <a:ext cx="4480560" cy="2103120"/>
          </a:xfrm>
          <a:prstGeom prst="round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37960" y="4206240"/>
            <a:ext cx="4023360" cy="1828800"/>
          </a:xfrm>
          <a:prstGeom prst="rect">
            <a:avLst/>
          </a:prstGeom>
          <a:noFill/>
        </p:spPr>
        <p:txBody>
          <a:bodyPr wrap="square">
            <a:spAutoFit/>
          </a:bodyPr>
          <a:lstStyle/>
          <a:p>
            <a:pPr>
              <a:defRPr sz="1000" b="1">
                <a:solidFill>
                  <a:srgbClr val="0F766E"/>
                </a:solidFill>
                <a:latin typeface="Segoe UI"/>
              </a:defRPr>
            </a:pPr>
            <a:r>
              <a:t>FACULTY SUPERVISOR</a:t>
            </a:r>
          </a:p>
          <a:p>
            <a:pPr>
              <a:spcBef>
                <a:spcPts val="800"/>
              </a:spcBef>
              <a:defRPr sz="1500" b="1">
                <a:solidFill>
                  <a:srgbClr val="0F172A"/>
                </a:solidFill>
                <a:latin typeface="Segoe UI"/>
              </a:defRPr>
            </a:pPr>
            <a:r>
              <a:t>Dr. Viswanathan A</a:t>
            </a:r>
          </a:p>
          <a:p>
            <a:pPr>
              <a:spcBef>
                <a:spcPts val="200"/>
              </a:spcBef>
              <a:defRPr sz="1150">
                <a:solidFill>
                  <a:srgbClr val="334155"/>
                </a:solidFill>
                <a:latin typeface="Segoe UI"/>
              </a:defRPr>
            </a:pPr>
            <a:r>
              <a:t>School of Computer Science and Engineering</a:t>
            </a:r>
          </a:p>
          <a:p>
            <a:pPr>
              <a:spcBef>
                <a:spcPts val="400"/>
              </a:spcBef>
              <a:defRPr sz="950">
                <a:solidFill>
                  <a:srgbClr val="64748B"/>
                </a:solidFill>
                <a:latin typeface="Segoe UI"/>
              </a:defRPr>
            </a:pPr>
            <a:r>
              <a:t>Vellore Institute of Technology, Chennai  ·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84048"/>
            <a:ext cx="10728655" cy="274320"/>
          </a:xfrm>
          <a:prstGeom prst="rect">
            <a:avLst/>
          </a:prstGeom>
          <a:noFill/>
        </p:spPr>
        <p:txBody>
          <a:bodyPr wrap="none">
            <a:spAutoFit/>
          </a:bodyPr>
          <a:lstStyle/>
          <a:p>
            <a:pPr>
              <a:defRPr sz="950" b="1">
                <a:solidFill>
                  <a:srgbClr val="2563EB"/>
                </a:solidFill>
                <a:latin typeface="Segoe UI"/>
              </a:defRPr>
            </a:pPr>
            <a:r>
              <a:t>PROJECT GOVERNANCE · REVIEW ENDORSEMENT</a:t>
            </a:r>
          </a:p>
        </p:txBody>
      </p:sp>
      <p:sp>
        <p:nvSpPr>
          <p:cNvPr id="3" name="TextBox 2"/>
          <p:cNvSpPr txBox="1"/>
          <p:nvPr/>
        </p:nvSpPr>
        <p:spPr>
          <a:xfrm>
            <a:off x="731520" y="658368"/>
            <a:ext cx="10728655" cy="502920"/>
          </a:xfrm>
          <a:prstGeom prst="rect">
            <a:avLst/>
          </a:prstGeom>
          <a:noFill/>
        </p:spPr>
        <p:txBody>
          <a:bodyPr wrap="none">
            <a:spAutoFit/>
          </a:bodyPr>
          <a:lstStyle/>
          <a:p>
            <a:pPr>
              <a:defRPr sz="2200" b="1">
                <a:solidFill>
                  <a:srgbClr val="0F172A"/>
                </a:solidFill>
                <a:latin typeface="Segoe UI"/>
              </a:defRPr>
            </a:pPr>
            <a:r>
              <a:t>Faculty Guide Approval &amp; Verification</a:t>
            </a:r>
          </a:p>
        </p:txBody>
      </p:sp>
      <p:sp>
        <p:nvSpPr>
          <p:cNvPr id="4" name="Rectangle 3"/>
          <p:cNvSpPr/>
          <p:nvPr/>
        </p:nvSpPr>
        <p:spPr>
          <a:xfrm>
            <a:off x="731520" y="1207008"/>
            <a:ext cx="10728655" cy="13716"/>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46520"/>
            <a:ext cx="2743200" cy="274320"/>
          </a:xfrm>
          <a:prstGeom prst="rect">
            <a:avLst/>
          </a:prstGeom>
          <a:noFill/>
        </p:spPr>
        <p:txBody>
          <a:bodyPr wrap="none">
            <a:spAutoFit/>
          </a:bodyPr>
          <a:lstStyle/>
          <a:p>
            <a:pPr>
              <a:defRPr sz="900">
                <a:solidFill>
                  <a:srgbClr val="64748B"/>
                </a:solidFill>
                <a:latin typeface="Segoe UI"/>
              </a:defRPr>
            </a:pPr>
            <a:r>
              <a:t>05/10/2026 · Project Review</a:t>
            </a:r>
          </a:p>
        </p:txBody>
      </p:sp>
      <p:sp>
        <p:nvSpPr>
          <p:cNvPr id="6" name="TextBox 5"/>
          <p:cNvSpPr txBox="1"/>
          <p:nvPr/>
        </p:nvSpPr>
        <p:spPr>
          <a:xfrm>
            <a:off x="3657600" y="6446520"/>
            <a:ext cx="4876495" cy="274320"/>
          </a:xfrm>
          <a:prstGeom prst="rect">
            <a:avLst/>
          </a:prstGeom>
          <a:noFill/>
        </p:spPr>
        <p:txBody>
          <a:bodyPr wrap="none">
            <a:spAutoFit/>
          </a:bodyPr>
          <a:lstStyle/>
          <a:p>
            <a:pPr algn="ctr">
              <a:defRPr sz="900">
                <a:solidFill>
                  <a:srgbClr val="64748B"/>
                </a:solidFill>
                <a:latin typeface="Segoe UI"/>
              </a:defRPr>
            </a:pPr>
            <a:r>
              <a:t>BCSE497J · Behavioral Credit Decision Support System · SCOPE</a:t>
            </a:r>
          </a:p>
        </p:txBody>
      </p:sp>
      <p:sp>
        <p:nvSpPr>
          <p:cNvPr id="7" name="TextBox 6"/>
          <p:cNvSpPr txBox="1"/>
          <p:nvPr/>
        </p:nvSpPr>
        <p:spPr>
          <a:xfrm>
            <a:off x="8716975" y="6446520"/>
            <a:ext cx="2743200" cy="274320"/>
          </a:xfrm>
          <a:prstGeom prst="rect">
            <a:avLst/>
          </a:prstGeom>
          <a:noFill/>
        </p:spPr>
        <p:txBody>
          <a:bodyPr wrap="none">
            <a:spAutoFit/>
          </a:bodyPr>
          <a:lstStyle/>
          <a:p>
            <a:pPr algn="r">
              <a:defRPr sz="900" b="1">
                <a:solidFill>
                  <a:srgbClr val="64748B"/>
                </a:solidFill>
                <a:latin typeface="Segoe UI"/>
              </a:defRPr>
            </a:pPr>
            <a:r>
              <a:t>2 / 17</a:t>
            </a:r>
          </a:p>
        </p:txBody>
      </p:sp>
      <p:sp>
        <p:nvSpPr>
          <p:cNvPr id="8" name="Rounded Rectangle 7"/>
          <p:cNvSpPr/>
          <p:nvPr/>
        </p:nvSpPr>
        <p:spPr>
          <a:xfrm>
            <a:off x="731520" y="1371600"/>
            <a:ext cx="4023360" cy="4846320"/>
          </a:xfrm>
          <a:prstGeom prst="round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00200"/>
            <a:ext cx="3566160" cy="4389120"/>
          </a:xfrm>
          <a:prstGeom prst="rect">
            <a:avLst/>
          </a:prstGeom>
          <a:noFill/>
        </p:spPr>
        <p:txBody>
          <a:bodyPr wrap="square">
            <a:spAutoFit/>
          </a:bodyPr>
          <a:lstStyle/>
          <a:p>
            <a:pPr>
              <a:defRPr sz="1050" b="1">
                <a:solidFill>
                  <a:srgbClr val="059669"/>
                </a:solidFill>
                <a:latin typeface="Segoe UI"/>
              </a:defRPr>
            </a:pPr>
            <a:r>
              <a:t>FACULTY ENDORSEMENT</a:t>
            </a:r>
          </a:p>
          <a:p>
            <a:pPr>
              <a:spcBef>
                <a:spcPts val="400"/>
              </a:spcBef>
              <a:defRPr sz="1500" b="1">
                <a:solidFill>
                  <a:srgbClr val="0F172A"/>
                </a:solidFill>
                <a:latin typeface="Segoe UI"/>
              </a:defRPr>
            </a:pPr>
            <a:r>
              <a:t>Formal Review Status: Approved</a:t>
            </a:r>
          </a:p>
          <a:p>
            <a:pPr>
              <a:spcBef>
                <a:spcPts val="800"/>
              </a:spcBef>
              <a:defRPr sz="1100">
                <a:solidFill>
                  <a:srgbClr val="334155"/>
                </a:solidFill>
                <a:latin typeface="Segoe UI"/>
              </a:defRPr>
            </a:pPr>
            <a:r>
              <a:t>All project review criteria and methodological specifications have been verified and endorsed through official mail by Faculty Guide Dr. Viswanathan A before the milestone deadline (21-10-2026).</a:t>
            </a:r>
          </a:p>
          <a:p>
            <a:pPr>
              <a:spcBef>
                <a:spcPts val="600"/>
              </a:spcBef>
              <a:defRPr sz="1050" b="1">
                <a:solidFill>
                  <a:srgbClr val="0F766E"/>
                </a:solidFill>
                <a:latin typeface="Segoe UI"/>
              </a:defRPr>
            </a:pPr>
            <a:r>
              <a:t>✓  Problem Statement &amp; Dual-Pillar Scope</a:t>
            </a:r>
          </a:p>
          <a:p>
            <a:pPr>
              <a:spcBef>
                <a:spcPts val="600"/>
              </a:spcBef>
              <a:defRPr sz="1050" b="1">
                <a:solidFill>
                  <a:srgbClr val="0F766E"/>
                </a:solidFill>
                <a:latin typeface="Segoe UI"/>
              </a:defRPr>
            </a:pPr>
            <a:r>
              <a:t>✓  Empirical 15-Dim Bridge Architecture</a:t>
            </a:r>
          </a:p>
          <a:p>
            <a:pPr>
              <a:spcBef>
                <a:spcPts val="600"/>
              </a:spcBef>
              <a:defRPr sz="1050" b="1">
                <a:solidFill>
                  <a:srgbClr val="0F766E"/>
                </a:solidFill>
                <a:latin typeface="Segoe UI"/>
              </a:defRPr>
            </a:pPr>
            <a:r>
              <a:t>✓  Platt Calibration &amp; Tree-SHAP Integration</a:t>
            </a:r>
          </a:p>
          <a:p>
            <a:pPr>
              <a:spcBef>
                <a:spcPts val="600"/>
              </a:spcBef>
              <a:defRPr sz="1050" b="1">
                <a:solidFill>
                  <a:srgbClr val="0F766E"/>
                </a:solidFill>
                <a:latin typeface="Segoe UI"/>
              </a:defRPr>
            </a:pPr>
            <a:r>
              <a:t>✓  DPDP Act 2023 Cryptographic Audit Protocol</a:t>
            </a:r>
          </a:p>
          <a:p>
            <a:pPr>
              <a:spcBef>
                <a:spcPts val="600"/>
              </a:spcBef>
              <a:defRPr sz="1050" b="1">
                <a:solidFill>
                  <a:srgbClr val="0F766E"/>
                </a:solidFill>
                <a:latin typeface="Segoe UI"/>
              </a:defRPr>
            </a:pPr>
            <a:r>
              <a:t>✓  Streamlit Cloud Platform Deployment</a:t>
            </a:r>
          </a:p>
          <a:p>
            <a:pPr>
              <a:spcBef>
                <a:spcPts val="1000"/>
              </a:spcBef>
              <a:defRPr sz="1000" i="1">
                <a:solidFill>
                  <a:srgbClr val="64748B"/>
                </a:solidFill>
                <a:latin typeface="Segoe UI"/>
              </a:defRPr>
            </a:pPr>
            <a:r>
              <a:t>All aspects addressed &amp; ready for evaluation.</a:t>
            </a:r>
          </a:p>
        </p:txBody>
      </p:sp>
      <p:sp>
        <p:nvSpPr>
          <p:cNvPr id="10" name="Rounded Rectangle 9"/>
          <p:cNvSpPr/>
          <p:nvPr/>
        </p:nvSpPr>
        <p:spPr>
          <a:xfrm>
            <a:off x="4937760" y="1371600"/>
            <a:ext cx="6522415" cy="4846320"/>
          </a:xfrm>
          <a:prstGeom prst="roundRect">
            <a:avLst/>
          </a:prstGeom>
          <a:solidFill>
            <a:srgbClr val="FFFFFF"/>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lide_2_Picture 6.png"/>
          <p:cNvPicPr>
            <a:picLocks noChangeAspect="1"/>
          </p:cNvPicPr>
          <p:nvPr/>
        </p:nvPicPr>
        <p:blipFill>
          <a:blip r:embed="rId2"/>
          <a:stretch>
            <a:fillRect/>
          </a:stretch>
        </p:blipFill>
        <p:spPr>
          <a:xfrm>
            <a:off x="5029200" y="1463040"/>
            <a:ext cx="6339535" cy="466344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84048"/>
            <a:ext cx="10728655" cy="274320"/>
          </a:xfrm>
          <a:prstGeom prst="rect">
            <a:avLst/>
          </a:prstGeom>
          <a:noFill/>
        </p:spPr>
        <p:txBody>
          <a:bodyPr wrap="none">
            <a:spAutoFit/>
          </a:bodyPr>
          <a:lstStyle/>
          <a:p>
            <a:pPr>
              <a:defRPr sz="950" b="1">
                <a:solidFill>
                  <a:srgbClr val="2563EB"/>
                </a:solidFill>
                <a:latin typeface="Segoe UI"/>
              </a:defRPr>
            </a:pPr>
            <a:r>
              <a:t>FOUNDATIONAL SCOPE · CORE OBJECTIVE</a:t>
            </a:r>
          </a:p>
        </p:txBody>
      </p:sp>
      <p:sp>
        <p:nvSpPr>
          <p:cNvPr id="3" name="TextBox 2"/>
          <p:cNvSpPr txBox="1"/>
          <p:nvPr/>
        </p:nvSpPr>
        <p:spPr>
          <a:xfrm>
            <a:off x="731520" y="658368"/>
            <a:ext cx="10728655" cy="502920"/>
          </a:xfrm>
          <a:prstGeom prst="rect">
            <a:avLst/>
          </a:prstGeom>
          <a:noFill/>
        </p:spPr>
        <p:txBody>
          <a:bodyPr wrap="none">
            <a:spAutoFit/>
          </a:bodyPr>
          <a:lstStyle/>
          <a:p>
            <a:pPr>
              <a:defRPr sz="2200" b="1">
                <a:solidFill>
                  <a:srgbClr val="0F172A"/>
                </a:solidFill>
                <a:latin typeface="Segoe UI"/>
              </a:defRPr>
            </a:pPr>
            <a:r>
              <a:t>Project Aim &amp; Architectural Principles</a:t>
            </a:r>
          </a:p>
        </p:txBody>
      </p:sp>
      <p:sp>
        <p:nvSpPr>
          <p:cNvPr id="4" name="Rectangle 3"/>
          <p:cNvSpPr/>
          <p:nvPr/>
        </p:nvSpPr>
        <p:spPr>
          <a:xfrm>
            <a:off x="731520" y="1207008"/>
            <a:ext cx="10728655" cy="13716"/>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46520"/>
            <a:ext cx="2743200" cy="274320"/>
          </a:xfrm>
          <a:prstGeom prst="rect">
            <a:avLst/>
          </a:prstGeom>
          <a:noFill/>
        </p:spPr>
        <p:txBody>
          <a:bodyPr wrap="none">
            <a:spAutoFit/>
          </a:bodyPr>
          <a:lstStyle/>
          <a:p>
            <a:pPr>
              <a:defRPr sz="900">
                <a:solidFill>
                  <a:srgbClr val="64748B"/>
                </a:solidFill>
                <a:latin typeface="Segoe UI"/>
              </a:defRPr>
            </a:pPr>
            <a:r>
              <a:t>05/10/2026 · Project Review</a:t>
            </a:r>
          </a:p>
        </p:txBody>
      </p:sp>
      <p:sp>
        <p:nvSpPr>
          <p:cNvPr id="6" name="TextBox 5"/>
          <p:cNvSpPr txBox="1"/>
          <p:nvPr/>
        </p:nvSpPr>
        <p:spPr>
          <a:xfrm>
            <a:off x="3657600" y="6446520"/>
            <a:ext cx="4876495" cy="274320"/>
          </a:xfrm>
          <a:prstGeom prst="rect">
            <a:avLst/>
          </a:prstGeom>
          <a:noFill/>
        </p:spPr>
        <p:txBody>
          <a:bodyPr wrap="none">
            <a:spAutoFit/>
          </a:bodyPr>
          <a:lstStyle/>
          <a:p>
            <a:pPr algn="ctr">
              <a:defRPr sz="900">
                <a:solidFill>
                  <a:srgbClr val="64748B"/>
                </a:solidFill>
                <a:latin typeface="Segoe UI"/>
              </a:defRPr>
            </a:pPr>
            <a:r>
              <a:t>BCSE497J · Behavioral Credit Decision Support System · SCOPE</a:t>
            </a:r>
          </a:p>
        </p:txBody>
      </p:sp>
      <p:sp>
        <p:nvSpPr>
          <p:cNvPr id="7" name="TextBox 6"/>
          <p:cNvSpPr txBox="1"/>
          <p:nvPr/>
        </p:nvSpPr>
        <p:spPr>
          <a:xfrm>
            <a:off x="8716975" y="6446520"/>
            <a:ext cx="2743200" cy="274320"/>
          </a:xfrm>
          <a:prstGeom prst="rect">
            <a:avLst/>
          </a:prstGeom>
          <a:noFill/>
        </p:spPr>
        <p:txBody>
          <a:bodyPr wrap="none">
            <a:spAutoFit/>
          </a:bodyPr>
          <a:lstStyle/>
          <a:p>
            <a:pPr algn="r">
              <a:defRPr sz="900" b="1">
                <a:solidFill>
                  <a:srgbClr val="64748B"/>
                </a:solidFill>
                <a:latin typeface="Segoe UI"/>
              </a:defRPr>
            </a:pPr>
            <a:r>
              <a:t>3 / 17</a:t>
            </a:r>
          </a:p>
        </p:txBody>
      </p:sp>
      <p:sp>
        <p:nvSpPr>
          <p:cNvPr id="8" name="Rounded Rectangle 7"/>
          <p:cNvSpPr/>
          <p:nvPr/>
        </p:nvSpPr>
        <p:spPr>
          <a:xfrm>
            <a:off x="731520" y="1371600"/>
            <a:ext cx="10728655" cy="1554480"/>
          </a:xfrm>
          <a:prstGeom prst="roundRect">
            <a:avLst/>
          </a:prstGeom>
          <a:solidFill>
            <a:srgbClr val="0F172A"/>
          </a:solidFill>
          <a:ln w="9525">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508760"/>
            <a:ext cx="10180015" cy="1280160"/>
          </a:xfrm>
          <a:prstGeom prst="rect">
            <a:avLst/>
          </a:prstGeom>
          <a:noFill/>
        </p:spPr>
        <p:txBody>
          <a:bodyPr wrap="square">
            <a:spAutoFit/>
          </a:bodyPr>
          <a:lstStyle/>
          <a:p>
            <a:pPr>
              <a:defRPr sz="1000" b="1">
                <a:solidFill>
                  <a:srgbClr val="38BDF8"/>
                </a:solidFill>
                <a:latin typeface="Segoe UI"/>
              </a:defRPr>
            </a:pPr>
            <a:r>
              <a:t>PROJECT AIM &amp; MISSION</a:t>
            </a:r>
          </a:p>
          <a:p>
            <a:pPr>
              <a:spcBef>
                <a:spcPts val="400"/>
              </a:spcBef>
              <a:defRPr sz="1350">
                <a:solidFill>
                  <a:srgbClr val="FFFFFF"/>
                </a:solidFill>
                <a:latin typeface="Segoe UI"/>
              </a:defRPr>
            </a:pPr>
            <a:r>
              <a:t>To build a human-in-the-loop Dual-Pillar credit decision support platform that gives bank loan officers an empirical, explainable, and auditable view of an applicant's default risk—combining a 15-dimensional supervised behavioral ML classifier from bank statements with a calibrated macro bureau benchmark—without automating the lending decision.</a:t>
            </a:r>
          </a:p>
        </p:txBody>
      </p:sp>
      <p:sp>
        <p:nvSpPr>
          <p:cNvPr id="10" name="Rounded Rectangle 9"/>
          <p:cNvSpPr/>
          <p:nvPr/>
        </p:nvSpPr>
        <p:spPr>
          <a:xfrm>
            <a:off x="731520" y="3063240"/>
            <a:ext cx="3429000" cy="3154680"/>
          </a:xfrm>
          <a:prstGeom prst="round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200400"/>
            <a:ext cx="3063240" cy="2880360"/>
          </a:xfrm>
          <a:prstGeom prst="rect">
            <a:avLst/>
          </a:prstGeom>
          <a:noFill/>
        </p:spPr>
        <p:txBody>
          <a:bodyPr wrap="square">
            <a:spAutoFit/>
          </a:bodyPr>
          <a:lstStyle/>
          <a:p>
            <a:pPr>
              <a:defRPr sz="1100" b="1">
                <a:solidFill>
                  <a:srgbClr val="2563EB"/>
                </a:solidFill>
                <a:latin typeface="Segoe UI"/>
              </a:defRPr>
            </a:pPr>
            <a:r>
              <a:t>01 · DUAL-PILLAR SUPERVISED ML</a:t>
            </a:r>
          </a:p>
          <a:p>
            <a:pPr>
              <a:spcBef>
                <a:spcPts val="400"/>
              </a:spcBef>
              <a:defRPr sz="1000">
                <a:solidFill>
                  <a:srgbClr val="334155"/>
                </a:solidFill>
                <a:latin typeface="Segoe UI"/>
              </a:defRPr>
            </a:pPr>
            <a:r>
              <a:t>•  Empirical Feature Bridge: Synthesizes 23+ cash-flow dynamics into 15 bridge features.</a:t>
            </a:r>
          </a:p>
          <a:p>
            <a:pPr>
              <a:spcBef>
                <a:spcPts val="400"/>
              </a:spcBef>
              <a:defRPr sz="1000">
                <a:solidFill>
                  <a:srgbClr val="334155"/>
                </a:solidFill>
                <a:latin typeface="Segoe UI"/>
              </a:defRPr>
            </a:pPr>
            <a:r>
              <a:t>•  Trained on 30,000 real-world credit default records (UCI Taiwan benchmark).</a:t>
            </a:r>
          </a:p>
          <a:p>
            <a:pPr>
              <a:spcBef>
                <a:spcPts val="400"/>
              </a:spcBef>
              <a:defRPr sz="1000">
                <a:solidFill>
                  <a:srgbClr val="334155"/>
                </a:solidFill>
                <a:latin typeface="Segoe UI"/>
              </a:defRPr>
            </a:pPr>
            <a:r>
              <a:t>•  Pillar 1 Behavioral RF (ROC 0.7725) + Pillar 2 Bureau LightGBM (ROC 0.7737).</a:t>
            </a:r>
          </a:p>
          <a:p>
            <a:pPr>
              <a:spcBef>
                <a:spcPts val="400"/>
              </a:spcBef>
              <a:defRPr sz="1000">
                <a:solidFill>
                  <a:srgbClr val="334155"/>
                </a:solidFill>
                <a:latin typeface="Segoe UI"/>
              </a:defRPr>
            </a:pPr>
            <a:r>
              <a:t>•  Replaces arbitrary heuristic rules with mathematically calibrated probabilities.</a:t>
            </a:r>
          </a:p>
        </p:txBody>
      </p:sp>
      <p:sp>
        <p:nvSpPr>
          <p:cNvPr id="12" name="Rounded Rectangle 11"/>
          <p:cNvSpPr/>
          <p:nvPr/>
        </p:nvSpPr>
        <p:spPr>
          <a:xfrm>
            <a:off x="4379976" y="3063240"/>
            <a:ext cx="3429000" cy="3154680"/>
          </a:xfrm>
          <a:prstGeom prst="round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62856" y="3200400"/>
            <a:ext cx="3063240" cy="2880360"/>
          </a:xfrm>
          <a:prstGeom prst="rect">
            <a:avLst/>
          </a:prstGeom>
          <a:noFill/>
        </p:spPr>
        <p:txBody>
          <a:bodyPr wrap="square">
            <a:spAutoFit/>
          </a:bodyPr>
          <a:lstStyle/>
          <a:p>
            <a:pPr>
              <a:defRPr sz="1100" b="1">
                <a:solidFill>
                  <a:srgbClr val="0F766E"/>
                </a:solidFill>
                <a:latin typeface="Segoe UI"/>
              </a:defRPr>
            </a:pPr>
            <a:r>
              <a:t>02 · HUMAN-IN-THE-LOOP GOVERNANCE</a:t>
            </a:r>
          </a:p>
          <a:p>
            <a:pPr>
              <a:spcBef>
                <a:spcPts val="400"/>
              </a:spcBef>
              <a:defRPr sz="1000">
                <a:solidFill>
                  <a:srgbClr val="334155"/>
                </a:solidFill>
                <a:latin typeface="Segoe UI"/>
              </a:defRPr>
            </a:pPr>
            <a:r>
              <a:t>•  2×2 ML Risk Matrix: Discretizes dual probabilities into 4 actionable underwriter quadrants.</a:t>
            </a:r>
          </a:p>
          <a:p>
            <a:pPr>
              <a:spcBef>
                <a:spcPts val="400"/>
              </a:spcBef>
              <a:defRPr sz="1000">
                <a:solidFill>
                  <a:srgbClr val="334155"/>
                </a:solidFill>
                <a:latin typeface="Segoe UI"/>
              </a:defRPr>
            </a:pPr>
            <a:r>
              <a:t>•  Local Explainability: Exact Tree-SHAP Shapley attributions explain every recommendation.</a:t>
            </a:r>
          </a:p>
          <a:p>
            <a:pPr>
              <a:spcBef>
                <a:spcPts val="400"/>
              </a:spcBef>
              <a:defRPr sz="1000">
                <a:solidFill>
                  <a:srgbClr val="334155"/>
                </a:solidFill>
                <a:latin typeface="Segoe UI"/>
              </a:defRPr>
            </a:pPr>
            <a:r>
              <a:t>•  Underwriter Autonomy: System recommends; loan officer retains final lending authority.</a:t>
            </a:r>
          </a:p>
          <a:p>
            <a:pPr>
              <a:spcBef>
                <a:spcPts val="400"/>
              </a:spcBef>
              <a:defRPr sz="1000">
                <a:solidFill>
                  <a:srgbClr val="334155"/>
                </a:solidFill>
                <a:latin typeface="Segoe UI"/>
              </a:defRPr>
            </a:pPr>
            <a:r>
              <a:t>•  Automated Safety Overrides: Salary mismatch or Isolation Forest anomalies force review.</a:t>
            </a:r>
          </a:p>
        </p:txBody>
      </p:sp>
      <p:sp>
        <p:nvSpPr>
          <p:cNvPr id="14" name="Rounded Rectangle 13"/>
          <p:cNvSpPr/>
          <p:nvPr/>
        </p:nvSpPr>
        <p:spPr>
          <a:xfrm>
            <a:off x="8028432" y="3063240"/>
            <a:ext cx="3429000" cy="3154680"/>
          </a:xfrm>
          <a:prstGeom prst="round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11312" y="3200400"/>
            <a:ext cx="3063240" cy="2880360"/>
          </a:xfrm>
          <a:prstGeom prst="rect">
            <a:avLst/>
          </a:prstGeom>
          <a:noFill/>
        </p:spPr>
        <p:txBody>
          <a:bodyPr wrap="square">
            <a:spAutoFit/>
          </a:bodyPr>
          <a:lstStyle/>
          <a:p>
            <a:pPr>
              <a:defRPr sz="1100" b="1">
                <a:solidFill>
                  <a:srgbClr val="1E293B"/>
                </a:solidFill>
                <a:latin typeface="Segoe UI"/>
              </a:defRPr>
            </a:pPr>
            <a:r>
              <a:t>03 · AUDITABILITY &amp; DPDP COMPLIANCE</a:t>
            </a:r>
          </a:p>
          <a:p>
            <a:pPr>
              <a:spcBef>
                <a:spcPts val="400"/>
              </a:spcBef>
              <a:defRPr sz="1000">
                <a:solidFill>
                  <a:srgbClr val="334155"/>
                </a:solidFill>
                <a:latin typeface="Segoe UI"/>
              </a:defRPr>
            </a:pPr>
            <a:r>
              <a:t>•  Cryptographic Integrity: SQLite audit ledger structured with forward SHA-256 hash chains.</a:t>
            </a:r>
          </a:p>
          <a:p>
            <a:pPr>
              <a:spcBef>
                <a:spcPts val="400"/>
              </a:spcBef>
              <a:defRPr sz="1000">
                <a:solidFill>
                  <a:srgbClr val="334155"/>
                </a:solidFill>
                <a:latin typeface="Segoe UI"/>
              </a:defRPr>
            </a:pPr>
            <a:r>
              <a:t>•  External Head-Hash Anchor: Detects unauthorized database modifications or tampering.</a:t>
            </a:r>
          </a:p>
          <a:p>
            <a:pPr>
              <a:spcBef>
                <a:spcPts val="400"/>
              </a:spcBef>
              <a:defRPr sz="1000">
                <a:solidFill>
                  <a:srgbClr val="334155"/>
                </a:solidFill>
                <a:latin typeface="Segoe UI"/>
              </a:defRPr>
            </a:pPr>
            <a:r>
              <a:t>•  DPDP Act 2023 Compliant: Cryptographic tombstoning enables statutory PII erasure.</a:t>
            </a:r>
          </a:p>
          <a:p>
            <a:pPr>
              <a:spcBef>
                <a:spcPts val="400"/>
              </a:spcBef>
              <a:defRPr sz="1000">
                <a:solidFill>
                  <a:srgbClr val="334155"/>
                </a:solidFill>
                <a:latin typeface="Segoe UI"/>
              </a:defRPr>
            </a:pPr>
            <a:r>
              <a:t>•  Deterministic Verification: Chain integrity verified in sub-second execution.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84048"/>
            <a:ext cx="10728655" cy="274320"/>
          </a:xfrm>
          <a:prstGeom prst="rect">
            <a:avLst/>
          </a:prstGeom>
          <a:noFill/>
        </p:spPr>
        <p:txBody>
          <a:bodyPr wrap="none">
            <a:spAutoFit/>
          </a:bodyPr>
          <a:lstStyle/>
          <a:p>
            <a:pPr>
              <a:defRPr sz="950" b="1">
                <a:solidFill>
                  <a:srgbClr val="2563EB"/>
                </a:solidFill>
                <a:latin typeface="Segoe UI"/>
              </a:defRPr>
            </a:pPr>
            <a:r>
              <a:t>EXECUTIVE SUMMARY · PERFORMANCE HIGHLIGHTS</a:t>
            </a:r>
          </a:p>
        </p:txBody>
      </p:sp>
      <p:sp>
        <p:nvSpPr>
          <p:cNvPr id="3" name="TextBox 2"/>
          <p:cNvSpPr txBox="1"/>
          <p:nvPr/>
        </p:nvSpPr>
        <p:spPr>
          <a:xfrm>
            <a:off x="731520" y="658368"/>
            <a:ext cx="10728655" cy="502920"/>
          </a:xfrm>
          <a:prstGeom prst="rect">
            <a:avLst/>
          </a:prstGeom>
          <a:noFill/>
        </p:spPr>
        <p:txBody>
          <a:bodyPr wrap="none">
            <a:spAutoFit/>
          </a:bodyPr>
          <a:lstStyle/>
          <a:p>
            <a:pPr>
              <a:defRPr sz="2200" b="1">
                <a:solidFill>
                  <a:srgbClr val="0F172A"/>
                </a:solidFill>
                <a:latin typeface="Segoe UI"/>
              </a:defRPr>
            </a:pPr>
            <a:r>
              <a:t>Abstract &amp; Key Quantitative Milestones</a:t>
            </a:r>
          </a:p>
        </p:txBody>
      </p:sp>
      <p:sp>
        <p:nvSpPr>
          <p:cNvPr id="4" name="Rectangle 3"/>
          <p:cNvSpPr/>
          <p:nvPr/>
        </p:nvSpPr>
        <p:spPr>
          <a:xfrm>
            <a:off x="731520" y="1207008"/>
            <a:ext cx="10728655" cy="13716"/>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46520"/>
            <a:ext cx="2743200" cy="274320"/>
          </a:xfrm>
          <a:prstGeom prst="rect">
            <a:avLst/>
          </a:prstGeom>
          <a:noFill/>
        </p:spPr>
        <p:txBody>
          <a:bodyPr wrap="none">
            <a:spAutoFit/>
          </a:bodyPr>
          <a:lstStyle/>
          <a:p>
            <a:pPr>
              <a:defRPr sz="900">
                <a:solidFill>
                  <a:srgbClr val="64748B"/>
                </a:solidFill>
                <a:latin typeface="Segoe UI"/>
              </a:defRPr>
            </a:pPr>
            <a:r>
              <a:t>05/10/2026 · Project Review</a:t>
            </a:r>
          </a:p>
        </p:txBody>
      </p:sp>
      <p:sp>
        <p:nvSpPr>
          <p:cNvPr id="6" name="TextBox 5"/>
          <p:cNvSpPr txBox="1"/>
          <p:nvPr/>
        </p:nvSpPr>
        <p:spPr>
          <a:xfrm>
            <a:off x="3657600" y="6446520"/>
            <a:ext cx="4876495" cy="274320"/>
          </a:xfrm>
          <a:prstGeom prst="rect">
            <a:avLst/>
          </a:prstGeom>
          <a:noFill/>
        </p:spPr>
        <p:txBody>
          <a:bodyPr wrap="none">
            <a:spAutoFit/>
          </a:bodyPr>
          <a:lstStyle/>
          <a:p>
            <a:pPr algn="ctr">
              <a:defRPr sz="900">
                <a:solidFill>
                  <a:srgbClr val="64748B"/>
                </a:solidFill>
                <a:latin typeface="Segoe UI"/>
              </a:defRPr>
            </a:pPr>
            <a:r>
              <a:t>BCSE497J · Behavioral Credit Decision Support System · SCOPE</a:t>
            </a:r>
          </a:p>
        </p:txBody>
      </p:sp>
      <p:sp>
        <p:nvSpPr>
          <p:cNvPr id="7" name="TextBox 6"/>
          <p:cNvSpPr txBox="1"/>
          <p:nvPr/>
        </p:nvSpPr>
        <p:spPr>
          <a:xfrm>
            <a:off x="8716975" y="6446520"/>
            <a:ext cx="2743200" cy="274320"/>
          </a:xfrm>
          <a:prstGeom prst="rect">
            <a:avLst/>
          </a:prstGeom>
          <a:noFill/>
        </p:spPr>
        <p:txBody>
          <a:bodyPr wrap="none">
            <a:spAutoFit/>
          </a:bodyPr>
          <a:lstStyle/>
          <a:p>
            <a:pPr algn="r">
              <a:defRPr sz="900" b="1">
                <a:solidFill>
                  <a:srgbClr val="64748B"/>
                </a:solidFill>
                <a:latin typeface="Segoe UI"/>
              </a:defRPr>
            </a:pPr>
            <a:r>
              <a:t>4 / 17</a:t>
            </a:r>
          </a:p>
        </p:txBody>
      </p:sp>
      <p:sp>
        <p:nvSpPr>
          <p:cNvPr id="8" name="Rounded Rectangle 7"/>
          <p:cNvSpPr/>
          <p:nvPr/>
        </p:nvSpPr>
        <p:spPr>
          <a:xfrm>
            <a:off x="731520" y="1371600"/>
            <a:ext cx="6400800" cy="4846320"/>
          </a:xfrm>
          <a:prstGeom prst="round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600200"/>
            <a:ext cx="5852160" cy="4389120"/>
          </a:xfrm>
          <a:prstGeom prst="rect">
            <a:avLst/>
          </a:prstGeom>
          <a:noFill/>
        </p:spPr>
        <p:txBody>
          <a:bodyPr wrap="square">
            <a:spAutoFit/>
          </a:bodyPr>
          <a:lstStyle/>
          <a:p>
            <a:pPr>
              <a:defRPr sz="1050" b="1">
                <a:solidFill>
                  <a:srgbClr val="2563EB"/>
                </a:solidFill>
                <a:latin typeface="Segoe UI"/>
              </a:defRPr>
            </a:pPr>
            <a:r>
              <a:t>THE PROBLEM: BLINDSPOTS IN RETAIL UNDERWRITING</a:t>
            </a:r>
          </a:p>
          <a:p>
            <a:pPr>
              <a:spcBef>
                <a:spcPts val="300"/>
              </a:spcBef>
              <a:defRPr sz="1100">
                <a:solidFill>
                  <a:srgbClr val="334155"/>
                </a:solidFill>
                <a:latin typeface="Segoe UI"/>
              </a:defRPr>
            </a:pPr>
            <a:r>
              <a:t>Traditional credit bureaus rely strictly on static macro history, missing high-frequency banking cash flows and day-to-day liquidity dynamics. Conversely, commercial statement scorecards rely on arbitrary heuristic point systems with zero mathematical validation against default outcomes.</a:t>
            </a:r>
          </a:p>
          <a:p>
            <a:pPr>
              <a:spcBef>
                <a:spcPts val="1000"/>
              </a:spcBef>
              <a:defRPr sz="1050" b="1">
                <a:solidFill>
                  <a:srgbClr val="2563EB"/>
                </a:solidFill>
                <a:latin typeface="Segoe UI"/>
              </a:defRPr>
            </a:pPr>
            <a:r>
              <a:t>THE SOLUTION: DUAL-PILLAR SUPERVISED ML</a:t>
            </a:r>
          </a:p>
          <a:p>
            <a:pPr>
              <a:spcBef>
                <a:spcPts val="300"/>
              </a:spcBef>
              <a:defRPr sz="1100">
                <a:solidFill>
                  <a:srgbClr val="334155"/>
                </a:solidFill>
                <a:latin typeface="Segoe UI"/>
              </a:defRPr>
            </a:pPr>
            <a:r>
              <a:t>We present a Dual-Pillar decision support platform: Pillar 1 maps bank statement transactions via a 15-dimensional feature bridge to train a Platt-calibrated Random Forest (ROC-AUC 0.7725, PR-AUC 0.5304) on 30,000 credit records; Pillar 2 deploys a calibrated LightGBM benchmark (ROC-AUC 0.7737) with exact Tree-SHAP attributions on 196,806 bureau records.</a:t>
            </a:r>
          </a:p>
          <a:p>
            <a:pPr>
              <a:spcBef>
                <a:spcPts val="1000"/>
              </a:spcBef>
              <a:defRPr sz="1050" b="1">
                <a:solidFill>
                  <a:srgbClr val="2563EB"/>
                </a:solidFill>
                <a:latin typeface="Segoe UI"/>
              </a:defRPr>
            </a:pPr>
            <a:r>
              <a:t>THE GOVERNANCE: SYNTHESIS &amp; AUDIT</a:t>
            </a:r>
          </a:p>
          <a:p>
            <a:pPr>
              <a:spcBef>
                <a:spcPts val="300"/>
              </a:spcBef>
              <a:defRPr sz="1100">
                <a:solidFill>
                  <a:srgbClr val="334155"/>
                </a:solidFill>
                <a:latin typeface="Segoe UI"/>
              </a:defRPr>
            </a:pPr>
            <a:r>
              <a:t>A unified 2×2 ML Risk Matrix guides underwriters, backed by Tier 1 NLP categorisation (100% 10-fold CV), Isolation Forest anomaly checks, and a tamper-evident SHA-256 audit chain. The machine recommends; the officer decides.</a:t>
            </a:r>
          </a:p>
        </p:txBody>
      </p:sp>
      <p:sp>
        <p:nvSpPr>
          <p:cNvPr id="10" name="Rounded Rectangle 9"/>
          <p:cNvSpPr/>
          <p:nvPr/>
        </p:nvSpPr>
        <p:spPr>
          <a:xfrm>
            <a:off x="7315200" y="1371600"/>
            <a:ext cx="4144975" cy="1115568"/>
          </a:xfrm>
          <a:prstGeom prst="round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79" y="1463040"/>
            <a:ext cx="3779215" cy="932688"/>
          </a:xfrm>
          <a:prstGeom prst="rect">
            <a:avLst/>
          </a:prstGeom>
          <a:noFill/>
        </p:spPr>
        <p:txBody>
          <a:bodyPr wrap="square">
            <a:spAutoFit/>
          </a:bodyPr>
          <a:lstStyle/>
          <a:p>
            <a:pPr>
              <a:defRPr sz="1250" b="1">
                <a:solidFill>
                  <a:srgbClr val="2563EB"/>
                </a:solidFill>
                <a:latin typeface="Segoe UI"/>
              </a:defRPr>
            </a:pPr>
            <a:r>
              <a:t>0.7725 / 0.7737  ·  ROC-AUC BENCHMARK</a:t>
            </a:r>
          </a:p>
          <a:p>
            <a:pPr>
              <a:spcBef>
                <a:spcPts val="200"/>
              </a:spcBef>
              <a:defRPr sz="950">
                <a:solidFill>
                  <a:srgbClr val="64748B"/>
                </a:solidFill>
                <a:latin typeface="Segoe UI"/>
              </a:defRPr>
            </a:pPr>
            <a:r>
              <a:t>Pillar 1 RF (0.7725) &amp; Pillar 2 LightGBM (0.7737) test set performance</a:t>
            </a:r>
          </a:p>
        </p:txBody>
      </p:sp>
      <p:sp>
        <p:nvSpPr>
          <p:cNvPr id="12" name="Rounded Rectangle 11"/>
          <p:cNvSpPr/>
          <p:nvPr/>
        </p:nvSpPr>
        <p:spPr>
          <a:xfrm>
            <a:off x="7315200" y="2615184"/>
            <a:ext cx="4144975" cy="1115568"/>
          </a:xfrm>
          <a:prstGeom prst="round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79" y="2706624"/>
            <a:ext cx="3779215" cy="932688"/>
          </a:xfrm>
          <a:prstGeom prst="rect">
            <a:avLst/>
          </a:prstGeom>
          <a:noFill/>
        </p:spPr>
        <p:txBody>
          <a:bodyPr wrap="square">
            <a:spAutoFit/>
          </a:bodyPr>
          <a:lstStyle/>
          <a:p>
            <a:pPr>
              <a:defRPr sz="1250" b="1">
                <a:solidFill>
                  <a:srgbClr val="059669"/>
                </a:solidFill>
                <a:latin typeface="Segoe UI"/>
              </a:defRPr>
            </a:pPr>
            <a:r>
              <a:t>100.0%  ·  TIER 1 NLP CATEGORISATION</a:t>
            </a:r>
          </a:p>
          <a:p>
            <a:pPr>
              <a:spcBef>
                <a:spcPts val="200"/>
              </a:spcBef>
              <a:defRPr sz="950">
                <a:solidFill>
                  <a:srgbClr val="64748B"/>
                </a:solidFill>
                <a:latin typeface="Segoe UI"/>
              </a:defRPr>
            </a:pPr>
            <a:r>
              <a:t>10-fold cross-validated accuracy across 18 banking transaction classes</a:t>
            </a:r>
          </a:p>
        </p:txBody>
      </p:sp>
      <p:sp>
        <p:nvSpPr>
          <p:cNvPr id="14" name="Rounded Rectangle 13"/>
          <p:cNvSpPr/>
          <p:nvPr/>
        </p:nvSpPr>
        <p:spPr>
          <a:xfrm>
            <a:off x="7315200" y="3858768"/>
            <a:ext cx="4144975" cy="1115568"/>
          </a:xfrm>
          <a:prstGeom prst="round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98079" y="3950208"/>
            <a:ext cx="3779215" cy="932688"/>
          </a:xfrm>
          <a:prstGeom prst="rect">
            <a:avLst/>
          </a:prstGeom>
          <a:noFill/>
        </p:spPr>
        <p:txBody>
          <a:bodyPr wrap="square">
            <a:spAutoFit/>
          </a:bodyPr>
          <a:lstStyle/>
          <a:p>
            <a:pPr>
              <a:defRPr sz="1250" b="1">
                <a:solidFill>
                  <a:srgbClr val="0F172A"/>
                </a:solidFill>
                <a:latin typeface="Segoe UI"/>
              </a:defRPr>
            </a:pPr>
            <a:r>
              <a:t>226,806  ·  EMPIRICAL TRAINING RECORDS</a:t>
            </a:r>
          </a:p>
          <a:p>
            <a:pPr>
              <a:spcBef>
                <a:spcPts val="200"/>
              </a:spcBef>
              <a:defRPr sz="950">
                <a:solidFill>
                  <a:srgbClr val="64748B"/>
                </a:solidFill>
                <a:latin typeface="Segoe UI"/>
              </a:defRPr>
            </a:pPr>
            <a:r>
              <a:t>30,000 UCI Credit Card + 196,806 Home Credit default records</a:t>
            </a:r>
          </a:p>
        </p:txBody>
      </p:sp>
      <p:sp>
        <p:nvSpPr>
          <p:cNvPr id="16" name="Rounded Rectangle 15"/>
          <p:cNvSpPr/>
          <p:nvPr/>
        </p:nvSpPr>
        <p:spPr>
          <a:xfrm>
            <a:off x="7315200" y="5102352"/>
            <a:ext cx="4144975" cy="1115568"/>
          </a:xfrm>
          <a:prstGeom prst="round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79" y="5193792"/>
            <a:ext cx="3779215" cy="932688"/>
          </a:xfrm>
          <a:prstGeom prst="rect">
            <a:avLst/>
          </a:prstGeom>
          <a:noFill/>
        </p:spPr>
        <p:txBody>
          <a:bodyPr wrap="square">
            <a:spAutoFit/>
          </a:bodyPr>
          <a:lstStyle/>
          <a:p>
            <a:pPr>
              <a:defRPr sz="1250" b="1">
                <a:solidFill>
                  <a:srgbClr val="0F766E"/>
                </a:solidFill>
                <a:latin typeface="Segoe UI"/>
              </a:defRPr>
            </a:pPr>
            <a:r>
              <a:t>127 / 127  ·  AUTOMATED PYTEST CHECKS</a:t>
            </a:r>
          </a:p>
          <a:p>
            <a:pPr>
              <a:spcBef>
                <a:spcPts val="200"/>
              </a:spcBef>
              <a:defRPr sz="950">
                <a:solidFill>
                  <a:srgbClr val="64748B"/>
                </a:solidFill>
                <a:latin typeface="Segoe UI"/>
              </a:defRPr>
            </a:pPr>
            <a:r>
              <a:t>100% passing test suite covering ML, bridge, matrix, and cryptographic chain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84048"/>
            <a:ext cx="10728655" cy="274320"/>
          </a:xfrm>
          <a:prstGeom prst="rect">
            <a:avLst/>
          </a:prstGeom>
          <a:noFill/>
        </p:spPr>
        <p:txBody>
          <a:bodyPr wrap="none">
            <a:spAutoFit/>
          </a:bodyPr>
          <a:lstStyle/>
          <a:p>
            <a:pPr>
              <a:defRPr sz="950" b="1">
                <a:solidFill>
                  <a:srgbClr val="2563EB"/>
                </a:solidFill>
                <a:latin typeface="Segoe UI"/>
              </a:defRPr>
            </a:pPr>
            <a:r>
              <a:t>THEORETICAL FOUNDATION · BENCHMARK ANALYSIS</a:t>
            </a:r>
          </a:p>
        </p:txBody>
      </p:sp>
      <p:sp>
        <p:nvSpPr>
          <p:cNvPr id="3" name="TextBox 2"/>
          <p:cNvSpPr txBox="1"/>
          <p:nvPr/>
        </p:nvSpPr>
        <p:spPr>
          <a:xfrm>
            <a:off x="731520" y="658368"/>
            <a:ext cx="10728655" cy="502920"/>
          </a:xfrm>
          <a:prstGeom prst="rect">
            <a:avLst/>
          </a:prstGeom>
          <a:noFill/>
        </p:spPr>
        <p:txBody>
          <a:bodyPr wrap="none">
            <a:spAutoFit/>
          </a:bodyPr>
          <a:lstStyle/>
          <a:p>
            <a:pPr>
              <a:defRPr sz="2200" b="1">
                <a:solidFill>
                  <a:srgbClr val="0F172A"/>
                </a:solidFill>
                <a:latin typeface="Segoe UI"/>
              </a:defRPr>
            </a:pPr>
            <a:r>
              <a:t>Literature Review: Credit Risk &amp; Behavioral Modeling</a:t>
            </a:r>
          </a:p>
        </p:txBody>
      </p:sp>
      <p:sp>
        <p:nvSpPr>
          <p:cNvPr id="4" name="Rectangle 3"/>
          <p:cNvSpPr/>
          <p:nvPr/>
        </p:nvSpPr>
        <p:spPr>
          <a:xfrm>
            <a:off x="731520" y="1207008"/>
            <a:ext cx="10728655" cy="13716"/>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46520"/>
            <a:ext cx="2743200" cy="274320"/>
          </a:xfrm>
          <a:prstGeom prst="rect">
            <a:avLst/>
          </a:prstGeom>
          <a:noFill/>
        </p:spPr>
        <p:txBody>
          <a:bodyPr wrap="none">
            <a:spAutoFit/>
          </a:bodyPr>
          <a:lstStyle/>
          <a:p>
            <a:pPr>
              <a:defRPr sz="900">
                <a:solidFill>
                  <a:srgbClr val="64748B"/>
                </a:solidFill>
                <a:latin typeface="Segoe UI"/>
              </a:defRPr>
            </a:pPr>
            <a:r>
              <a:t>05/10/2026 · Project Review</a:t>
            </a:r>
          </a:p>
        </p:txBody>
      </p:sp>
      <p:sp>
        <p:nvSpPr>
          <p:cNvPr id="6" name="TextBox 5"/>
          <p:cNvSpPr txBox="1"/>
          <p:nvPr/>
        </p:nvSpPr>
        <p:spPr>
          <a:xfrm>
            <a:off x="3657600" y="6446520"/>
            <a:ext cx="4876495" cy="274320"/>
          </a:xfrm>
          <a:prstGeom prst="rect">
            <a:avLst/>
          </a:prstGeom>
          <a:noFill/>
        </p:spPr>
        <p:txBody>
          <a:bodyPr wrap="none">
            <a:spAutoFit/>
          </a:bodyPr>
          <a:lstStyle/>
          <a:p>
            <a:pPr algn="ctr">
              <a:defRPr sz="900">
                <a:solidFill>
                  <a:srgbClr val="64748B"/>
                </a:solidFill>
                <a:latin typeface="Segoe UI"/>
              </a:defRPr>
            </a:pPr>
            <a:r>
              <a:t>BCSE497J · Behavioral Credit Decision Support System · SCOPE</a:t>
            </a:r>
          </a:p>
        </p:txBody>
      </p:sp>
      <p:sp>
        <p:nvSpPr>
          <p:cNvPr id="7" name="TextBox 6"/>
          <p:cNvSpPr txBox="1"/>
          <p:nvPr/>
        </p:nvSpPr>
        <p:spPr>
          <a:xfrm>
            <a:off x="8716975" y="6446520"/>
            <a:ext cx="2743200" cy="274320"/>
          </a:xfrm>
          <a:prstGeom prst="rect">
            <a:avLst/>
          </a:prstGeom>
          <a:noFill/>
        </p:spPr>
        <p:txBody>
          <a:bodyPr wrap="none">
            <a:spAutoFit/>
          </a:bodyPr>
          <a:lstStyle/>
          <a:p>
            <a:pPr algn="r">
              <a:defRPr sz="900" b="1">
                <a:solidFill>
                  <a:srgbClr val="64748B"/>
                </a:solidFill>
                <a:latin typeface="Segoe UI"/>
              </a:defRPr>
            </a:pPr>
            <a:r>
              <a:t>5 / 17</a:t>
            </a:r>
          </a:p>
        </p:txBody>
      </p:sp>
      <p:graphicFrame>
        <p:nvGraphicFramePr>
          <p:cNvPr id="8" name="Table 7"/>
          <p:cNvGraphicFramePr>
            <a:graphicFrameLocks noGrp="1"/>
          </p:cNvGraphicFramePr>
          <p:nvPr/>
        </p:nvGraphicFramePr>
        <p:xfrm>
          <a:off x="731520" y="1463040"/>
          <a:ext cx="10728655" cy="4663440"/>
        </p:xfrm>
        <a:graphic>
          <a:graphicData uri="http://schemas.openxmlformats.org/drawingml/2006/table">
            <a:tbl>
              <a:tblPr firstRow="1" bandRow="1">
                <a:tableStyleId>{5C22544A-7EE6-4342-B048-85BDC9FD1C3A}</a:tableStyleId>
              </a:tblPr>
              <a:tblGrid>
                <a:gridCol w="2011680"/>
                <a:gridCol w="2011680"/>
                <a:gridCol w="2286000"/>
                <a:gridCol w="2194560"/>
                <a:gridCol w="2224735"/>
              </a:tblGrid>
              <a:tr h="932688">
                <a:tc>
                  <a:txBody>
                    <a:bodyPr/>
                    <a:lstStyle/>
                    <a:p>
                      <a:pPr>
                        <a:defRPr sz="1000" b="1">
                          <a:solidFill>
                            <a:srgbClr val="FFFFFF"/>
                          </a:solidFill>
                          <a:latin typeface="Segoe UI"/>
                        </a:defRPr>
                      </a:pPr>
                      <a:r>
                        <a:t>Paper &amp; Author</a:t>
                      </a:r>
                    </a:p>
                  </a:txBody>
                  <a:tcPr marL="91440" marR="91440" marT="73152" marB="73152">
                    <a:solidFill>
                      <a:srgbClr val="1E293B"/>
                    </a:solidFill>
                  </a:tcPr>
                </a:tc>
                <a:tc>
                  <a:txBody>
                    <a:bodyPr/>
                    <a:lstStyle/>
                    <a:p>
                      <a:pPr>
                        <a:defRPr sz="1000" b="1">
                          <a:solidFill>
                            <a:srgbClr val="FFFFFF"/>
                          </a:solidFill>
                          <a:latin typeface="Segoe UI"/>
                        </a:defRPr>
                      </a:pPr>
                      <a:r>
                        <a:t>Objective</a:t>
                      </a:r>
                    </a:p>
                  </a:txBody>
                  <a:tcPr marL="91440" marR="91440" marT="73152" marB="73152">
                    <a:solidFill>
                      <a:srgbClr val="1E293B"/>
                    </a:solidFill>
                  </a:tcPr>
                </a:tc>
                <a:tc>
                  <a:txBody>
                    <a:bodyPr/>
                    <a:lstStyle/>
                    <a:p>
                      <a:pPr>
                        <a:defRPr sz="1000" b="1">
                          <a:solidFill>
                            <a:srgbClr val="FFFFFF"/>
                          </a:solidFill>
                          <a:latin typeface="Segoe UI"/>
                        </a:defRPr>
                      </a:pPr>
                      <a:r>
                        <a:t>Methodology</a:t>
                      </a:r>
                    </a:p>
                  </a:txBody>
                  <a:tcPr marL="91440" marR="91440" marT="73152" marB="73152">
                    <a:solidFill>
                      <a:srgbClr val="1E293B"/>
                    </a:solidFill>
                  </a:tcPr>
                </a:tc>
                <a:tc>
                  <a:txBody>
                    <a:bodyPr/>
                    <a:lstStyle/>
                    <a:p>
                      <a:pPr>
                        <a:defRPr sz="1000" b="1">
                          <a:solidFill>
                            <a:srgbClr val="FFFFFF"/>
                          </a:solidFill>
                          <a:latin typeface="Segoe UI"/>
                        </a:defRPr>
                      </a:pPr>
                      <a:r>
                        <a:t>Pros / Cons</a:t>
                      </a:r>
                    </a:p>
                  </a:txBody>
                  <a:tcPr marL="91440" marR="91440" marT="73152" marB="73152">
                    <a:solidFill>
                      <a:srgbClr val="1E293B"/>
                    </a:solidFill>
                  </a:tcPr>
                </a:tc>
                <a:tc>
                  <a:txBody>
                    <a:bodyPr/>
                    <a:lstStyle/>
                    <a:p>
                      <a:pPr>
                        <a:defRPr sz="1000" b="1">
                          <a:solidFill>
                            <a:srgbClr val="FFFFFF"/>
                          </a:solidFill>
                          <a:latin typeface="Segoe UI"/>
                        </a:defRPr>
                      </a:pPr>
                      <a:r>
                        <a:t>Key Findings</a:t>
                      </a:r>
                    </a:p>
                  </a:txBody>
                  <a:tcPr marL="91440" marR="91440" marT="73152" marB="73152">
                    <a:solidFill>
                      <a:srgbClr val="1E293B"/>
                    </a:solidFill>
                  </a:tcPr>
                </a:tc>
              </a:tr>
              <a:tr h="932688">
                <a:tc>
                  <a:txBody>
                    <a:bodyPr/>
                    <a:lstStyle/>
                    <a:p>
                      <a:pPr>
                        <a:defRPr sz="900">
                          <a:solidFill>
                            <a:srgbClr val="334155"/>
                          </a:solidFill>
                          <a:latin typeface="Segoe UI"/>
                        </a:defRPr>
                      </a:pPr>
                      <a:r>
                        <a:t>Yeh &amp; Lien (2009)</a:t>
                      </a:r>
                    </a:p>
                    <a:p>
                      <a:r>
                        <a:t>[Expert Syst. Appl.] [1]</a:t>
                      </a:r>
                    </a:p>
                  </a:txBody>
                  <a:tcPr marL="91440" marR="91440" marT="73152" marB="73152">
                    <a:solidFill>
                      <a:srgbClr val="F8FAFC"/>
                    </a:solidFill>
                  </a:tcPr>
                </a:tc>
                <a:tc>
                  <a:txBody>
                    <a:bodyPr/>
                    <a:lstStyle/>
                    <a:p>
                      <a:pPr>
                        <a:defRPr sz="900">
                          <a:solidFill>
                            <a:srgbClr val="334155"/>
                          </a:solidFill>
                          <a:latin typeface="Segoe UI"/>
                        </a:defRPr>
                      </a:pPr>
                      <a:r>
                        <a:t>Predict default probability of credit card clients</a:t>
                      </a:r>
                    </a:p>
                  </a:txBody>
                  <a:tcPr marL="91440" marR="91440" marT="73152" marB="73152">
                    <a:solidFill>
                      <a:srgbClr val="F8FAFC"/>
                    </a:solidFill>
                  </a:tcPr>
                </a:tc>
                <a:tc>
                  <a:txBody>
                    <a:bodyPr/>
                    <a:lstStyle/>
                    <a:p>
                      <a:pPr>
                        <a:defRPr sz="900">
                          <a:solidFill>
                            <a:srgbClr val="334155"/>
                          </a:solidFill>
                          <a:latin typeface="Segoe UI"/>
                        </a:defRPr>
                      </a:pPr>
                      <a:r>
                        <a:t>Evaluated 6 machine learning classifiers on UCI Taiwan benchmark (30,000 clients)</a:t>
                      </a:r>
                    </a:p>
                  </a:txBody>
                  <a:tcPr marL="91440" marR="91440" marT="73152" marB="73152">
                    <a:solidFill>
                      <a:srgbClr val="F8FAFC"/>
                    </a:solidFill>
                  </a:tcPr>
                </a:tc>
                <a:tc>
                  <a:txBody>
                    <a:bodyPr/>
                    <a:lstStyle/>
                    <a:p>
                      <a:pPr>
                        <a:defRPr sz="900">
                          <a:solidFill>
                            <a:srgbClr val="334155"/>
                          </a:solidFill>
                          <a:latin typeface="Segoe UI"/>
                        </a:defRPr>
                      </a:pPr>
                      <a:r>
                        <a:t>Pro: Authoritative public benchmark</a:t>
                      </a:r>
                    </a:p>
                    <a:p>
                      <a:r>
                        <a:t>Con: Single market; lacks cash-flow data</a:t>
                      </a:r>
                    </a:p>
                  </a:txBody>
                  <a:tcPr marL="91440" marR="91440" marT="73152" marB="73152">
                    <a:solidFill>
                      <a:srgbClr val="F8FAFC"/>
                    </a:solidFill>
                  </a:tcPr>
                </a:tc>
                <a:tc>
                  <a:txBody>
                    <a:bodyPr/>
                    <a:lstStyle/>
                    <a:p>
                      <a:pPr>
                        <a:defRPr sz="900">
                          <a:solidFill>
                            <a:srgbClr val="334155"/>
                          </a:solidFill>
                          <a:latin typeface="Segoe UI"/>
                        </a:defRPr>
                      </a:pPr>
                      <a:r>
                        <a:t>Ensembles and neural networks achieve superior probability estimation over linear models</a:t>
                      </a:r>
                    </a:p>
                  </a:txBody>
                  <a:tcPr marL="91440" marR="91440" marT="73152" marB="73152">
                    <a:solidFill>
                      <a:srgbClr val="F8FAFC"/>
                    </a:solidFill>
                  </a:tcPr>
                </a:tc>
              </a:tr>
              <a:tr h="932688">
                <a:tc>
                  <a:txBody>
                    <a:bodyPr/>
                    <a:lstStyle/>
                    <a:p>
                      <a:pPr>
                        <a:defRPr sz="900">
                          <a:solidFill>
                            <a:srgbClr val="334155"/>
                          </a:solidFill>
                          <a:latin typeface="Segoe UI"/>
                        </a:defRPr>
                      </a:pPr>
                      <a:r>
                        <a:t>Lessmann et al. (2015)</a:t>
                      </a:r>
                    </a:p>
                    <a:p>
                      <a:r>
                        <a:t>[Eur. J. Oper. Res.] [2]</a:t>
                      </a:r>
                    </a:p>
                  </a:txBody>
                  <a:tcPr marL="91440" marR="91440" marT="73152" marB="73152">
                    <a:solidFill>
                      <a:srgbClr val="FFFFFF"/>
                    </a:solidFill>
                  </a:tcPr>
                </a:tc>
                <a:tc>
                  <a:txBody>
                    <a:bodyPr/>
                    <a:lstStyle/>
                    <a:p>
                      <a:pPr>
                        <a:defRPr sz="900">
                          <a:solidFill>
                            <a:srgbClr val="334155"/>
                          </a:solidFill>
                          <a:latin typeface="Segoe UI"/>
                        </a:defRPr>
                      </a:pPr>
                      <a:r>
                        <a:t>Update state-of-the-art classifier benchmark in credit scoring</a:t>
                      </a:r>
                    </a:p>
                  </a:txBody>
                  <a:tcPr marL="91440" marR="91440" marT="73152" marB="73152">
                    <a:solidFill>
                      <a:srgbClr val="FFFFFF"/>
                    </a:solidFill>
                  </a:tcPr>
                </a:tc>
                <a:tc>
                  <a:txBody>
                    <a:bodyPr/>
                    <a:lstStyle/>
                    <a:p>
                      <a:pPr>
                        <a:defRPr sz="900">
                          <a:solidFill>
                            <a:srgbClr val="334155"/>
                          </a:solidFill>
                          <a:latin typeface="Segoe UI"/>
                        </a:defRPr>
                      </a:pPr>
                      <a:r>
                        <a:t>Extensive empirical comparison of 41 classifiers across 8 credit datasets</a:t>
                      </a:r>
                    </a:p>
                  </a:txBody>
                  <a:tcPr marL="91440" marR="91440" marT="73152" marB="73152">
                    <a:solidFill>
                      <a:srgbClr val="FFFFFF"/>
                    </a:solidFill>
                  </a:tcPr>
                </a:tc>
                <a:tc>
                  <a:txBody>
                    <a:bodyPr/>
                    <a:lstStyle/>
                    <a:p>
                      <a:pPr>
                        <a:defRPr sz="900">
                          <a:solidFill>
                            <a:srgbClr val="334155"/>
                          </a:solidFill>
                          <a:latin typeface="Segoe UI"/>
                        </a:defRPr>
                      </a:pPr>
                      <a:r>
                        <a:t>Pro: Rigorous statistical comparison</a:t>
                      </a:r>
                    </a:p>
                    <a:p>
                      <a:r>
                        <a:t>Con: Static application bureau data only</a:t>
                      </a:r>
                    </a:p>
                  </a:txBody>
                  <a:tcPr marL="91440" marR="91440" marT="73152" marB="73152">
                    <a:solidFill>
                      <a:srgbClr val="FFFFFF"/>
                    </a:solidFill>
                  </a:tcPr>
                </a:tc>
                <a:tc>
                  <a:txBody>
                    <a:bodyPr/>
                    <a:lstStyle/>
                    <a:p>
                      <a:pPr>
                        <a:defRPr sz="900">
                          <a:solidFill>
                            <a:srgbClr val="334155"/>
                          </a:solidFill>
                          <a:latin typeface="Segoe UI"/>
                        </a:defRPr>
                      </a:pPr>
                      <a:r>
                        <a:t>Tree ensembles (GBDT, Random Forest) systematically outperform logistic regression</a:t>
                      </a:r>
                    </a:p>
                  </a:txBody>
                  <a:tcPr marL="91440" marR="91440" marT="73152" marB="73152">
                    <a:solidFill>
                      <a:srgbClr val="FFFFFF"/>
                    </a:solidFill>
                  </a:tcPr>
                </a:tc>
              </a:tr>
              <a:tr h="932688">
                <a:tc>
                  <a:txBody>
                    <a:bodyPr/>
                    <a:lstStyle/>
                    <a:p>
                      <a:pPr>
                        <a:defRPr sz="900">
                          <a:solidFill>
                            <a:srgbClr val="334155"/>
                          </a:solidFill>
                          <a:latin typeface="Segoe UI"/>
                        </a:defRPr>
                      </a:pPr>
                      <a:r>
                        <a:t>Khandani et al. (2010)</a:t>
                      </a:r>
                    </a:p>
                    <a:p>
                      <a:r>
                        <a:t>[J. Bank. Financ.] [3]</a:t>
                      </a:r>
                    </a:p>
                  </a:txBody>
                  <a:tcPr marL="91440" marR="91440" marT="73152" marB="73152">
                    <a:solidFill>
                      <a:srgbClr val="F8FAFC"/>
                    </a:solidFill>
                  </a:tcPr>
                </a:tc>
                <a:tc>
                  <a:txBody>
                    <a:bodyPr/>
                    <a:lstStyle/>
                    <a:p>
                      <a:pPr>
                        <a:defRPr sz="900">
                          <a:solidFill>
                            <a:srgbClr val="334155"/>
                          </a:solidFill>
                          <a:latin typeface="Segoe UI"/>
                        </a:defRPr>
                      </a:pPr>
                      <a:r>
                        <a:t>Forecast consumer credit delinquency from transactions</a:t>
                      </a:r>
                    </a:p>
                  </a:txBody>
                  <a:tcPr marL="91440" marR="91440" marT="73152" marB="73152">
                    <a:solidFill>
                      <a:srgbClr val="F8FAFC"/>
                    </a:solidFill>
                  </a:tcPr>
                </a:tc>
                <a:tc>
                  <a:txBody>
                    <a:bodyPr/>
                    <a:lstStyle/>
                    <a:p>
                      <a:pPr>
                        <a:defRPr sz="900">
                          <a:solidFill>
                            <a:srgbClr val="334155"/>
                          </a:solidFill>
                          <a:latin typeface="Segoe UI"/>
                        </a:defRPr>
                      </a:pPr>
                      <a:r>
                        <a:t>Nonlinear classification trees on customer transaction and bureau records</a:t>
                      </a:r>
                    </a:p>
                  </a:txBody>
                  <a:tcPr marL="91440" marR="91440" marT="73152" marB="73152">
                    <a:solidFill>
                      <a:srgbClr val="F8FAFC"/>
                    </a:solidFill>
                  </a:tcPr>
                </a:tc>
                <a:tc>
                  <a:txBody>
                    <a:bodyPr/>
                    <a:lstStyle/>
                    <a:p>
                      <a:pPr>
                        <a:defRPr sz="900">
                          <a:solidFill>
                            <a:srgbClr val="334155"/>
                          </a:solidFill>
                          <a:latin typeface="Segoe UI"/>
                        </a:defRPr>
                      </a:pPr>
                      <a:r>
                        <a:t>Pro: Confirms cash flows add predictive power</a:t>
                      </a:r>
                    </a:p>
                    <a:p>
                      <a:r>
                        <a:t>Con: Proprietary bank data; not reproducible</a:t>
                      </a:r>
                    </a:p>
                  </a:txBody>
                  <a:tcPr marL="91440" marR="91440" marT="73152" marB="73152">
                    <a:solidFill>
                      <a:srgbClr val="F8FAFC"/>
                    </a:solidFill>
                  </a:tcPr>
                </a:tc>
                <a:tc>
                  <a:txBody>
                    <a:bodyPr/>
                    <a:lstStyle/>
                    <a:p>
                      <a:pPr>
                        <a:defRPr sz="900">
                          <a:solidFill>
                            <a:srgbClr val="334155"/>
                          </a:solidFill>
                          <a:latin typeface="Segoe UI"/>
                        </a:defRPr>
                      </a:pPr>
                      <a:r>
                        <a:t>Transaction-level cash flow dynamics improve delinquency forecasts by 6–25%</a:t>
                      </a:r>
                    </a:p>
                  </a:txBody>
                  <a:tcPr marL="91440" marR="91440" marT="73152" marB="73152">
                    <a:solidFill>
                      <a:srgbClr val="F8FAFC"/>
                    </a:solidFill>
                  </a:tcPr>
                </a:tc>
              </a:tr>
              <a:tr h="932688">
                <a:tc>
                  <a:txBody>
                    <a:bodyPr/>
                    <a:lstStyle/>
                    <a:p>
                      <a:pPr>
                        <a:defRPr sz="900">
                          <a:solidFill>
                            <a:srgbClr val="334155"/>
                          </a:solidFill>
                          <a:latin typeface="Segoe UI"/>
                        </a:defRPr>
                      </a:pPr>
                      <a:r>
                        <a:t>Bhatore et al. (2020)</a:t>
                      </a:r>
                    </a:p>
                    <a:p>
                      <a:r>
                        <a:t>[J. Bank. Fin. Tech.] [4]</a:t>
                      </a:r>
                    </a:p>
                  </a:txBody>
                  <a:tcPr marL="91440" marR="91440" marT="73152" marB="73152">
                    <a:solidFill>
                      <a:srgbClr val="FFFFFF"/>
                    </a:solidFill>
                  </a:tcPr>
                </a:tc>
                <a:tc>
                  <a:txBody>
                    <a:bodyPr/>
                    <a:lstStyle/>
                    <a:p>
                      <a:pPr>
                        <a:defRPr sz="900">
                          <a:solidFill>
                            <a:srgbClr val="334155"/>
                          </a:solidFill>
                          <a:latin typeface="Segoe UI"/>
                        </a:defRPr>
                      </a:pPr>
                      <a:r>
                        <a:t>Comprehensive survey of ML in credit risk evaluation</a:t>
                      </a:r>
                    </a:p>
                  </a:txBody>
                  <a:tcPr marL="91440" marR="91440" marT="73152" marB="73152">
                    <a:solidFill>
                      <a:srgbClr val="FFFFFF"/>
                    </a:solidFill>
                  </a:tcPr>
                </a:tc>
                <a:tc>
                  <a:txBody>
                    <a:bodyPr/>
                    <a:lstStyle/>
                    <a:p>
                      <a:pPr>
                        <a:defRPr sz="900">
                          <a:solidFill>
                            <a:srgbClr val="334155"/>
                          </a:solidFill>
                          <a:latin typeface="Segoe UI"/>
                        </a:defRPr>
                      </a:pPr>
                      <a:r>
                        <a:t>Systematic literature review mapping ML techniques and deployment paradigms</a:t>
                      </a:r>
                    </a:p>
                  </a:txBody>
                  <a:tcPr marL="91440" marR="91440" marT="73152" marB="73152">
                    <a:solidFill>
                      <a:srgbClr val="FFFFFF"/>
                    </a:solidFill>
                  </a:tcPr>
                </a:tc>
                <a:tc>
                  <a:txBody>
                    <a:bodyPr/>
                    <a:lstStyle/>
                    <a:p>
                      <a:pPr>
                        <a:defRPr sz="900">
                          <a:solidFill>
                            <a:srgbClr val="334155"/>
                          </a:solidFill>
                          <a:latin typeface="Segoe UI"/>
                        </a:defRPr>
                      </a:pPr>
                      <a:r>
                        <a:t>Pro: Maps architectural trends</a:t>
                      </a:r>
                    </a:p>
                    <a:p>
                      <a:r>
                        <a:t>Con: Survey only; no implementation</a:t>
                      </a:r>
                    </a:p>
                  </a:txBody>
                  <a:tcPr marL="91440" marR="91440" marT="73152" marB="73152">
                    <a:solidFill>
                      <a:srgbClr val="FFFFFF"/>
                    </a:solidFill>
                  </a:tcPr>
                </a:tc>
                <a:tc>
                  <a:txBody>
                    <a:bodyPr/>
                    <a:lstStyle/>
                    <a:p>
                      <a:pPr>
                        <a:defRPr sz="900">
                          <a:solidFill>
                            <a:srgbClr val="334155"/>
                          </a:solidFill>
                          <a:latin typeface="Segoe UI"/>
                        </a:defRPr>
                      </a:pPr>
                      <a:r>
                        <a:t>Highlights urgent industry need for interpretable, deployable, human-governed models</a:t>
                      </a:r>
                    </a:p>
                  </a:txBody>
                  <a:tcPr marL="91440" marR="91440" marT="73152" marB="73152">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84048"/>
            <a:ext cx="10728655" cy="274320"/>
          </a:xfrm>
          <a:prstGeom prst="rect">
            <a:avLst/>
          </a:prstGeom>
          <a:noFill/>
        </p:spPr>
        <p:txBody>
          <a:bodyPr wrap="none">
            <a:spAutoFit/>
          </a:bodyPr>
          <a:lstStyle/>
          <a:p>
            <a:pPr>
              <a:defRPr sz="950" b="1">
                <a:solidFill>
                  <a:srgbClr val="2563EB"/>
                </a:solidFill>
                <a:latin typeface="Segoe UI"/>
              </a:defRPr>
            </a:pPr>
            <a:r>
              <a:t>THEORETICAL FOUNDATION · ALGORITHMS &amp; EXPLAINABILITY</a:t>
            </a:r>
          </a:p>
        </p:txBody>
      </p:sp>
      <p:sp>
        <p:nvSpPr>
          <p:cNvPr id="3" name="TextBox 2"/>
          <p:cNvSpPr txBox="1"/>
          <p:nvPr/>
        </p:nvSpPr>
        <p:spPr>
          <a:xfrm>
            <a:off x="731520" y="658368"/>
            <a:ext cx="10728655" cy="502920"/>
          </a:xfrm>
          <a:prstGeom prst="rect">
            <a:avLst/>
          </a:prstGeom>
          <a:noFill/>
        </p:spPr>
        <p:txBody>
          <a:bodyPr wrap="none">
            <a:spAutoFit/>
          </a:bodyPr>
          <a:lstStyle/>
          <a:p>
            <a:pPr>
              <a:defRPr sz="2200" b="1">
                <a:solidFill>
                  <a:srgbClr val="0F172A"/>
                </a:solidFill>
                <a:latin typeface="Segoe UI"/>
              </a:defRPr>
            </a:pPr>
            <a:r>
              <a:t>Literature Review (contd.): Ensembles, Interpretability &amp; Calibration</a:t>
            </a:r>
          </a:p>
        </p:txBody>
      </p:sp>
      <p:sp>
        <p:nvSpPr>
          <p:cNvPr id="4" name="Rectangle 3"/>
          <p:cNvSpPr/>
          <p:nvPr/>
        </p:nvSpPr>
        <p:spPr>
          <a:xfrm>
            <a:off x="731520" y="1207008"/>
            <a:ext cx="10728655" cy="13716"/>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46520"/>
            <a:ext cx="2743200" cy="274320"/>
          </a:xfrm>
          <a:prstGeom prst="rect">
            <a:avLst/>
          </a:prstGeom>
          <a:noFill/>
        </p:spPr>
        <p:txBody>
          <a:bodyPr wrap="none">
            <a:spAutoFit/>
          </a:bodyPr>
          <a:lstStyle/>
          <a:p>
            <a:pPr>
              <a:defRPr sz="900">
                <a:solidFill>
                  <a:srgbClr val="64748B"/>
                </a:solidFill>
                <a:latin typeface="Segoe UI"/>
              </a:defRPr>
            </a:pPr>
            <a:r>
              <a:t>05/10/2026 · Project Review</a:t>
            </a:r>
          </a:p>
        </p:txBody>
      </p:sp>
      <p:sp>
        <p:nvSpPr>
          <p:cNvPr id="6" name="TextBox 5"/>
          <p:cNvSpPr txBox="1"/>
          <p:nvPr/>
        </p:nvSpPr>
        <p:spPr>
          <a:xfrm>
            <a:off x="3657600" y="6446520"/>
            <a:ext cx="4876495" cy="274320"/>
          </a:xfrm>
          <a:prstGeom prst="rect">
            <a:avLst/>
          </a:prstGeom>
          <a:noFill/>
        </p:spPr>
        <p:txBody>
          <a:bodyPr wrap="none">
            <a:spAutoFit/>
          </a:bodyPr>
          <a:lstStyle/>
          <a:p>
            <a:pPr algn="ctr">
              <a:defRPr sz="900">
                <a:solidFill>
                  <a:srgbClr val="64748B"/>
                </a:solidFill>
                <a:latin typeface="Segoe UI"/>
              </a:defRPr>
            </a:pPr>
            <a:r>
              <a:t>BCSE497J · Behavioral Credit Decision Support System · SCOPE</a:t>
            </a:r>
          </a:p>
        </p:txBody>
      </p:sp>
      <p:sp>
        <p:nvSpPr>
          <p:cNvPr id="7" name="TextBox 6"/>
          <p:cNvSpPr txBox="1"/>
          <p:nvPr/>
        </p:nvSpPr>
        <p:spPr>
          <a:xfrm>
            <a:off x="8716975" y="6446520"/>
            <a:ext cx="2743200" cy="274320"/>
          </a:xfrm>
          <a:prstGeom prst="rect">
            <a:avLst/>
          </a:prstGeom>
          <a:noFill/>
        </p:spPr>
        <p:txBody>
          <a:bodyPr wrap="none">
            <a:spAutoFit/>
          </a:bodyPr>
          <a:lstStyle/>
          <a:p>
            <a:pPr algn="r">
              <a:defRPr sz="900" b="1">
                <a:solidFill>
                  <a:srgbClr val="64748B"/>
                </a:solidFill>
                <a:latin typeface="Segoe UI"/>
              </a:defRPr>
            </a:pPr>
            <a:r>
              <a:t>6 / 17</a:t>
            </a:r>
          </a:p>
        </p:txBody>
      </p:sp>
      <p:graphicFrame>
        <p:nvGraphicFramePr>
          <p:cNvPr id="8" name="Table 7"/>
          <p:cNvGraphicFramePr>
            <a:graphicFrameLocks noGrp="1"/>
          </p:cNvGraphicFramePr>
          <p:nvPr/>
        </p:nvGraphicFramePr>
        <p:xfrm>
          <a:off x="731520" y="1645920"/>
          <a:ext cx="10728655" cy="4114800"/>
        </p:xfrm>
        <a:graphic>
          <a:graphicData uri="http://schemas.openxmlformats.org/drawingml/2006/table">
            <a:tbl>
              <a:tblPr firstRow="1" bandRow="1">
                <a:tableStyleId>{5C22544A-7EE6-4342-B048-85BDC9FD1C3A}</a:tableStyleId>
              </a:tblPr>
              <a:tblGrid>
                <a:gridCol w="2011680"/>
                <a:gridCol w="2011680"/>
                <a:gridCol w="2286000"/>
                <a:gridCol w="2194560"/>
                <a:gridCol w="2224735"/>
              </a:tblGrid>
              <a:tr h="1028700">
                <a:tc>
                  <a:txBody>
                    <a:bodyPr/>
                    <a:lstStyle/>
                    <a:p>
                      <a:pPr>
                        <a:defRPr sz="1000" b="1">
                          <a:solidFill>
                            <a:srgbClr val="FFFFFF"/>
                          </a:solidFill>
                          <a:latin typeface="Segoe UI"/>
                        </a:defRPr>
                      </a:pPr>
                      <a:r>
                        <a:t>Paper &amp; Author</a:t>
                      </a:r>
                    </a:p>
                  </a:txBody>
                  <a:tcPr marL="91440" marR="91440" marT="73152" marB="73152">
                    <a:solidFill>
                      <a:srgbClr val="1E293B"/>
                    </a:solidFill>
                  </a:tcPr>
                </a:tc>
                <a:tc>
                  <a:txBody>
                    <a:bodyPr/>
                    <a:lstStyle/>
                    <a:p>
                      <a:pPr>
                        <a:defRPr sz="1000" b="1">
                          <a:solidFill>
                            <a:srgbClr val="FFFFFF"/>
                          </a:solidFill>
                          <a:latin typeface="Segoe UI"/>
                        </a:defRPr>
                      </a:pPr>
                      <a:r>
                        <a:t>Objective</a:t>
                      </a:r>
                    </a:p>
                  </a:txBody>
                  <a:tcPr marL="91440" marR="91440" marT="73152" marB="73152">
                    <a:solidFill>
                      <a:srgbClr val="1E293B"/>
                    </a:solidFill>
                  </a:tcPr>
                </a:tc>
                <a:tc>
                  <a:txBody>
                    <a:bodyPr/>
                    <a:lstStyle/>
                    <a:p>
                      <a:pPr>
                        <a:defRPr sz="1000" b="1">
                          <a:solidFill>
                            <a:srgbClr val="FFFFFF"/>
                          </a:solidFill>
                          <a:latin typeface="Segoe UI"/>
                        </a:defRPr>
                      </a:pPr>
                      <a:r>
                        <a:t>Methodology</a:t>
                      </a:r>
                    </a:p>
                  </a:txBody>
                  <a:tcPr marL="91440" marR="91440" marT="73152" marB="73152">
                    <a:solidFill>
                      <a:srgbClr val="1E293B"/>
                    </a:solidFill>
                  </a:tcPr>
                </a:tc>
                <a:tc>
                  <a:txBody>
                    <a:bodyPr/>
                    <a:lstStyle/>
                    <a:p>
                      <a:pPr>
                        <a:defRPr sz="1000" b="1">
                          <a:solidFill>
                            <a:srgbClr val="FFFFFF"/>
                          </a:solidFill>
                          <a:latin typeface="Segoe UI"/>
                        </a:defRPr>
                      </a:pPr>
                      <a:r>
                        <a:t>Pros / Cons</a:t>
                      </a:r>
                    </a:p>
                  </a:txBody>
                  <a:tcPr marL="91440" marR="91440" marT="73152" marB="73152">
                    <a:solidFill>
                      <a:srgbClr val="1E293B"/>
                    </a:solidFill>
                  </a:tcPr>
                </a:tc>
                <a:tc>
                  <a:txBody>
                    <a:bodyPr/>
                    <a:lstStyle/>
                    <a:p>
                      <a:pPr>
                        <a:defRPr sz="1000" b="1">
                          <a:solidFill>
                            <a:srgbClr val="FFFFFF"/>
                          </a:solidFill>
                          <a:latin typeface="Segoe UI"/>
                        </a:defRPr>
                      </a:pPr>
                      <a:r>
                        <a:t>Key Findings</a:t>
                      </a:r>
                    </a:p>
                  </a:txBody>
                  <a:tcPr marL="91440" marR="91440" marT="73152" marB="73152">
                    <a:solidFill>
                      <a:srgbClr val="1E293B"/>
                    </a:solidFill>
                  </a:tcPr>
                </a:tc>
              </a:tr>
              <a:tr h="1028700">
                <a:tc>
                  <a:txBody>
                    <a:bodyPr/>
                    <a:lstStyle/>
                    <a:p>
                      <a:pPr>
                        <a:defRPr sz="900">
                          <a:solidFill>
                            <a:srgbClr val="334155"/>
                          </a:solidFill>
                          <a:latin typeface="Segoe UI"/>
                        </a:defRPr>
                      </a:pPr>
                      <a:r>
                        <a:t>Ke et al. (2017)</a:t>
                      </a:r>
                    </a:p>
                    <a:p>
                      <a:r>
                        <a:t>[Proc. NeurIPS] [5]</a:t>
                      </a:r>
                    </a:p>
                  </a:txBody>
                  <a:tcPr marL="91440" marR="91440" marT="73152" marB="73152">
                    <a:solidFill>
                      <a:srgbClr val="F8FAFC"/>
                    </a:solidFill>
                  </a:tcPr>
                </a:tc>
                <a:tc>
                  <a:txBody>
                    <a:bodyPr/>
                    <a:lstStyle/>
                    <a:p>
                      <a:pPr>
                        <a:defRPr sz="900">
                          <a:solidFill>
                            <a:srgbClr val="334155"/>
                          </a:solidFill>
                          <a:latin typeface="Segoe UI"/>
                        </a:defRPr>
                      </a:pPr>
                      <a:r>
                        <a:t>Accelerate gradient boosting on large tabular data</a:t>
                      </a:r>
                    </a:p>
                  </a:txBody>
                  <a:tcPr marL="91440" marR="91440" marT="73152" marB="73152">
                    <a:solidFill>
                      <a:srgbClr val="F8FAFC"/>
                    </a:solidFill>
                  </a:tcPr>
                </a:tc>
                <a:tc>
                  <a:txBody>
                    <a:bodyPr/>
                    <a:lstStyle/>
                    <a:p>
                      <a:pPr>
                        <a:defRPr sz="900">
                          <a:solidFill>
                            <a:srgbClr val="334155"/>
                          </a:solidFill>
                          <a:latin typeface="Segoe UI"/>
                        </a:defRPr>
                      </a:pPr>
                      <a:r>
                        <a:t>LightGBM: Gradient-based One-Side Sampling (GOSS) and Exclusive Feature Bundling</a:t>
                      </a:r>
                    </a:p>
                  </a:txBody>
                  <a:tcPr marL="91440" marR="91440" marT="73152" marB="73152">
                    <a:solidFill>
                      <a:srgbClr val="F8FAFC"/>
                    </a:solidFill>
                  </a:tcPr>
                </a:tc>
                <a:tc>
                  <a:txBody>
                    <a:bodyPr/>
                    <a:lstStyle/>
                    <a:p>
                      <a:pPr>
                        <a:defRPr sz="900">
                          <a:solidFill>
                            <a:srgbClr val="334155"/>
                          </a:solidFill>
                          <a:latin typeface="Segoe UI"/>
                        </a:defRPr>
                      </a:pPr>
                      <a:r>
                        <a:t>Pro: Extreme training efficiency on 200k+ rows</a:t>
                      </a:r>
                    </a:p>
                    <a:p>
                      <a:r>
                        <a:t>Con: Raw scores require calibration</a:t>
                      </a:r>
                    </a:p>
                  </a:txBody>
                  <a:tcPr marL="91440" marR="91440" marT="73152" marB="73152">
                    <a:solidFill>
                      <a:srgbClr val="F8FAFC"/>
                    </a:solidFill>
                  </a:tcPr>
                </a:tc>
                <a:tc>
                  <a:txBody>
                    <a:bodyPr/>
                    <a:lstStyle/>
                    <a:p>
                      <a:pPr>
                        <a:defRPr sz="900">
                          <a:solidFill>
                            <a:srgbClr val="334155"/>
                          </a:solidFill>
                          <a:latin typeface="Segoe UI"/>
                        </a:defRPr>
                      </a:pPr>
                      <a:r>
                        <a:t>Delivers up to 20× faster training than conventional GBDT with identical predictive accuracy</a:t>
                      </a:r>
                    </a:p>
                  </a:txBody>
                  <a:tcPr marL="91440" marR="91440" marT="73152" marB="73152">
                    <a:solidFill>
                      <a:srgbClr val="F8FAFC"/>
                    </a:solidFill>
                  </a:tcPr>
                </a:tc>
              </a:tr>
              <a:tr h="1028700">
                <a:tc>
                  <a:txBody>
                    <a:bodyPr/>
                    <a:lstStyle/>
                    <a:p>
                      <a:pPr>
                        <a:defRPr sz="900">
                          <a:solidFill>
                            <a:srgbClr val="334155"/>
                          </a:solidFill>
                          <a:latin typeface="Segoe UI"/>
                        </a:defRPr>
                      </a:pPr>
                      <a:r>
                        <a:t>Lundberg &amp; Lee (2017)</a:t>
                      </a:r>
                    </a:p>
                    <a:p>
                      <a:r>
                        <a:t>[Proc. NeurIPS] [6]</a:t>
                      </a:r>
                    </a:p>
                  </a:txBody>
                  <a:tcPr marL="91440" marR="91440" marT="73152" marB="73152">
                    <a:solidFill>
                      <a:srgbClr val="FFFFFF"/>
                    </a:solidFill>
                  </a:tcPr>
                </a:tc>
                <a:tc>
                  <a:txBody>
                    <a:bodyPr/>
                    <a:lstStyle/>
                    <a:p>
                      <a:pPr>
                        <a:defRPr sz="900">
                          <a:solidFill>
                            <a:srgbClr val="334155"/>
                          </a:solidFill>
                          <a:latin typeface="Segoe UI"/>
                        </a:defRPr>
                      </a:pPr>
                      <a:r>
                        <a:t>Provide unified local model interpretability</a:t>
                      </a:r>
                    </a:p>
                  </a:txBody>
                  <a:tcPr marL="91440" marR="91440" marT="73152" marB="73152">
                    <a:solidFill>
                      <a:srgbClr val="FFFFFF"/>
                    </a:solidFill>
                  </a:tcPr>
                </a:tc>
                <a:tc>
                  <a:txBody>
                    <a:bodyPr/>
                    <a:lstStyle/>
                    <a:p>
                      <a:pPr>
                        <a:defRPr sz="900">
                          <a:solidFill>
                            <a:srgbClr val="334155"/>
                          </a:solidFill>
                          <a:latin typeface="Segoe UI"/>
                        </a:defRPr>
                      </a:pPr>
                      <a:r>
                        <a:t>SHAP: Additive feature attributions based on game-theoretic Shapley values</a:t>
                      </a:r>
                    </a:p>
                  </a:txBody>
                  <a:tcPr marL="91440" marR="91440" marT="73152" marB="73152">
                    <a:solidFill>
                      <a:srgbClr val="FFFFFF"/>
                    </a:solidFill>
                  </a:tcPr>
                </a:tc>
                <a:tc>
                  <a:txBody>
                    <a:bodyPr/>
                    <a:lstStyle/>
                    <a:p>
                      <a:pPr>
                        <a:defRPr sz="900">
                          <a:solidFill>
                            <a:srgbClr val="334155"/>
                          </a:solidFill>
                          <a:latin typeface="Segoe UI"/>
                        </a:defRPr>
                      </a:pPr>
                      <a:r>
                        <a:t>Pro: Mathematically consistent local explanations</a:t>
                      </a:r>
                    </a:p>
                    <a:p>
                      <a:r>
                        <a:t>Con: High computation for arbitrary models</a:t>
                      </a:r>
                    </a:p>
                  </a:txBody>
                  <a:tcPr marL="91440" marR="91440" marT="73152" marB="73152">
                    <a:solidFill>
                      <a:srgbClr val="FFFFFF"/>
                    </a:solidFill>
                  </a:tcPr>
                </a:tc>
                <a:tc>
                  <a:txBody>
                    <a:bodyPr/>
                    <a:lstStyle/>
                    <a:p>
                      <a:pPr>
                        <a:defRPr sz="900">
                          <a:solidFill>
                            <a:srgbClr val="334155"/>
                          </a:solidFill>
                          <a:latin typeface="Segoe UI"/>
                        </a:defRPr>
                      </a:pPr>
                      <a:r>
                        <a:t>Tree-SHAP achieves polynomial-time exact feature attributions for decision tree ensembles</a:t>
                      </a:r>
                    </a:p>
                  </a:txBody>
                  <a:tcPr marL="91440" marR="91440" marT="73152" marB="73152">
                    <a:solidFill>
                      <a:srgbClr val="FFFFFF"/>
                    </a:solidFill>
                  </a:tcPr>
                </a:tc>
              </a:tr>
              <a:tr h="1028700">
                <a:tc>
                  <a:txBody>
                    <a:bodyPr/>
                    <a:lstStyle/>
                    <a:p>
                      <a:pPr>
                        <a:defRPr sz="900">
                          <a:solidFill>
                            <a:srgbClr val="334155"/>
                          </a:solidFill>
                          <a:latin typeface="Segoe UI"/>
                        </a:defRPr>
                      </a:pPr>
                      <a:r>
                        <a:t>Platt (1999)</a:t>
                      </a:r>
                    </a:p>
                    <a:p>
                      <a:r>
                        <a:t>[Adv. Large Margin] [7]</a:t>
                      </a:r>
                    </a:p>
                  </a:txBody>
                  <a:tcPr marL="91440" marR="91440" marT="73152" marB="73152">
                    <a:solidFill>
                      <a:srgbClr val="F8FAFC"/>
                    </a:solidFill>
                  </a:tcPr>
                </a:tc>
                <a:tc>
                  <a:txBody>
                    <a:bodyPr/>
                    <a:lstStyle/>
                    <a:p>
                      <a:pPr>
                        <a:defRPr sz="900">
                          <a:solidFill>
                            <a:srgbClr val="334155"/>
                          </a:solidFill>
                          <a:latin typeface="Segoe UI"/>
                        </a:defRPr>
                      </a:pPr>
                      <a:r>
                        <a:t>Calibrate uncalibrated classifier outputs into true probabilities</a:t>
                      </a:r>
                    </a:p>
                  </a:txBody>
                  <a:tcPr marL="91440" marR="91440" marT="73152" marB="73152">
                    <a:solidFill>
                      <a:srgbClr val="F8FAFC"/>
                    </a:solidFill>
                  </a:tcPr>
                </a:tc>
                <a:tc>
                  <a:txBody>
                    <a:bodyPr/>
                    <a:lstStyle/>
                    <a:p>
                      <a:pPr>
                        <a:defRPr sz="900">
                          <a:solidFill>
                            <a:srgbClr val="334155"/>
                          </a:solidFill>
                          <a:latin typeface="Segoe UI"/>
                        </a:defRPr>
                      </a:pPr>
                      <a:r>
                        <a:t>Sigmoid (Platt) scaling fitted via maximum likelihood on held-out validation predictions</a:t>
                      </a:r>
                    </a:p>
                  </a:txBody>
                  <a:tcPr marL="91440" marR="91440" marT="73152" marB="73152">
                    <a:solidFill>
                      <a:srgbClr val="F8FAFC"/>
                    </a:solidFill>
                  </a:tcPr>
                </a:tc>
                <a:tc>
                  <a:txBody>
                    <a:bodyPr/>
                    <a:lstStyle/>
                    <a:p>
                      <a:pPr>
                        <a:defRPr sz="900">
                          <a:solidFill>
                            <a:srgbClr val="334155"/>
                          </a:solidFill>
                          <a:latin typeface="Segoe UI"/>
                        </a:defRPr>
                      </a:pPr>
                      <a:r>
                        <a:t>Pro: Low complexity, prevents overconfidence</a:t>
                      </a:r>
                    </a:p>
                    <a:p>
                      <a:r>
                        <a:t>Con: Assumes monotonic sigmoid distortion</a:t>
                      </a:r>
                    </a:p>
                  </a:txBody>
                  <a:tcPr marL="91440" marR="91440" marT="73152" marB="73152">
                    <a:solidFill>
                      <a:srgbClr val="F8FAFC"/>
                    </a:solidFill>
                  </a:tcPr>
                </a:tc>
                <a:tc>
                  <a:txBody>
                    <a:bodyPr/>
                    <a:lstStyle/>
                    <a:p>
                      <a:pPr>
                        <a:defRPr sz="900">
                          <a:solidFill>
                            <a:srgbClr val="334155"/>
                          </a:solidFill>
                          <a:latin typeface="Segoe UI"/>
                        </a:defRPr>
                      </a:pPr>
                      <a:r>
                        <a:t>Transforms decision margins into well-calibrated posterior default probabilities</a:t>
                      </a:r>
                    </a:p>
                  </a:txBody>
                  <a:tcPr marL="91440" marR="91440" marT="73152" marB="73152">
                    <a:solidFill>
                      <a:srgbClr val="F8FAFC"/>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84048"/>
            <a:ext cx="10728655" cy="274320"/>
          </a:xfrm>
          <a:prstGeom prst="rect">
            <a:avLst/>
          </a:prstGeom>
          <a:noFill/>
        </p:spPr>
        <p:txBody>
          <a:bodyPr wrap="none">
            <a:spAutoFit/>
          </a:bodyPr>
          <a:lstStyle/>
          <a:p>
            <a:pPr>
              <a:defRPr sz="950" b="1">
                <a:solidFill>
                  <a:srgbClr val="2563EB"/>
                </a:solidFill>
                <a:latin typeface="Segoe UI"/>
              </a:defRPr>
            </a:pPr>
            <a:r>
              <a:t>PROBLEM FORMULATION · RESEARCH JUSTIFICATION</a:t>
            </a:r>
          </a:p>
        </p:txBody>
      </p:sp>
      <p:sp>
        <p:nvSpPr>
          <p:cNvPr id="3" name="TextBox 2"/>
          <p:cNvSpPr txBox="1"/>
          <p:nvPr/>
        </p:nvSpPr>
        <p:spPr>
          <a:xfrm>
            <a:off x="731520" y="658368"/>
            <a:ext cx="10728655" cy="502920"/>
          </a:xfrm>
          <a:prstGeom prst="rect">
            <a:avLst/>
          </a:prstGeom>
          <a:noFill/>
        </p:spPr>
        <p:txBody>
          <a:bodyPr wrap="none">
            <a:spAutoFit/>
          </a:bodyPr>
          <a:lstStyle/>
          <a:p>
            <a:pPr>
              <a:defRPr sz="2200" b="1">
                <a:solidFill>
                  <a:srgbClr val="0F172A"/>
                </a:solidFill>
                <a:latin typeface="Segoe UI"/>
              </a:defRPr>
            </a:pPr>
            <a:r>
              <a:t>Critical Research Gaps in Contemporary Credit Systems</a:t>
            </a:r>
          </a:p>
        </p:txBody>
      </p:sp>
      <p:sp>
        <p:nvSpPr>
          <p:cNvPr id="4" name="Rectangle 3"/>
          <p:cNvSpPr/>
          <p:nvPr/>
        </p:nvSpPr>
        <p:spPr>
          <a:xfrm>
            <a:off x="731520" y="1207008"/>
            <a:ext cx="10728655" cy="13716"/>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46520"/>
            <a:ext cx="2743200" cy="274320"/>
          </a:xfrm>
          <a:prstGeom prst="rect">
            <a:avLst/>
          </a:prstGeom>
          <a:noFill/>
        </p:spPr>
        <p:txBody>
          <a:bodyPr wrap="none">
            <a:spAutoFit/>
          </a:bodyPr>
          <a:lstStyle/>
          <a:p>
            <a:pPr>
              <a:defRPr sz="900">
                <a:solidFill>
                  <a:srgbClr val="64748B"/>
                </a:solidFill>
                <a:latin typeface="Segoe UI"/>
              </a:defRPr>
            </a:pPr>
            <a:r>
              <a:t>05/10/2026 · Project Review</a:t>
            </a:r>
          </a:p>
        </p:txBody>
      </p:sp>
      <p:sp>
        <p:nvSpPr>
          <p:cNvPr id="6" name="TextBox 5"/>
          <p:cNvSpPr txBox="1"/>
          <p:nvPr/>
        </p:nvSpPr>
        <p:spPr>
          <a:xfrm>
            <a:off x="3657600" y="6446520"/>
            <a:ext cx="4876495" cy="274320"/>
          </a:xfrm>
          <a:prstGeom prst="rect">
            <a:avLst/>
          </a:prstGeom>
          <a:noFill/>
        </p:spPr>
        <p:txBody>
          <a:bodyPr wrap="none">
            <a:spAutoFit/>
          </a:bodyPr>
          <a:lstStyle/>
          <a:p>
            <a:pPr algn="ctr">
              <a:defRPr sz="900">
                <a:solidFill>
                  <a:srgbClr val="64748B"/>
                </a:solidFill>
                <a:latin typeface="Segoe UI"/>
              </a:defRPr>
            </a:pPr>
            <a:r>
              <a:t>BCSE497J · Behavioral Credit Decision Support System · SCOPE</a:t>
            </a:r>
          </a:p>
        </p:txBody>
      </p:sp>
      <p:sp>
        <p:nvSpPr>
          <p:cNvPr id="7" name="TextBox 6"/>
          <p:cNvSpPr txBox="1"/>
          <p:nvPr/>
        </p:nvSpPr>
        <p:spPr>
          <a:xfrm>
            <a:off x="8716975" y="6446520"/>
            <a:ext cx="2743200" cy="274320"/>
          </a:xfrm>
          <a:prstGeom prst="rect">
            <a:avLst/>
          </a:prstGeom>
          <a:noFill/>
        </p:spPr>
        <p:txBody>
          <a:bodyPr wrap="none">
            <a:spAutoFit/>
          </a:bodyPr>
          <a:lstStyle/>
          <a:p>
            <a:pPr algn="r">
              <a:defRPr sz="900" b="1">
                <a:solidFill>
                  <a:srgbClr val="64748B"/>
                </a:solidFill>
                <a:latin typeface="Segoe UI"/>
              </a:defRPr>
            </a:pPr>
            <a:r>
              <a:t>7 / 17</a:t>
            </a:r>
          </a:p>
        </p:txBody>
      </p:sp>
      <p:sp>
        <p:nvSpPr>
          <p:cNvPr id="8" name="Rounded Rectangle 7"/>
          <p:cNvSpPr/>
          <p:nvPr/>
        </p:nvSpPr>
        <p:spPr>
          <a:xfrm>
            <a:off x="731520" y="1417320"/>
            <a:ext cx="5257800" cy="2331720"/>
          </a:xfrm>
          <a:prstGeom prst="round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54480"/>
            <a:ext cx="4892040" cy="2057400"/>
          </a:xfrm>
          <a:prstGeom prst="rect">
            <a:avLst/>
          </a:prstGeom>
          <a:noFill/>
        </p:spPr>
        <p:txBody>
          <a:bodyPr wrap="square">
            <a:spAutoFit/>
          </a:bodyPr>
          <a:lstStyle/>
          <a:p>
            <a:pPr>
              <a:defRPr sz="1100" b="1">
                <a:solidFill>
                  <a:srgbClr val="0F172A"/>
                </a:solidFill>
                <a:latin typeface="Segoe UI"/>
              </a:defRPr>
            </a:pPr>
            <a:r>
              <a:t>GAP 01: CASH-FLOW LIQUIDITY UNDER-UTILIZATION</a:t>
            </a:r>
          </a:p>
          <a:p>
            <a:pPr>
              <a:spcBef>
                <a:spcPts val="400"/>
              </a:spcBef>
              <a:defRPr sz="950">
                <a:solidFill>
                  <a:srgbClr val="334155"/>
                </a:solidFill>
                <a:latin typeface="Segoe UI"/>
              </a:defRPr>
            </a:pPr>
            <a:r>
              <a:t>Traditional bureau scores (e.g. CIBIL, FICO) evaluate static debt repayment histories, remaining blind to high-frequency monthly income consistency, volatile expense spikes, and intra-month liquidity cushions.</a:t>
            </a:r>
          </a:p>
          <a:p>
            <a:pPr>
              <a:spcBef>
                <a:spcPts val="500"/>
              </a:spcBef>
              <a:defRPr sz="950" b="1">
                <a:solidFill>
                  <a:srgbClr val="2563EB"/>
                </a:solidFill>
                <a:latin typeface="Segoe UI"/>
              </a:defRPr>
            </a:pPr>
            <a:r>
              <a:t>💡  Our Solution: Ingests 6+ months of bank statements to extract 23+ granular behavioral features.</a:t>
            </a:r>
          </a:p>
        </p:txBody>
      </p:sp>
      <p:sp>
        <p:nvSpPr>
          <p:cNvPr id="10" name="Rounded Rectangle 9"/>
          <p:cNvSpPr/>
          <p:nvPr/>
        </p:nvSpPr>
        <p:spPr>
          <a:xfrm>
            <a:off x="6202375" y="1417320"/>
            <a:ext cx="5257800" cy="2331720"/>
          </a:xfrm>
          <a:prstGeom prst="round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85255" y="1554480"/>
            <a:ext cx="4892040" cy="2057400"/>
          </a:xfrm>
          <a:prstGeom prst="rect">
            <a:avLst/>
          </a:prstGeom>
          <a:noFill/>
        </p:spPr>
        <p:txBody>
          <a:bodyPr wrap="square">
            <a:spAutoFit/>
          </a:bodyPr>
          <a:lstStyle/>
          <a:p>
            <a:pPr>
              <a:defRPr sz="1100" b="1">
                <a:solidFill>
                  <a:srgbClr val="D97706"/>
                </a:solidFill>
                <a:latin typeface="Segoe UI"/>
              </a:defRPr>
            </a:pPr>
            <a:r>
              <a:t>GAP 02: UNSUPERVISED HEURISTIC SCORECARD DISCONNECT</a:t>
            </a:r>
          </a:p>
          <a:p>
            <a:pPr>
              <a:spcBef>
                <a:spcPts val="400"/>
              </a:spcBef>
              <a:defRPr sz="950">
                <a:solidFill>
                  <a:srgbClr val="334155"/>
                </a:solidFill>
                <a:latin typeface="Segoe UI"/>
              </a:defRPr>
            </a:pPr>
            <a:r>
              <a:t>Commercial statement analyzers rely on arbitrary 0–100 heuristic scoring point systems without mathematical grounding or empirical calibration against actual borrower loan default outcomes.</a:t>
            </a:r>
          </a:p>
          <a:p>
            <a:pPr>
              <a:spcBef>
                <a:spcPts val="500"/>
              </a:spcBef>
              <a:defRPr sz="950" b="1">
                <a:solidFill>
                  <a:srgbClr val="2563EB"/>
                </a:solidFill>
                <a:latin typeface="Segoe UI"/>
              </a:defRPr>
            </a:pPr>
            <a:r>
              <a:t>💡  Our Solution: Engineers a 15-dimensional bridge linking statement features to 30,000 UCI default outcomes.</a:t>
            </a:r>
          </a:p>
        </p:txBody>
      </p:sp>
      <p:sp>
        <p:nvSpPr>
          <p:cNvPr id="12" name="Rounded Rectangle 11"/>
          <p:cNvSpPr/>
          <p:nvPr/>
        </p:nvSpPr>
        <p:spPr>
          <a:xfrm>
            <a:off x="731520" y="3931920"/>
            <a:ext cx="5257800" cy="2331720"/>
          </a:xfrm>
          <a:prstGeom prst="round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069080"/>
            <a:ext cx="4892040" cy="2057400"/>
          </a:xfrm>
          <a:prstGeom prst="rect">
            <a:avLst/>
          </a:prstGeom>
          <a:noFill/>
        </p:spPr>
        <p:txBody>
          <a:bodyPr wrap="square">
            <a:spAutoFit/>
          </a:bodyPr>
          <a:lstStyle/>
          <a:p>
            <a:pPr>
              <a:defRPr sz="1100" b="1">
                <a:solidFill>
                  <a:srgbClr val="DC2626"/>
                </a:solidFill>
                <a:latin typeface="Segoe UI"/>
              </a:defRPr>
            </a:pPr>
            <a:r>
              <a:t>GAP 03: UNDERWRITER EXPLAINABILITY GAP (BLACK-BOX OPACITY)</a:t>
            </a:r>
          </a:p>
          <a:p>
            <a:pPr>
              <a:spcBef>
                <a:spcPts val="400"/>
              </a:spcBef>
              <a:defRPr sz="950">
                <a:solidFill>
                  <a:srgbClr val="334155"/>
                </a:solidFill>
                <a:latin typeface="Segoe UI"/>
              </a:defRPr>
            </a:pPr>
            <a:r>
              <a:t>Credit underwriters and regulatory authorities reject complex black-box machine learning predictions without local, verifiable feature attributions and mathematically calibrated probabilities.</a:t>
            </a:r>
          </a:p>
          <a:p>
            <a:pPr>
              <a:spcBef>
                <a:spcPts val="500"/>
              </a:spcBef>
              <a:defRPr sz="950" b="1">
                <a:solidFill>
                  <a:srgbClr val="2563EB"/>
                </a:solidFill>
                <a:latin typeface="Segoe UI"/>
              </a:defRPr>
            </a:pPr>
            <a:r>
              <a:t>💡  Our Solution: Deploys exact Tree-SHAP Shapley attributions and Platt probability calibration.</a:t>
            </a:r>
          </a:p>
        </p:txBody>
      </p:sp>
      <p:sp>
        <p:nvSpPr>
          <p:cNvPr id="14" name="Rounded Rectangle 13"/>
          <p:cNvSpPr/>
          <p:nvPr/>
        </p:nvSpPr>
        <p:spPr>
          <a:xfrm>
            <a:off x="6202375" y="3931920"/>
            <a:ext cx="5257800" cy="2331720"/>
          </a:xfrm>
          <a:prstGeom prst="round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85255" y="4069080"/>
            <a:ext cx="4892040" cy="2057400"/>
          </a:xfrm>
          <a:prstGeom prst="rect">
            <a:avLst/>
          </a:prstGeom>
          <a:noFill/>
        </p:spPr>
        <p:txBody>
          <a:bodyPr wrap="square">
            <a:spAutoFit/>
          </a:bodyPr>
          <a:lstStyle/>
          <a:p>
            <a:pPr>
              <a:defRPr sz="1100" b="1">
                <a:solidFill>
                  <a:srgbClr val="0F766E"/>
                </a:solidFill>
                <a:latin typeface="Segoe UI"/>
              </a:defRPr>
            </a:pPr>
            <a:r>
              <a:t>GAP 04: AUDIT TAMPER VULNERABILITY &amp; PRIVACY CONFLICT</a:t>
            </a:r>
          </a:p>
          <a:p>
            <a:pPr>
              <a:spcBef>
                <a:spcPts val="400"/>
              </a:spcBef>
              <a:defRPr sz="950">
                <a:solidFill>
                  <a:srgbClr val="334155"/>
                </a:solidFill>
                <a:latin typeface="Segoe UI"/>
              </a:defRPr>
            </a:pPr>
            <a:r>
              <a:t>Standard database case logs are vulnerable to administrator tampering. Furthermore, statutory 'right to be forgotten' erasures under DPDP Act 2023 break naive cryptographic hash chains.</a:t>
            </a:r>
          </a:p>
          <a:p>
            <a:pPr>
              <a:spcBef>
                <a:spcPts val="500"/>
              </a:spcBef>
              <a:defRPr sz="950" b="1">
                <a:solidFill>
                  <a:srgbClr val="2563EB"/>
                </a:solidFill>
                <a:latin typeface="Segoe UI"/>
              </a:defRPr>
            </a:pPr>
            <a:r>
              <a:t>💡  Our Solution: Immutable forward SHA-256 hash chains with external filesystem anchor and tombstone erasure.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84048"/>
            <a:ext cx="10728655" cy="274320"/>
          </a:xfrm>
          <a:prstGeom prst="rect">
            <a:avLst/>
          </a:prstGeom>
          <a:noFill/>
        </p:spPr>
        <p:txBody>
          <a:bodyPr wrap="none">
            <a:spAutoFit/>
          </a:bodyPr>
          <a:lstStyle/>
          <a:p>
            <a:pPr>
              <a:defRPr sz="950" b="1">
                <a:solidFill>
                  <a:srgbClr val="2563EB"/>
                </a:solidFill>
                <a:latin typeface="Segoe UI"/>
              </a:defRPr>
            </a:pPr>
            <a:r>
              <a:t>PROJECT SCOPE · ALIGNMENT &amp; TARGETS</a:t>
            </a:r>
          </a:p>
        </p:txBody>
      </p:sp>
      <p:sp>
        <p:nvSpPr>
          <p:cNvPr id="3" name="TextBox 2"/>
          <p:cNvSpPr txBox="1"/>
          <p:nvPr/>
        </p:nvSpPr>
        <p:spPr>
          <a:xfrm>
            <a:off x="731520" y="658368"/>
            <a:ext cx="10728655" cy="502920"/>
          </a:xfrm>
          <a:prstGeom prst="rect">
            <a:avLst/>
          </a:prstGeom>
          <a:noFill/>
        </p:spPr>
        <p:txBody>
          <a:bodyPr wrap="none">
            <a:spAutoFit/>
          </a:bodyPr>
          <a:lstStyle/>
          <a:p>
            <a:pPr>
              <a:defRPr sz="2200" b="1">
                <a:solidFill>
                  <a:srgbClr val="0F172A"/>
                </a:solidFill>
                <a:latin typeface="Segoe UI"/>
              </a:defRPr>
            </a:pPr>
            <a:r>
              <a:t>Engineering Objectives &amp; Sustainable Development Goals</a:t>
            </a:r>
          </a:p>
        </p:txBody>
      </p:sp>
      <p:sp>
        <p:nvSpPr>
          <p:cNvPr id="4" name="Rectangle 3"/>
          <p:cNvSpPr/>
          <p:nvPr/>
        </p:nvSpPr>
        <p:spPr>
          <a:xfrm>
            <a:off x="731520" y="1207008"/>
            <a:ext cx="10728655" cy="13716"/>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46520"/>
            <a:ext cx="2743200" cy="274320"/>
          </a:xfrm>
          <a:prstGeom prst="rect">
            <a:avLst/>
          </a:prstGeom>
          <a:noFill/>
        </p:spPr>
        <p:txBody>
          <a:bodyPr wrap="none">
            <a:spAutoFit/>
          </a:bodyPr>
          <a:lstStyle/>
          <a:p>
            <a:pPr>
              <a:defRPr sz="900">
                <a:solidFill>
                  <a:srgbClr val="64748B"/>
                </a:solidFill>
                <a:latin typeface="Segoe UI"/>
              </a:defRPr>
            </a:pPr>
            <a:r>
              <a:t>05/10/2026 · Project Review</a:t>
            </a:r>
          </a:p>
        </p:txBody>
      </p:sp>
      <p:sp>
        <p:nvSpPr>
          <p:cNvPr id="6" name="TextBox 5"/>
          <p:cNvSpPr txBox="1"/>
          <p:nvPr/>
        </p:nvSpPr>
        <p:spPr>
          <a:xfrm>
            <a:off x="3657600" y="6446520"/>
            <a:ext cx="4876495" cy="274320"/>
          </a:xfrm>
          <a:prstGeom prst="rect">
            <a:avLst/>
          </a:prstGeom>
          <a:noFill/>
        </p:spPr>
        <p:txBody>
          <a:bodyPr wrap="none">
            <a:spAutoFit/>
          </a:bodyPr>
          <a:lstStyle/>
          <a:p>
            <a:pPr algn="ctr">
              <a:defRPr sz="900">
                <a:solidFill>
                  <a:srgbClr val="64748B"/>
                </a:solidFill>
                <a:latin typeface="Segoe UI"/>
              </a:defRPr>
            </a:pPr>
            <a:r>
              <a:t>BCSE497J · Behavioral Credit Decision Support System · SCOPE</a:t>
            </a:r>
          </a:p>
        </p:txBody>
      </p:sp>
      <p:sp>
        <p:nvSpPr>
          <p:cNvPr id="7" name="TextBox 6"/>
          <p:cNvSpPr txBox="1"/>
          <p:nvPr/>
        </p:nvSpPr>
        <p:spPr>
          <a:xfrm>
            <a:off x="8716975" y="6446520"/>
            <a:ext cx="2743200" cy="274320"/>
          </a:xfrm>
          <a:prstGeom prst="rect">
            <a:avLst/>
          </a:prstGeom>
          <a:noFill/>
        </p:spPr>
        <p:txBody>
          <a:bodyPr wrap="none">
            <a:spAutoFit/>
          </a:bodyPr>
          <a:lstStyle/>
          <a:p>
            <a:pPr algn="r">
              <a:defRPr sz="900" b="1">
                <a:solidFill>
                  <a:srgbClr val="64748B"/>
                </a:solidFill>
                <a:latin typeface="Segoe UI"/>
              </a:defRPr>
            </a:pPr>
            <a:r>
              <a:t>8 / 17</a:t>
            </a:r>
          </a:p>
        </p:txBody>
      </p:sp>
      <p:sp>
        <p:nvSpPr>
          <p:cNvPr id="8" name="Rounded Rectangle 7"/>
          <p:cNvSpPr/>
          <p:nvPr/>
        </p:nvSpPr>
        <p:spPr>
          <a:xfrm>
            <a:off x="731520" y="1371600"/>
            <a:ext cx="6400800" cy="1115568"/>
          </a:xfrm>
          <a:prstGeom prst="round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463040"/>
            <a:ext cx="6035040" cy="932688"/>
          </a:xfrm>
          <a:prstGeom prst="rect">
            <a:avLst/>
          </a:prstGeom>
          <a:noFill/>
        </p:spPr>
        <p:txBody>
          <a:bodyPr wrap="square">
            <a:spAutoFit/>
          </a:bodyPr>
          <a:lstStyle/>
          <a:p>
            <a:pPr>
              <a:defRPr sz="1100" b="1">
                <a:solidFill>
                  <a:srgbClr val="2563EB"/>
                </a:solidFill>
                <a:latin typeface="Segoe UI"/>
              </a:defRPr>
            </a:pPr>
            <a:r>
              <a:t>OBJECTIVE 1: INGESTION &amp; NLP CATEGORISATION</a:t>
            </a:r>
          </a:p>
          <a:p>
            <a:pPr>
              <a:spcBef>
                <a:spcPts val="300"/>
              </a:spcBef>
              <a:defRPr sz="950">
                <a:solidFill>
                  <a:srgbClr val="334155"/>
                </a:solidFill>
                <a:latin typeface="Segoe UI"/>
              </a:defRPr>
            </a:pPr>
            <a:r>
              <a:t>Develop multi-bank parsers (CSV/PDF) for 5 Indian banks with regex PII masking and a 100% 10-fold CV Tier 1 NLP transaction classifier across 18 classes.</a:t>
            </a:r>
          </a:p>
        </p:txBody>
      </p:sp>
      <p:sp>
        <p:nvSpPr>
          <p:cNvPr id="10" name="Rounded Rectangle 9"/>
          <p:cNvSpPr/>
          <p:nvPr/>
        </p:nvSpPr>
        <p:spPr>
          <a:xfrm>
            <a:off x="731520" y="2615184"/>
            <a:ext cx="6400800" cy="1115568"/>
          </a:xfrm>
          <a:prstGeom prst="round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2706624"/>
            <a:ext cx="6035040" cy="932688"/>
          </a:xfrm>
          <a:prstGeom prst="rect">
            <a:avLst/>
          </a:prstGeom>
          <a:noFill/>
        </p:spPr>
        <p:txBody>
          <a:bodyPr wrap="square">
            <a:spAutoFit/>
          </a:bodyPr>
          <a:lstStyle/>
          <a:p>
            <a:pPr>
              <a:defRPr sz="1100" b="1">
                <a:solidFill>
                  <a:srgbClr val="2563EB"/>
                </a:solidFill>
                <a:latin typeface="Segoe UI"/>
              </a:defRPr>
            </a:pPr>
            <a:r>
              <a:t>OBJECTIVE 2: 15-DIMENSIONAL BRIDGE &amp; BEHAVIORAL ML</a:t>
            </a:r>
          </a:p>
          <a:p>
            <a:pPr>
              <a:spcBef>
                <a:spcPts val="300"/>
              </a:spcBef>
              <a:defRPr sz="950">
                <a:solidFill>
                  <a:srgbClr val="334155"/>
                </a:solidFill>
                <a:latin typeface="Segoe UI"/>
              </a:defRPr>
            </a:pPr>
            <a:r>
              <a:t>Engineer an empirical 15-dimensional bridge linking statement features to 30,000 UCI credit default records; train a Platt-calibrated Random Forest (ROC-AUC 0.7725).</a:t>
            </a:r>
          </a:p>
        </p:txBody>
      </p:sp>
      <p:sp>
        <p:nvSpPr>
          <p:cNvPr id="12" name="Rounded Rectangle 11"/>
          <p:cNvSpPr/>
          <p:nvPr/>
        </p:nvSpPr>
        <p:spPr>
          <a:xfrm>
            <a:off x="731520" y="3858768"/>
            <a:ext cx="6400800" cy="1115568"/>
          </a:xfrm>
          <a:prstGeom prst="round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950208"/>
            <a:ext cx="6035040" cy="932688"/>
          </a:xfrm>
          <a:prstGeom prst="rect">
            <a:avLst/>
          </a:prstGeom>
          <a:noFill/>
        </p:spPr>
        <p:txBody>
          <a:bodyPr wrap="square">
            <a:spAutoFit/>
          </a:bodyPr>
          <a:lstStyle/>
          <a:p>
            <a:pPr>
              <a:defRPr sz="1100" b="1">
                <a:solidFill>
                  <a:srgbClr val="2563EB"/>
                </a:solidFill>
                <a:latin typeface="Segoe UI"/>
              </a:defRPr>
            </a:pPr>
            <a:r>
              <a:t>OBJECTIVE 3: PILLAR 2 BUREAU BENCHMARK &amp; TREE-SHAP</a:t>
            </a:r>
          </a:p>
          <a:p>
            <a:pPr>
              <a:spcBef>
                <a:spcPts val="300"/>
              </a:spcBef>
              <a:defRPr sz="950">
                <a:solidFill>
                  <a:srgbClr val="334155"/>
                </a:solidFill>
                <a:latin typeface="Segoe UI"/>
              </a:defRPr>
            </a:pPr>
            <a:r>
              <a:t>Train and calibrate a LightGBM macro bureau benchmark on 196,806 records (ROC-AUC 0.7737) with exact local Tree-SHAP Shapley feature attributions.</a:t>
            </a:r>
          </a:p>
        </p:txBody>
      </p:sp>
      <p:sp>
        <p:nvSpPr>
          <p:cNvPr id="14" name="Rounded Rectangle 13"/>
          <p:cNvSpPr/>
          <p:nvPr/>
        </p:nvSpPr>
        <p:spPr>
          <a:xfrm>
            <a:off x="731520" y="5102352"/>
            <a:ext cx="6400800" cy="1115568"/>
          </a:xfrm>
          <a:prstGeom prst="round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5193792"/>
            <a:ext cx="6035040" cy="932688"/>
          </a:xfrm>
          <a:prstGeom prst="rect">
            <a:avLst/>
          </a:prstGeom>
          <a:noFill/>
        </p:spPr>
        <p:txBody>
          <a:bodyPr wrap="square">
            <a:spAutoFit/>
          </a:bodyPr>
          <a:lstStyle/>
          <a:p>
            <a:pPr>
              <a:defRPr sz="1100" b="1">
                <a:solidFill>
                  <a:srgbClr val="2563EB"/>
                </a:solidFill>
                <a:latin typeface="Segoe UI"/>
              </a:defRPr>
            </a:pPr>
            <a:r>
              <a:t>OBJECTIVE 4: 2×2 RISK MATRIX &amp; CRYPTOGRAPHIC AUDIT</a:t>
            </a:r>
          </a:p>
          <a:p>
            <a:pPr>
              <a:spcBef>
                <a:spcPts val="300"/>
              </a:spcBef>
              <a:defRPr sz="950">
                <a:solidFill>
                  <a:srgbClr val="334155"/>
                </a:solidFill>
                <a:latin typeface="Segoe UI"/>
              </a:defRPr>
            </a:pPr>
            <a:r>
              <a:t>Synthesize dual predictions into a 2×2 Risk Matrix with Isolation Forest anomaly overrides and an immutable SHA-256 hash-chain ledger with external anchor.</a:t>
            </a:r>
          </a:p>
        </p:txBody>
      </p:sp>
      <p:sp>
        <p:nvSpPr>
          <p:cNvPr id="16" name="Rounded Rectangle 15"/>
          <p:cNvSpPr/>
          <p:nvPr/>
        </p:nvSpPr>
        <p:spPr>
          <a:xfrm>
            <a:off x="7315200" y="1371600"/>
            <a:ext cx="4144975" cy="2331720"/>
          </a:xfrm>
          <a:prstGeom prst="round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79" y="1508760"/>
            <a:ext cx="2286000" cy="2011680"/>
          </a:xfrm>
          <a:prstGeom prst="rect">
            <a:avLst/>
          </a:prstGeom>
          <a:noFill/>
        </p:spPr>
        <p:txBody>
          <a:bodyPr wrap="square">
            <a:spAutoFit/>
          </a:bodyPr>
          <a:lstStyle/>
          <a:p>
            <a:pPr>
              <a:defRPr sz="1000" b="1">
                <a:solidFill>
                  <a:srgbClr val="059669"/>
                </a:solidFill>
                <a:latin typeface="Segoe UI"/>
              </a:defRPr>
            </a:pPr>
            <a:r>
              <a:t>SUSTAINABLE DEVELOPMENT GOALS</a:t>
            </a:r>
          </a:p>
          <a:p>
            <a:pPr>
              <a:spcBef>
                <a:spcPts val="300"/>
              </a:spcBef>
              <a:defRPr sz="950">
                <a:solidFill>
                  <a:srgbClr val="334155"/>
                </a:solidFill>
                <a:latin typeface="Segoe UI"/>
              </a:defRPr>
            </a:pPr>
            <a:r>
              <a:t>• SDG 8: Decent Work &amp; Economic Growth</a:t>
            </a:r>
          </a:p>
          <a:p>
            <a:pPr>
              <a:spcBef>
                <a:spcPts val="300"/>
              </a:spcBef>
              <a:defRPr sz="950">
                <a:solidFill>
                  <a:srgbClr val="334155"/>
                </a:solidFill>
                <a:latin typeface="Segoe UI"/>
              </a:defRPr>
            </a:pPr>
            <a:r>
              <a:t>• SDG 9: Industry, Innovation &amp; Infrastructure</a:t>
            </a:r>
          </a:p>
          <a:p>
            <a:pPr>
              <a:spcBef>
                <a:spcPts val="300"/>
              </a:spcBef>
              <a:defRPr sz="950">
                <a:solidFill>
                  <a:srgbClr val="334155"/>
                </a:solidFill>
                <a:latin typeface="Segoe UI"/>
              </a:defRPr>
            </a:pPr>
            <a:r>
              <a:t>• SDG 10: Reduced Inequalities</a:t>
            </a:r>
          </a:p>
        </p:txBody>
      </p:sp>
      <p:pic>
        <p:nvPicPr>
          <p:cNvPr id="18" name="Picture 17" descr="slide_8_Picture 7.jpg"/>
          <p:cNvPicPr>
            <a:picLocks noChangeAspect="1"/>
          </p:cNvPicPr>
          <p:nvPr/>
        </p:nvPicPr>
        <p:blipFill>
          <a:blip r:embed="rId2"/>
          <a:stretch>
            <a:fillRect/>
          </a:stretch>
        </p:blipFill>
        <p:spPr>
          <a:xfrm>
            <a:off x="9875520" y="1508760"/>
            <a:ext cx="1371600" cy="1097280"/>
          </a:xfrm>
          <a:prstGeom prst="rect">
            <a:avLst/>
          </a:prstGeom>
        </p:spPr>
      </p:pic>
      <p:sp>
        <p:nvSpPr>
          <p:cNvPr id="19" name="Rounded Rectangle 18"/>
          <p:cNvSpPr/>
          <p:nvPr/>
        </p:nvSpPr>
        <p:spPr>
          <a:xfrm>
            <a:off x="7315200" y="3886200"/>
            <a:ext cx="4144975" cy="2331720"/>
          </a:xfrm>
          <a:prstGeom prst="round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79" y="4023360"/>
            <a:ext cx="2286000" cy="2011680"/>
          </a:xfrm>
          <a:prstGeom prst="rect">
            <a:avLst/>
          </a:prstGeom>
          <a:noFill/>
        </p:spPr>
        <p:txBody>
          <a:bodyPr wrap="square">
            <a:spAutoFit/>
          </a:bodyPr>
          <a:lstStyle/>
          <a:p>
            <a:pPr>
              <a:defRPr sz="1000" b="1">
                <a:solidFill>
                  <a:srgbClr val="0F172A"/>
                </a:solidFill>
                <a:latin typeface="Segoe UI"/>
              </a:defRPr>
            </a:pPr>
            <a:r>
              <a:t>TARGET READINESS LEVEL: TRL 4</a:t>
            </a:r>
          </a:p>
          <a:p>
            <a:pPr>
              <a:spcBef>
                <a:spcPts val="300"/>
              </a:spcBef>
              <a:defRPr sz="950">
                <a:solidFill>
                  <a:srgbClr val="334155"/>
                </a:solidFill>
                <a:latin typeface="Segoe UI"/>
              </a:defRPr>
            </a:pPr>
            <a:r>
              <a:t>• Component &amp; pipeline validation in laboratory/cloud environment.</a:t>
            </a:r>
          </a:p>
          <a:p>
            <a:pPr>
              <a:spcBef>
                <a:spcPts val="300"/>
              </a:spcBef>
              <a:defRPr sz="950">
                <a:solidFill>
                  <a:srgbClr val="334155"/>
                </a:solidFill>
                <a:latin typeface="Segoe UI"/>
              </a:defRPr>
            </a:pPr>
            <a:r>
              <a:t>• Live deployed Streamlit prototype.</a:t>
            </a:r>
          </a:p>
          <a:p>
            <a:pPr>
              <a:spcBef>
                <a:spcPts val="300"/>
              </a:spcBef>
              <a:defRPr sz="950">
                <a:solidFill>
                  <a:srgbClr val="334155"/>
                </a:solidFill>
                <a:latin typeface="Segoe UI"/>
              </a:defRPr>
            </a:pPr>
            <a:r>
              <a:t>• 127 passing automated tests.</a:t>
            </a:r>
          </a:p>
          <a:p>
            <a:pPr>
              <a:spcBef>
                <a:spcPts val="300"/>
              </a:spcBef>
              <a:defRPr sz="950">
                <a:solidFill>
                  <a:srgbClr val="334155"/>
                </a:solidFill>
                <a:latin typeface="Segoe UI"/>
              </a:defRPr>
            </a:pPr>
            <a:r>
              <a:t>• Targeted Scopus conference publication.</a:t>
            </a:r>
          </a:p>
        </p:txBody>
      </p:sp>
      <p:pic>
        <p:nvPicPr>
          <p:cNvPr id="21" name="Picture 20" descr="slide_8_Picture 8.jpg"/>
          <p:cNvPicPr>
            <a:picLocks noChangeAspect="1"/>
          </p:cNvPicPr>
          <p:nvPr/>
        </p:nvPicPr>
        <p:blipFill>
          <a:blip r:embed="rId3"/>
          <a:stretch>
            <a:fillRect/>
          </a:stretch>
        </p:blipFill>
        <p:spPr>
          <a:xfrm>
            <a:off x="9875520" y="4023360"/>
            <a:ext cx="1371600" cy="1252728"/>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84048"/>
            <a:ext cx="10728655" cy="274320"/>
          </a:xfrm>
          <a:prstGeom prst="rect">
            <a:avLst/>
          </a:prstGeom>
          <a:noFill/>
        </p:spPr>
        <p:txBody>
          <a:bodyPr wrap="none">
            <a:spAutoFit/>
          </a:bodyPr>
          <a:lstStyle/>
          <a:p>
            <a:pPr>
              <a:defRPr sz="950" b="1">
                <a:solidFill>
                  <a:srgbClr val="2563EB"/>
                </a:solidFill>
                <a:latin typeface="Segoe UI"/>
              </a:defRPr>
            </a:pPr>
            <a:r>
              <a:t>SYSTEM DESIGN · PIPELINE TOPOLOGY</a:t>
            </a:r>
          </a:p>
        </p:txBody>
      </p:sp>
      <p:sp>
        <p:nvSpPr>
          <p:cNvPr id="3" name="TextBox 2"/>
          <p:cNvSpPr txBox="1"/>
          <p:nvPr/>
        </p:nvSpPr>
        <p:spPr>
          <a:xfrm>
            <a:off x="731520" y="658368"/>
            <a:ext cx="10728655" cy="502920"/>
          </a:xfrm>
          <a:prstGeom prst="rect">
            <a:avLst/>
          </a:prstGeom>
          <a:noFill/>
        </p:spPr>
        <p:txBody>
          <a:bodyPr wrap="none">
            <a:spAutoFit/>
          </a:bodyPr>
          <a:lstStyle/>
          <a:p>
            <a:pPr>
              <a:defRPr sz="2200" b="1">
                <a:solidFill>
                  <a:srgbClr val="0F172A"/>
                </a:solidFill>
                <a:latin typeface="Segoe UI"/>
              </a:defRPr>
            </a:pPr>
            <a:r>
              <a:t>Dual-Pillar End-to-End System Architecture</a:t>
            </a:r>
          </a:p>
        </p:txBody>
      </p:sp>
      <p:sp>
        <p:nvSpPr>
          <p:cNvPr id="4" name="Rectangle 3"/>
          <p:cNvSpPr/>
          <p:nvPr/>
        </p:nvSpPr>
        <p:spPr>
          <a:xfrm>
            <a:off x="731520" y="1207008"/>
            <a:ext cx="10728655" cy="13716"/>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46520"/>
            <a:ext cx="2743200" cy="274320"/>
          </a:xfrm>
          <a:prstGeom prst="rect">
            <a:avLst/>
          </a:prstGeom>
          <a:noFill/>
        </p:spPr>
        <p:txBody>
          <a:bodyPr wrap="none">
            <a:spAutoFit/>
          </a:bodyPr>
          <a:lstStyle/>
          <a:p>
            <a:pPr>
              <a:defRPr sz="900">
                <a:solidFill>
                  <a:srgbClr val="64748B"/>
                </a:solidFill>
                <a:latin typeface="Segoe UI"/>
              </a:defRPr>
            </a:pPr>
            <a:r>
              <a:t>05/10/2026 · Project Review</a:t>
            </a:r>
          </a:p>
        </p:txBody>
      </p:sp>
      <p:sp>
        <p:nvSpPr>
          <p:cNvPr id="6" name="TextBox 5"/>
          <p:cNvSpPr txBox="1"/>
          <p:nvPr/>
        </p:nvSpPr>
        <p:spPr>
          <a:xfrm>
            <a:off x="3657600" y="6446520"/>
            <a:ext cx="4876495" cy="274320"/>
          </a:xfrm>
          <a:prstGeom prst="rect">
            <a:avLst/>
          </a:prstGeom>
          <a:noFill/>
        </p:spPr>
        <p:txBody>
          <a:bodyPr wrap="none">
            <a:spAutoFit/>
          </a:bodyPr>
          <a:lstStyle/>
          <a:p>
            <a:pPr algn="ctr">
              <a:defRPr sz="900">
                <a:solidFill>
                  <a:srgbClr val="64748B"/>
                </a:solidFill>
                <a:latin typeface="Segoe UI"/>
              </a:defRPr>
            </a:pPr>
            <a:r>
              <a:t>BCSE497J · Behavioral Credit Decision Support System · SCOPE</a:t>
            </a:r>
          </a:p>
        </p:txBody>
      </p:sp>
      <p:sp>
        <p:nvSpPr>
          <p:cNvPr id="7" name="TextBox 6"/>
          <p:cNvSpPr txBox="1"/>
          <p:nvPr/>
        </p:nvSpPr>
        <p:spPr>
          <a:xfrm>
            <a:off x="8716975" y="6446520"/>
            <a:ext cx="2743200" cy="274320"/>
          </a:xfrm>
          <a:prstGeom prst="rect">
            <a:avLst/>
          </a:prstGeom>
          <a:noFill/>
        </p:spPr>
        <p:txBody>
          <a:bodyPr wrap="none">
            <a:spAutoFit/>
          </a:bodyPr>
          <a:lstStyle/>
          <a:p>
            <a:pPr algn="r">
              <a:defRPr sz="900" b="1">
                <a:solidFill>
                  <a:srgbClr val="64748B"/>
                </a:solidFill>
                <a:latin typeface="Segoe UI"/>
              </a:defRPr>
            </a:pPr>
            <a:r>
              <a:t>9 / 17</a:t>
            </a:r>
          </a:p>
        </p:txBody>
      </p:sp>
      <p:sp>
        <p:nvSpPr>
          <p:cNvPr id="8" name="Rounded Rectangle 7"/>
          <p:cNvSpPr/>
          <p:nvPr/>
        </p:nvSpPr>
        <p:spPr>
          <a:xfrm>
            <a:off x="731520" y="1371600"/>
            <a:ext cx="4389120" cy="4846320"/>
          </a:xfrm>
          <a:prstGeom prst="round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08760"/>
            <a:ext cx="4023360" cy="4572000"/>
          </a:xfrm>
          <a:prstGeom prst="rect">
            <a:avLst/>
          </a:prstGeom>
          <a:noFill/>
        </p:spPr>
        <p:txBody>
          <a:bodyPr wrap="square">
            <a:spAutoFit/>
          </a:bodyPr>
          <a:lstStyle/>
          <a:p>
            <a:pPr>
              <a:defRPr sz="1050" b="1">
                <a:solidFill>
                  <a:srgbClr val="2563EB"/>
                </a:solidFill>
                <a:latin typeface="Segoe UI"/>
              </a:defRPr>
            </a:pPr>
            <a:r>
              <a:t>TIER 1: STATEMENT INGESTION &amp; NLP</a:t>
            </a:r>
          </a:p>
          <a:p>
            <a:pPr>
              <a:spcBef>
                <a:spcPts val="300"/>
              </a:spcBef>
              <a:defRPr sz="950">
                <a:solidFill>
                  <a:srgbClr val="334155"/>
                </a:solidFill>
                <a:latin typeface="Segoe UI"/>
              </a:defRPr>
            </a:pPr>
            <a:r>
              <a:t>Ingests 5 Indian bank CSVs + PDFs. Applies regex PII redaction (PAN, Aadhaar). Classifies transactions into 18 categories using TF-IDF + Logistic Regression (100% 10-fold CV). Cross-checks salary slips with 15% tolerance.</a:t>
            </a:r>
          </a:p>
          <a:p>
            <a:pPr>
              <a:spcBef>
                <a:spcPts val="800"/>
              </a:spcBef>
              <a:defRPr sz="1050" b="1">
                <a:solidFill>
                  <a:srgbClr val="2563EB"/>
                </a:solidFill>
                <a:latin typeface="Segoe UI"/>
              </a:defRPr>
            </a:pPr>
            <a:r>
              <a:t>TIER 2: DUAL SUPERVISED ML INFERENCE</a:t>
            </a:r>
          </a:p>
          <a:p>
            <a:pPr>
              <a:spcBef>
                <a:spcPts val="300"/>
              </a:spcBef>
              <a:defRPr sz="950">
                <a:solidFill>
                  <a:srgbClr val="334155"/>
                </a:solidFill>
                <a:latin typeface="Segoe UI"/>
              </a:defRPr>
            </a:pPr>
            <a:r>
              <a:t>• Pillar 1 (Behavioral): 15-Dim Feature Bridge maps statement dynamics to Platt-calibrated Random Forest (ROC-AUC 0.7725, PR-AUC 0.5304).</a:t>
            </a:r>
            <a:br/>
            <a:r>
              <a:t>• Pillar 2 (Macro Bureau): Platt-calibrated LightGBM on 196k applicants (ROC-AUC 0.7737) with exact Tree-SHAP local explanations.</a:t>
            </a:r>
          </a:p>
          <a:p>
            <a:pPr>
              <a:spcBef>
                <a:spcPts val="800"/>
              </a:spcBef>
              <a:defRPr sz="1050" b="1">
                <a:solidFill>
                  <a:srgbClr val="2563EB"/>
                </a:solidFill>
                <a:latin typeface="Segoe UI"/>
              </a:defRPr>
            </a:pPr>
            <a:r>
              <a:t>TIER 3: DECISION MATRIX &amp; CRYPTOGRAPHIC AUDIT</a:t>
            </a:r>
          </a:p>
          <a:p>
            <a:pPr>
              <a:spcBef>
                <a:spcPts val="300"/>
              </a:spcBef>
              <a:defRPr sz="950">
                <a:solidFill>
                  <a:srgbClr val="334155"/>
                </a:solidFill>
                <a:latin typeface="Segoe UI"/>
              </a:defRPr>
            </a:pPr>
            <a:r>
              <a:t>Synthesizes dual probabilities into a 2×2 Risk Matrix. Isolation Forest flags distributional anomalies. Decision records persisted in SQLite forward SHA-256 hash chain with external filesystem anchor.</a:t>
            </a:r>
          </a:p>
        </p:txBody>
      </p:sp>
      <p:sp>
        <p:nvSpPr>
          <p:cNvPr id="10" name="Rounded Rectangle 9"/>
          <p:cNvSpPr/>
          <p:nvPr/>
        </p:nvSpPr>
        <p:spPr>
          <a:xfrm>
            <a:off x="5303520" y="1371600"/>
            <a:ext cx="6156655" cy="4846320"/>
          </a:xfrm>
          <a:prstGeom prst="roundRect">
            <a:avLst/>
          </a:prstGeom>
          <a:solidFill>
            <a:srgbClr val="FFFFFF"/>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fig_4_1_architecture.png"/>
          <p:cNvPicPr>
            <a:picLocks noChangeAspect="1"/>
          </p:cNvPicPr>
          <p:nvPr/>
        </p:nvPicPr>
        <p:blipFill>
          <a:blip r:embed="rId2"/>
          <a:stretch>
            <a:fillRect/>
          </a:stretch>
        </p:blipFill>
        <p:spPr>
          <a:xfrm>
            <a:off x="5394960" y="1463040"/>
            <a:ext cx="5973775" cy="466344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84048"/>
            <a:ext cx="10728655" cy="274320"/>
          </a:xfrm>
          <a:prstGeom prst="rect">
            <a:avLst/>
          </a:prstGeom>
          <a:noFill/>
        </p:spPr>
        <p:txBody>
          <a:bodyPr wrap="none">
            <a:spAutoFit/>
          </a:bodyPr>
          <a:lstStyle/>
          <a:p>
            <a:pPr>
              <a:defRPr sz="950" b="1">
                <a:solidFill>
                  <a:srgbClr val="2563EB"/>
                </a:solidFill>
                <a:latin typeface="Segoe UI"/>
              </a:defRPr>
            </a:pPr>
            <a:r>
              <a:t>DECISION SYNTHESIS · UNDERWRITING LOGIC</a:t>
            </a:r>
          </a:p>
        </p:txBody>
      </p:sp>
      <p:sp>
        <p:nvSpPr>
          <p:cNvPr id="3" name="TextBox 2"/>
          <p:cNvSpPr txBox="1"/>
          <p:nvPr/>
        </p:nvSpPr>
        <p:spPr>
          <a:xfrm>
            <a:off x="731520" y="658368"/>
            <a:ext cx="10728655" cy="502920"/>
          </a:xfrm>
          <a:prstGeom prst="rect">
            <a:avLst/>
          </a:prstGeom>
          <a:noFill/>
        </p:spPr>
        <p:txBody>
          <a:bodyPr wrap="none">
            <a:spAutoFit/>
          </a:bodyPr>
          <a:lstStyle/>
          <a:p>
            <a:pPr>
              <a:defRPr sz="2200" b="1">
                <a:solidFill>
                  <a:srgbClr val="0F172A"/>
                </a:solidFill>
                <a:latin typeface="Segoe UI"/>
              </a:defRPr>
            </a:pPr>
            <a:r>
              <a:t>Dual-Pillar 2×2 ML Risk Decision Matrix</a:t>
            </a:r>
          </a:p>
        </p:txBody>
      </p:sp>
      <p:sp>
        <p:nvSpPr>
          <p:cNvPr id="4" name="Rectangle 3"/>
          <p:cNvSpPr/>
          <p:nvPr/>
        </p:nvSpPr>
        <p:spPr>
          <a:xfrm>
            <a:off x="731520" y="1207008"/>
            <a:ext cx="10728655" cy="13716"/>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46520"/>
            <a:ext cx="2743200" cy="274320"/>
          </a:xfrm>
          <a:prstGeom prst="rect">
            <a:avLst/>
          </a:prstGeom>
          <a:noFill/>
        </p:spPr>
        <p:txBody>
          <a:bodyPr wrap="none">
            <a:spAutoFit/>
          </a:bodyPr>
          <a:lstStyle/>
          <a:p>
            <a:pPr>
              <a:defRPr sz="900">
                <a:solidFill>
                  <a:srgbClr val="64748B"/>
                </a:solidFill>
                <a:latin typeface="Segoe UI"/>
              </a:defRPr>
            </a:pPr>
            <a:r>
              <a:t>05/10/2026 · Project Review</a:t>
            </a:r>
          </a:p>
        </p:txBody>
      </p:sp>
      <p:sp>
        <p:nvSpPr>
          <p:cNvPr id="6" name="TextBox 5"/>
          <p:cNvSpPr txBox="1"/>
          <p:nvPr/>
        </p:nvSpPr>
        <p:spPr>
          <a:xfrm>
            <a:off x="3657600" y="6446520"/>
            <a:ext cx="4876495" cy="274320"/>
          </a:xfrm>
          <a:prstGeom prst="rect">
            <a:avLst/>
          </a:prstGeom>
          <a:noFill/>
        </p:spPr>
        <p:txBody>
          <a:bodyPr wrap="none">
            <a:spAutoFit/>
          </a:bodyPr>
          <a:lstStyle/>
          <a:p>
            <a:pPr algn="ctr">
              <a:defRPr sz="900">
                <a:solidFill>
                  <a:srgbClr val="64748B"/>
                </a:solidFill>
                <a:latin typeface="Segoe UI"/>
              </a:defRPr>
            </a:pPr>
            <a:r>
              <a:t>BCSE497J · Behavioral Credit Decision Support System · SCOPE</a:t>
            </a:r>
          </a:p>
        </p:txBody>
      </p:sp>
      <p:sp>
        <p:nvSpPr>
          <p:cNvPr id="7" name="TextBox 6"/>
          <p:cNvSpPr txBox="1"/>
          <p:nvPr/>
        </p:nvSpPr>
        <p:spPr>
          <a:xfrm>
            <a:off x="8716975" y="6446520"/>
            <a:ext cx="2743200" cy="274320"/>
          </a:xfrm>
          <a:prstGeom prst="rect">
            <a:avLst/>
          </a:prstGeom>
          <a:noFill/>
        </p:spPr>
        <p:txBody>
          <a:bodyPr wrap="none">
            <a:spAutoFit/>
          </a:bodyPr>
          <a:lstStyle/>
          <a:p>
            <a:pPr algn="r">
              <a:defRPr sz="900" b="1">
                <a:solidFill>
                  <a:srgbClr val="64748B"/>
                </a:solidFill>
                <a:latin typeface="Segoe UI"/>
              </a:defRPr>
            </a:pPr>
            <a:r>
              <a:t>10 / 17</a:t>
            </a:r>
          </a:p>
        </p:txBody>
      </p:sp>
      <p:sp>
        <p:nvSpPr>
          <p:cNvPr id="8" name="Rounded Rectangle 7"/>
          <p:cNvSpPr/>
          <p:nvPr/>
        </p:nvSpPr>
        <p:spPr>
          <a:xfrm>
            <a:off x="731520" y="1371600"/>
            <a:ext cx="4937760" cy="4846320"/>
          </a:xfrm>
          <a:prstGeom prst="roundRect">
            <a:avLst/>
          </a:prstGeom>
          <a:solidFill>
            <a:srgbClr val="FFFFFF"/>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ig_5_1_matrix.png"/>
          <p:cNvPicPr>
            <a:picLocks noChangeAspect="1"/>
          </p:cNvPicPr>
          <p:nvPr/>
        </p:nvPicPr>
        <p:blipFill>
          <a:blip r:embed="rId2"/>
          <a:stretch>
            <a:fillRect/>
          </a:stretch>
        </p:blipFill>
        <p:spPr>
          <a:xfrm>
            <a:off x="822960" y="1463040"/>
            <a:ext cx="4754880" cy="4663440"/>
          </a:xfrm>
          <a:prstGeom prst="rect">
            <a:avLst/>
          </a:prstGeom>
        </p:spPr>
      </p:pic>
      <p:sp>
        <p:nvSpPr>
          <p:cNvPr id="10" name="Rounded Rectangle 9"/>
          <p:cNvSpPr/>
          <p:nvPr/>
        </p:nvSpPr>
        <p:spPr>
          <a:xfrm>
            <a:off x="5852160" y="1371600"/>
            <a:ext cx="5608015" cy="4846320"/>
          </a:xfrm>
          <a:prstGeom prst="round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80760" y="1508760"/>
            <a:ext cx="5150815" cy="4572000"/>
          </a:xfrm>
          <a:prstGeom prst="rect">
            <a:avLst/>
          </a:prstGeom>
          <a:noFill/>
        </p:spPr>
        <p:txBody>
          <a:bodyPr wrap="square">
            <a:spAutoFit/>
          </a:bodyPr>
          <a:lstStyle/>
          <a:p>
            <a:pPr>
              <a:defRPr sz="1000" b="1">
                <a:solidFill>
                  <a:srgbClr val="059669"/>
                </a:solidFill>
                <a:latin typeface="Segoe UI"/>
              </a:defRPr>
            </a:pPr>
            <a:r>
              <a:t>Q1 · APPROVE (Low P_behav, Low P_bureau)</a:t>
            </a:r>
          </a:p>
          <a:p>
            <a:pPr>
              <a:spcBef>
                <a:spcPts val="200"/>
              </a:spcBef>
              <a:defRPr sz="950">
                <a:solidFill>
                  <a:srgbClr val="334155"/>
                </a:solidFill>
                <a:latin typeface="Segoe UI"/>
              </a:defRPr>
            </a:pPr>
            <a:r>
              <a:t>Both behavioral cash flow and bureau risk fall below 0.20 alert threshold. Recommended for standard loan approval at competitive rate.</a:t>
            </a:r>
          </a:p>
          <a:p>
            <a:pPr>
              <a:spcBef>
                <a:spcPts val="600"/>
              </a:spcBef>
              <a:defRPr sz="1000" b="1">
                <a:solidFill>
                  <a:srgbClr val="D97706"/>
                </a:solidFill>
                <a:latin typeface="Segoe UI"/>
              </a:defRPr>
            </a:pPr>
            <a:r>
              <a:t>Q2 · BUREAU ALERT (Low P_behav, High P_bureau)</a:t>
            </a:r>
          </a:p>
          <a:p>
            <a:pPr>
              <a:spcBef>
                <a:spcPts val="200"/>
              </a:spcBef>
              <a:defRPr sz="950">
                <a:solidFill>
                  <a:srgbClr val="334155"/>
                </a:solidFill>
                <a:latin typeface="Segoe UI"/>
              </a:defRPr>
            </a:pPr>
            <a:r>
              <a:t>Clean statement cash flows, but macro bureau history indicates elevated default risk. Requires underwriter scrutiny of historical bureau defaults.</a:t>
            </a:r>
          </a:p>
          <a:p>
            <a:pPr>
              <a:spcBef>
                <a:spcPts val="600"/>
              </a:spcBef>
              <a:defRPr sz="1000" b="1">
                <a:solidFill>
                  <a:srgbClr val="EA580C"/>
                </a:solidFill>
                <a:latin typeface="Segoe UI"/>
              </a:defRPr>
            </a:pPr>
            <a:r>
              <a:t>Q3 · BEHAVIORAL ALERT (High P_behav, Low P_bureau)</a:t>
            </a:r>
          </a:p>
          <a:p>
            <a:pPr>
              <a:spcBef>
                <a:spcPts val="200"/>
              </a:spcBef>
              <a:defRPr sz="950">
                <a:solidFill>
                  <a:srgbClr val="334155"/>
                </a:solidFill>
                <a:latin typeface="Segoe UI"/>
              </a:defRPr>
            </a:pPr>
            <a:r>
              <a:t>Clean macro bureau record, but high-frequency banking reveals liquidity stress, irregular income, or high EMI burden. Requires manual debt-to-income check.</a:t>
            </a:r>
          </a:p>
          <a:p>
            <a:pPr>
              <a:spcBef>
                <a:spcPts val="600"/>
              </a:spcBef>
              <a:defRPr sz="1000" b="1">
                <a:solidFill>
                  <a:srgbClr val="DC2626"/>
                </a:solidFill>
                <a:latin typeface="Segoe UI"/>
              </a:defRPr>
            </a:pPr>
            <a:r>
              <a:t>Q4 · DECLINE (High P_behav, High P_bureau)</a:t>
            </a:r>
          </a:p>
          <a:p>
            <a:pPr>
              <a:spcBef>
                <a:spcPts val="200"/>
              </a:spcBef>
              <a:defRPr sz="950">
                <a:solidFill>
                  <a:srgbClr val="334155"/>
                </a:solidFill>
                <a:latin typeface="Segoe UI"/>
              </a:defRPr>
            </a:pPr>
            <a:r>
              <a:t>Compounding default risk across both pillars. Recommended for immediate rejection.</a:t>
            </a:r>
          </a:p>
          <a:p>
            <a:pPr>
              <a:spcBef>
                <a:spcPts val="600"/>
              </a:spcBef>
              <a:defRPr sz="1000" b="1">
                <a:solidFill>
                  <a:srgbClr val="0F172A"/>
                </a:solidFill>
                <a:latin typeface="Segoe UI"/>
              </a:defRPr>
            </a:pPr>
            <a:r>
              <a:t>SAFETY OVERRIDES &amp; GOVERNANCE</a:t>
            </a:r>
          </a:p>
          <a:p>
            <a:pPr>
              <a:spcBef>
                <a:spcPts val="200"/>
              </a:spcBef>
              <a:defRPr sz="950">
                <a:solidFill>
                  <a:srgbClr val="334155"/>
                </a:solidFill>
                <a:latin typeface="Segoe UI"/>
              </a:defRPr>
            </a:pPr>
            <a:r>
              <a:t>• Salary Mismatch: Discrepancy &gt; 15% forces underwriter review.</a:t>
            </a:r>
            <a:br/>
            <a:r>
              <a:t>• Isolation Forest Outlier: Cash-flow spikes trigger manual verification.</a:t>
            </a:r>
            <a:br/>
            <a:r>
              <a:t>• Governance: Machine recommends; officer retains final authority.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84048"/>
            <a:ext cx="10728655" cy="274320"/>
          </a:xfrm>
          <a:prstGeom prst="rect">
            <a:avLst/>
          </a:prstGeom>
          <a:noFill/>
        </p:spPr>
        <p:txBody>
          <a:bodyPr wrap="none">
            <a:spAutoFit/>
          </a:bodyPr>
          <a:lstStyle/>
          <a:p>
            <a:pPr>
              <a:defRPr sz="950" b="1">
                <a:solidFill>
                  <a:srgbClr val="2563EB"/>
                </a:solidFill>
                <a:latin typeface="Segoe UI"/>
              </a:defRPr>
            </a:pPr>
            <a:r>
              <a:t>ENGINEERING SPECIFICATIONS · SYSTEM REQUIREMENTS</a:t>
            </a:r>
          </a:p>
        </p:txBody>
      </p:sp>
      <p:sp>
        <p:nvSpPr>
          <p:cNvPr id="3" name="TextBox 2"/>
          <p:cNvSpPr txBox="1"/>
          <p:nvPr/>
        </p:nvSpPr>
        <p:spPr>
          <a:xfrm>
            <a:off x="731520" y="658368"/>
            <a:ext cx="10728655" cy="502920"/>
          </a:xfrm>
          <a:prstGeom prst="rect">
            <a:avLst/>
          </a:prstGeom>
          <a:noFill/>
        </p:spPr>
        <p:txBody>
          <a:bodyPr wrap="none">
            <a:spAutoFit/>
          </a:bodyPr>
          <a:lstStyle/>
          <a:p>
            <a:pPr>
              <a:defRPr sz="2200" b="1">
                <a:solidFill>
                  <a:srgbClr val="0F172A"/>
                </a:solidFill>
                <a:latin typeface="Segoe UI"/>
              </a:defRPr>
            </a:pPr>
            <a:r>
              <a:t>Functional Requirements &amp; Non-Functional Guarantees</a:t>
            </a:r>
          </a:p>
        </p:txBody>
      </p:sp>
      <p:sp>
        <p:nvSpPr>
          <p:cNvPr id="4" name="Rectangle 3"/>
          <p:cNvSpPr/>
          <p:nvPr/>
        </p:nvSpPr>
        <p:spPr>
          <a:xfrm>
            <a:off x="731520" y="1207008"/>
            <a:ext cx="10728655" cy="13716"/>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46520"/>
            <a:ext cx="2743200" cy="274320"/>
          </a:xfrm>
          <a:prstGeom prst="rect">
            <a:avLst/>
          </a:prstGeom>
          <a:noFill/>
        </p:spPr>
        <p:txBody>
          <a:bodyPr wrap="none">
            <a:spAutoFit/>
          </a:bodyPr>
          <a:lstStyle/>
          <a:p>
            <a:pPr>
              <a:defRPr sz="900">
                <a:solidFill>
                  <a:srgbClr val="64748B"/>
                </a:solidFill>
                <a:latin typeface="Segoe UI"/>
              </a:defRPr>
            </a:pPr>
            <a:r>
              <a:t>05/10/2026 · Project Review</a:t>
            </a:r>
          </a:p>
        </p:txBody>
      </p:sp>
      <p:sp>
        <p:nvSpPr>
          <p:cNvPr id="6" name="TextBox 5"/>
          <p:cNvSpPr txBox="1"/>
          <p:nvPr/>
        </p:nvSpPr>
        <p:spPr>
          <a:xfrm>
            <a:off x="3657600" y="6446520"/>
            <a:ext cx="4876495" cy="274320"/>
          </a:xfrm>
          <a:prstGeom prst="rect">
            <a:avLst/>
          </a:prstGeom>
          <a:noFill/>
        </p:spPr>
        <p:txBody>
          <a:bodyPr wrap="none">
            <a:spAutoFit/>
          </a:bodyPr>
          <a:lstStyle/>
          <a:p>
            <a:pPr algn="ctr">
              <a:defRPr sz="900">
                <a:solidFill>
                  <a:srgbClr val="64748B"/>
                </a:solidFill>
                <a:latin typeface="Segoe UI"/>
              </a:defRPr>
            </a:pPr>
            <a:r>
              <a:t>BCSE497J · Behavioral Credit Decision Support System · SCOPE</a:t>
            </a:r>
          </a:p>
        </p:txBody>
      </p:sp>
      <p:sp>
        <p:nvSpPr>
          <p:cNvPr id="7" name="TextBox 6"/>
          <p:cNvSpPr txBox="1"/>
          <p:nvPr/>
        </p:nvSpPr>
        <p:spPr>
          <a:xfrm>
            <a:off x="8716975" y="6446520"/>
            <a:ext cx="2743200" cy="274320"/>
          </a:xfrm>
          <a:prstGeom prst="rect">
            <a:avLst/>
          </a:prstGeom>
          <a:noFill/>
        </p:spPr>
        <p:txBody>
          <a:bodyPr wrap="none">
            <a:spAutoFit/>
          </a:bodyPr>
          <a:lstStyle/>
          <a:p>
            <a:pPr algn="r">
              <a:defRPr sz="900" b="1">
                <a:solidFill>
                  <a:srgbClr val="64748B"/>
                </a:solidFill>
                <a:latin typeface="Segoe UI"/>
              </a:defRPr>
            </a:pPr>
            <a:r>
              <a:t>11 / 17</a:t>
            </a:r>
          </a:p>
        </p:txBody>
      </p:sp>
      <p:sp>
        <p:nvSpPr>
          <p:cNvPr id="8" name="Rounded Rectangle 7"/>
          <p:cNvSpPr/>
          <p:nvPr/>
        </p:nvSpPr>
        <p:spPr>
          <a:xfrm>
            <a:off x="731520" y="1371600"/>
            <a:ext cx="5257800" cy="3611880"/>
          </a:xfrm>
          <a:prstGeom prst="round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08760"/>
            <a:ext cx="4892040" cy="3337560"/>
          </a:xfrm>
          <a:prstGeom prst="rect">
            <a:avLst/>
          </a:prstGeom>
          <a:noFill/>
        </p:spPr>
        <p:txBody>
          <a:bodyPr wrap="square">
            <a:spAutoFit/>
          </a:bodyPr>
          <a:lstStyle/>
          <a:p>
            <a:pPr>
              <a:defRPr sz="1100" b="1">
                <a:solidFill>
                  <a:srgbClr val="2563EB"/>
                </a:solidFill>
                <a:latin typeface="Segoe UI"/>
              </a:defRPr>
            </a:pPr>
            <a:r>
              <a:t>PILLAR 1: BEHAVIORAL ML ENGINE</a:t>
            </a:r>
          </a:p>
          <a:p>
            <a:pPr>
              <a:spcBef>
                <a:spcPts val="500"/>
              </a:spcBef>
              <a:defRPr sz="950">
                <a:solidFill>
                  <a:srgbClr val="334155"/>
                </a:solidFill>
                <a:latin typeface="Segoe UI"/>
              </a:defRPr>
            </a:pPr>
            <a:r>
              <a:t>FR1  Statement Ingestion: Upload bank statements (CSV/PDF) across 5 Indian bank formats; map columns, perform balance reconciliation, and mask PII.</a:t>
            </a:r>
          </a:p>
          <a:p>
            <a:pPr>
              <a:spcBef>
                <a:spcPts val="500"/>
              </a:spcBef>
              <a:defRPr sz="950">
                <a:solidFill>
                  <a:srgbClr val="334155"/>
                </a:solidFill>
                <a:latin typeface="Segoe UI"/>
              </a:defRPr>
            </a:pPr>
            <a:r>
              <a:t>FR2  Tier 1 NLP Categorisation: Classify transactions into 18 categories using TF-IDF + Logistic Regression; log officer manual overrides with rationale.</a:t>
            </a:r>
          </a:p>
          <a:p>
            <a:pPr>
              <a:spcBef>
                <a:spcPts val="500"/>
              </a:spcBef>
              <a:defRPr sz="950">
                <a:solidFill>
                  <a:srgbClr val="334155"/>
                </a:solidFill>
                <a:latin typeface="Segoe UI"/>
              </a:defRPr>
            </a:pPr>
            <a:r>
              <a:t>FR3  15-Dim Behavioral ML Bridge: Map 23+ cash-flow signals via 15-dimensional bridge to Platt-calibrated Random Forest (ROC-AUC 0.7725).</a:t>
            </a:r>
          </a:p>
          <a:p>
            <a:pPr>
              <a:spcBef>
                <a:spcPts val="500"/>
              </a:spcBef>
              <a:defRPr sz="950">
                <a:solidFill>
                  <a:srgbClr val="334155"/>
                </a:solidFill>
                <a:latin typeface="Segoe UI"/>
              </a:defRPr>
            </a:pPr>
            <a:r>
              <a:t>FR4  Anomaly &amp; Salary Checks: Detect cash-flow anomalies using Isolation Forest (150 trees) and verify salary slips within 15% tolerance.</a:t>
            </a:r>
          </a:p>
        </p:txBody>
      </p:sp>
      <p:sp>
        <p:nvSpPr>
          <p:cNvPr id="10" name="Rounded Rectangle 9"/>
          <p:cNvSpPr/>
          <p:nvPr/>
        </p:nvSpPr>
        <p:spPr>
          <a:xfrm>
            <a:off x="6202375" y="1371600"/>
            <a:ext cx="5257800" cy="3611880"/>
          </a:xfrm>
          <a:prstGeom prst="round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1508760"/>
            <a:ext cx="4892040" cy="3337560"/>
          </a:xfrm>
          <a:prstGeom prst="rect">
            <a:avLst/>
          </a:prstGeom>
          <a:noFill/>
        </p:spPr>
        <p:txBody>
          <a:bodyPr wrap="square">
            <a:spAutoFit/>
          </a:bodyPr>
          <a:lstStyle/>
          <a:p>
            <a:pPr>
              <a:defRPr sz="1100" b="1">
                <a:solidFill>
                  <a:srgbClr val="0F766E"/>
                </a:solidFill>
                <a:latin typeface="Segoe UI"/>
              </a:defRPr>
            </a:pPr>
            <a:r>
              <a:t>PILLAR 2: BUREAU BENCHMARK &amp; PLATFORM</a:t>
            </a:r>
          </a:p>
          <a:p>
            <a:pPr>
              <a:spcBef>
                <a:spcPts val="500"/>
              </a:spcBef>
              <a:defRPr sz="950">
                <a:solidFill>
                  <a:srgbClr val="334155"/>
                </a:solidFill>
                <a:latin typeface="Segoe UI"/>
              </a:defRPr>
            </a:pPr>
            <a:r>
              <a:t>FR5  Bureau Default Scoring: Predict default risk using Platt-calibrated LightGBM on 196k records; generate exact Tree-SHAP attributions.</a:t>
            </a:r>
          </a:p>
          <a:p>
            <a:pPr>
              <a:spcBef>
                <a:spcPts val="500"/>
              </a:spcBef>
              <a:defRPr sz="950">
                <a:solidFill>
                  <a:srgbClr val="334155"/>
                </a:solidFill>
                <a:latin typeface="Segoe UI"/>
              </a:defRPr>
            </a:pPr>
            <a:r>
              <a:t>FR6  2×2 Matrix Synthesis: Place applicant on 2×2 ML Risk Matrix; generate interactive risk map with dynamic decision boundary plotting.</a:t>
            </a:r>
          </a:p>
          <a:p>
            <a:pPr>
              <a:spcBef>
                <a:spcPts val="500"/>
              </a:spcBef>
              <a:defRPr sz="950">
                <a:solidFill>
                  <a:srgbClr val="334155"/>
                </a:solidFill>
                <a:latin typeface="Segoe UI"/>
              </a:defRPr>
            </a:pPr>
            <a:r>
              <a:t>FR7  Tamper-Evident Ledger: Persist decision records in SQLite with forward SHA-256 hash chaining; verify external head-hash anchor.</a:t>
            </a:r>
          </a:p>
          <a:p>
            <a:pPr>
              <a:spcBef>
                <a:spcPts val="500"/>
              </a:spcBef>
              <a:defRPr sz="950">
                <a:solidFill>
                  <a:srgbClr val="334155"/>
                </a:solidFill>
                <a:latin typeface="Segoe UI"/>
              </a:defRPr>
            </a:pPr>
            <a:r>
              <a:t>FR8  DPDP Act 2023 Privacy: Erase personal data upon statutory request via cryptographic tombstoning without invalidating ledger integrity.</a:t>
            </a:r>
          </a:p>
        </p:txBody>
      </p:sp>
      <p:sp>
        <p:nvSpPr>
          <p:cNvPr id="12" name="Rounded Rectangle 11"/>
          <p:cNvSpPr/>
          <p:nvPr/>
        </p:nvSpPr>
        <p:spPr>
          <a:xfrm>
            <a:off x="731520" y="5120640"/>
            <a:ext cx="2542032" cy="1097280"/>
          </a:xfrm>
          <a:prstGeom prst="round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8" y="5193792"/>
            <a:ext cx="2322576" cy="914400"/>
          </a:xfrm>
          <a:prstGeom prst="rect">
            <a:avLst/>
          </a:prstGeom>
          <a:noFill/>
        </p:spPr>
        <p:txBody>
          <a:bodyPr wrap="square">
            <a:spAutoFit/>
          </a:bodyPr>
          <a:lstStyle/>
          <a:p>
            <a:pPr>
              <a:defRPr sz="1050" b="1">
                <a:solidFill>
                  <a:srgbClr val="2563EB"/>
                </a:solidFill>
                <a:latin typeface="Segoe UI"/>
              </a:defRPr>
            </a:pPr>
            <a:r>
              <a:t>EXPLAINABLE</a:t>
            </a:r>
          </a:p>
          <a:p>
            <a:pPr>
              <a:spcBef>
                <a:spcPts val="200"/>
              </a:spcBef>
              <a:defRPr sz="850">
                <a:solidFill>
                  <a:srgbClr val="64748B"/>
                </a:solidFill>
                <a:latin typeface="Segoe UI"/>
              </a:defRPr>
            </a:pPr>
            <a:r>
              <a:t>Tree-SHAP Shapley attributions explain every prediction</a:t>
            </a:r>
          </a:p>
        </p:txBody>
      </p:sp>
      <p:sp>
        <p:nvSpPr>
          <p:cNvPr id="14" name="Rounded Rectangle 13"/>
          <p:cNvSpPr/>
          <p:nvPr/>
        </p:nvSpPr>
        <p:spPr>
          <a:xfrm>
            <a:off x="3456432" y="5120640"/>
            <a:ext cx="2542032" cy="1097280"/>
          </a:xfrm>
          <a:prstGeom prst="round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66160" y="5193792"/>
            <a:ext cx="2322576" cy="914400"/>
          </a:xfrm>
          <a:prstGeom prst="rect">
            <a:avLst/>
          </a:prstGeom>
          <a:noFill/>
        </p:spPr>
        <p:txBody>
          <a:bodyPr wrap="square">
            <a:spAutoFit/>
          </a:bodyPr>
          <a:lstStyle/>
          <a:p>
            <a:pPr>
              <a:defRPr sz="1050" b="1">
                <a:solidFill>
                  <a:srgbClr val="0F172A"/>
                </a:solidFill>
                <a:latin typeface="Segoe UI"/>
              </a:defRPr>
            </a:pPr>
            <a:r>
              <a:t>REPRODUCIBLE</a:t>
            </a:r>
          </a:p>
          <a:p>
            <a:pPr>
              <a:spcBef>
                <a:spcPts val="200"/>
              </a:spcBef>
              <a:defRPr sz="850">
                <a:solidFill>
                  <a:srgbClr val="64748B"/>
                </a:solidFill>
                <a:latin typeface="Segoe UI"/>
              </a:defRPr>
            </a:pPr>
            <a:r>
              <a:t>Deterministic seed (Seed 42) across all splits and models</a:t>
            </a:r>
          </a:p>
        </p:txBody>
      </p:sp>
      <p:sp>
        <p:nvSpPr>
          <p:cNvPr id="16" name="Rounded Rectangle 15"/>
          <p:cNvSpPr/>
          <p:nvPr/>
        </p:nvSpPr>
        <p:spPr>
          <a:xfrm>
            <a:off x="6181344" y="5120640"/>
            <a:ext cx="2542032" cy="1097280"/>
          </a:xfrm>
          <a:prstGeom prst="round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91072" y="5193792"/>
            <a:ext cx="2322576" cy="914400"/>
          </a:xfrm>
          <a:prstGeom prst="rect">
            <a:avLst/>
          </a:prstGeom>
          <a:noFill/>
        </p:spPr>
        <p:txBody>
          <a:bodyPr wrap="square">
            <a:spAutoFit/>
          </a:bodyPr>
          <a:lstStyle/>
          <a:p>
            <a:pPr>
              <a:defRPr sz="1050" b="1">
                <a:solidFill>
                  <a:srgbClr val="0F766E"/>
                </a:solidFill>
                <a:latin typeface="Segoe UI"/>
              </a:defRPr>
            </a:pPr>
            <a:r>
              <a:t>DPDP COMPLIANT</a:t>
            </a:r>
          </a:p>
          <a:p>
            <a:pPr>
              <a:spcBef>
                <a:spcPts val="200"/>
              </a:spcBef>
              <a:defRPr sz="850">
                <a:solidFill>
                  <a:srgbClr val="64748B"/>
                </a:solidFill>
                <a:latin typeface="Segoe UI"/>
              </a:defRPr>
            </a:pPr>
            <a:r>
              <a:t>Section 12 statutory cryptographic personal data erasure</a:t>
            </a:r>
          </a:p>
        </p:txBody>
      </p:sp>
      <p:sp>
        <p:nvSpPr>
          <p:cNvPr id="18" name="Rounded Rectangle 17"/>
          <p:cNvSpPr/>
          <p:nvPr/>
        </p:nvSpPr>
        <p:spPr>
          <a:xfrm>
            <a:off x="8906256" y="5120640"/>
            <a:ext cx="2542032" cy="1097280"/>
          </a:xfrm>
          <a:prstGeom prst="round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15984" y="5193792"/>
            <a:ext cx="2322576" cy="914400"/>
          </a:xfrm>
          <a:prstGeom prst="rect">
            <a:avLst/>
          </a:prstGeom>
          <a:noFill/>
        </p:spPr>
        <p:txBody>
          <a:bodyPr wrap="square">
            <a:spAutoFit/>
          </a:bodyPr>
          <a:lstStyle/>
          <a:p>
            <a:pPr>
              <a:defRPr sz="1050" b="1">
                <a:solidFill>
                  <a:srgbClr val="059669"/>
                </a:solidFill>
                <a:latin typeface="Segoe UI"/>
              </a:defRPr>
            </a:pPr>
            <a:r>
              <a:t>TAMPER-EVIDENT</a:t>
            </a:r>
          </a:p>
          <a:p>
            <a:pPr>
              <a:spcBef>
                <a:spcPts val="200"/>
              </a:spcBef>
              <a:defRPr sz="850">
                <a:solidFill>
                  <a:srgbClr val="64748B"/>
                </a:solidFill>
                <a:latin typeface="Segoe UI"/>
              </a:defRPr>
            </a:pPr>
            <a:r>
              <a:t>SHA-256 forward hash chain anchored to external storage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84048"/>
            <a:ext cx="10728655" cy="274320"/>
          </a:xfrm>
          <a:prstGeom prst="rect">
            <a:avLst/>
          </a:prstGeom>
          <a:noFill/>
        </p:spPr>
        <p:txBody>
          <a:bodyPr wrap="none">
            <a:spAutoFit/>
          </a:bodyPr>
          <a:lstStyle/>
          <a:p>
            <a:pPr>
              <a:defRPr sz="950" b="1">
                <a:solidFill>
                  <a:srgbClr val="2563EB"/>
                </a:solidFill>
                <a:latin typeface="Segoe UI"/>
              </a:defRPr>
            </a:pPr>
            <a:r>
              <a:t>SOFTWARE ARCHITECTURE · SUBSYSTEM BREAKDOWN</a:t>
            </a:r>
          </a:p>
        </p:txBody>
      </p:sp>
      <p:sp>
        <p:nvSpPr>
          <p:cNvPr id="3" name="TextBox 2"/>
          <p:cNvSpPr txBox="1"/>
          <p:nvPr/>
        </p:nvSpPr>
        <p:spPr>
          <a:xfrm>
            <a:off x="731520" y="658368"/>
            <a:ext cx="10728655" cy="502920"/>
          </a:xfrm>
          <a:prstGeom prst="rect">
            <a:avLst/>
          </a:prstGeom>
          <a:noFill/>
        </p:spPr>
        <p:txBody>
          <a:bodyPr wrap="none">
            <a:spAutoFit/>
          </a:bodyPr>
          <a:lstStyle/>
          <a:p>
            <a:pPr>
              <a:defRPr sz="2200" b="1">
                <a:solidFill>
                  <a:srgbClr val="0F172A"/>
                </a:solidFill>
                <a:latin typeface="Segoe UI"/>
              </a:defRPr>
            </a:pPr>
            <a:r>
              <a:t>Six-Module Decoupled Production Architecture</a:t>
            </a:r>
          </a:p>
        </p:txBody>
      </p:sp>
      <p:sp>
        <p:nvSpPr>
          <p:cNvPr id="4" name="Rectangle 3"/>
          <p:cNvSpPr/>
          <p:nvPr/>
        </p:nvSpPr>
        <p:spPr>
          <a:xfrm>
            <a:off x="731520" y="1207008"/>
            <a:ext cx="10728655" cy="13716"/>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46520"/>
            <a:ext cx="2743200" cy="274320"/>
          </a:xfrm>
          <a:prstGeom prst="rect">
            <a:avLst/>
          </a:prstGeom>
          <a:noFill/>
        </p:spPr>
        <p:txBody>
          <a:bodyPr wrap="none">
            <a:spAutoFit/>
          </a:bodyPr>
          <a:lstStyle/>
          <a:p>
            <a:pPr>
              <a:defRPr sz="900">
                <a:solidFill>
                  <a:srgbClr val="64748B"/>
                </a:solidFill>
                <a:latin typeface="Segoe UI"/>
              </a:defRPr>
            </a:pPr>
            <a:r>
              <a:t>05/10/2026 · Project Review</a:t>
            </a:r>
          </a:p>
        </p:txBody>
      </p:sp>
      <p:sp>
        <p:nvSpPr>
          <p:cNvPr id="6" name="TextBox 5"/>
          <p:cNvSpPr txBox="1"/>
          <p:nvPr/>
        </p:nvSpPr>
        <p:spPr>
          <a:xfrm>
            <a:off x="3657600" y="6446520"/>
            <a:ext cx="4876495" cy="274320"/>
          </a:xfrm>
          <a:prstGeom prst="rect">
            <a:avLst/>
          </a:prstGeom>
          <a:noFill/>
        </p:spPr>
        <p:txBody>
          <a:bodyPr wrap="none">
            <a:spAutoFit/>
          </a:bodyPr>
          <a:lstStyle/>
          <a:p>
            <a:pPr algn="ctr">
              <a:defRPr sz="900">
                <a:solidFill>
                  <a:srgbClr val="64748B"/>
                </a:solidFill>
                <a:latin typeface="Segoe UI"/>
              </a:defRPr>
            </a:pPr>
            <a:r>
              <a:t>BCSE497J · Behavioral Credit Decision Support System · SCOPE</a:t>
            </a:r>
          </a:p>
        </p:txBody>
      </p:sp>
      <p:sp>
        <p:nvSpPr>
          <p:cNvPr id="7" name="TextBox 6"/>
          <p:cNvSpPr txBox="1"/>
          <p:nvPr/>
        </p:nvSpPr>
        <p:spPr>
          <a:xfrm>
            <a:off x="8716975" y="6446520"/>
            <a:ext cx="2743200" cy="274320"/>
          </a:xfrm>
          <a:prstGeom prst="rect">
            <a:avLst/>
          </a:prstGeom>
          <a:noFill/>
        </p:spPr>
        <p:txBody>
          <a:bodyPr wrap="none">
            <a:spAutoFit/>
          </a:bodyPr>
          <a:lstStyle/>
          <a:p>
            <a:pPr algn="r">
              <a:defRPr sz="900" b="1">
                <a:solidFill>
                  <a:srgbClr val="64748B"/>
                </a:solidFill>
                <a:latin typeface="Segoe UI"/>
              </a:defRPr>
            </a:pPr>
            <a:r>
              <a:t>12 / 17</a:t>
            </a:r>
          </a:p>
        </p:txBody>
      </p:sp>
      <p:sp>
        <p:nvSpPr>
          <p:cNvPr id="8" name="Rounded Rectangle 7"/>
          <p:cNvSpPr/>
          <p:nvPr/>
        </p:nvSpPr>
        <p:spPr>
          <a:xfrm>
            <a:off x="731520" y="1417320"/>
            <a:ext cx="3429000" cy="2331720"/>
          </a:xfrm>
          <a:prstGeom prst="round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54480"/>
            <a:ext cx="3063240" cy="2057400"/>
          </a:xfrm>
          <a:prstGeom prst="rect">
            <a:avLst/>
          </a:prstGeom>
          <a:noFill/>
        </p:spPr>
        <p:txBody>
          <a:bodyPr wrap="square">
            <a:spAutoFit/>
          </a:bodyPr>
          <a:lstStyle/>
          <a:p>
            <a:pPr>
              <a:defRPr sz="950" b="1">
                <a:solidFill>
                  <a:srgbClr val="2563EB"/>
                </a:solidFill>
                <a:latin typeface="Segoe UI"/>
              </a:defRPr>
            </a:pPr>
            <a:r>
              <a:t>MODULE 01</a:t>
            </a:r>
          </a:p>
          <a:p>
            <a:pPr>
              <a:spcBef>
                <a:spcPts val="200"/>
              </a:spcBef>
              <a:defRPr sz="1200" b="1">
                <a:solidFill>
                  <a:srgbClr val="0F172A"/>
                </a:solidFill>
                <a:latin typeface="Segoe UI"/>
              </a:defRPr>
            </a:pPr>
            <a:r>
              <a:t>Statement Ingestion &amp; Security</a:t>
            </a:r>
          </a:p>
          <a:p>
            <a:pPr>
              <a:spcBef>
                <a:spcPts val="300"/>
              </a:spcBef>
              <a:defRPr sz="950">
                <a:solidFill>
                  <a:srgbClr val="334155"/>
                </a:solidFill>
                <a:latin typeface="Segoe UI"/>
              </a:defRPr>
            </a:pPr>
            <a:r>
              <a:t>• Parsers for 5 Indian bank formats + text PDF.</a:t>
            </a:r>
          </a:p>
          <a:p>
            <a:pPr>
              <a:spcBef>
                <a:spcPts val="300"/>
              </a:spcBef>
              <a:defRPr sz="950">
                <a:solidFill>
                  <a:srgbClr val="334155"/>
                </a:solidFill>
                <a:latin typeface="Segoe UI"/>
              </a:defRPr>
            </a:pPr>
            <a:r>
              <a:t>• Regex PII masking &amp; transaction de-duplication.</a:t>
            </a:r>
          </a:p>
          <a:p>
            <a:pPr>
              <a:spcBef>
                <a:spcPts val="300"/>
              </a:spcBef>
              <a:defRPr sz="950">
                <a:solidFill>
                  <a:srgbClr val="334155"/>
                </a:solidFill>
                <a:latin typeface="Segoe UI"/>
              </a:defRPr>
            </a:pPr>
            <a:r>
              <a:t>• Balance reconciliation &amp; 15% salary tolerance check.</a:t>
            </a:r>
          </a:p>
        </p:txBody>
      </p:sp>
      <p:sp>
        <p:nvSpPr>
          <p:cNvPr id="10" name="Rounded Rectangle 9"/>
          <p:cNvSpPr/>
          <p:nvPr/>
        </p:nvSpPr>
        <p:spPr>
          <a:xfrm>
            <a:off x="4379976" y="1417320"/>
            <a:ext cx="3429000" cy="2331720"/>
          </a:xfrm>
          <a:prstGeom prst="round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62856" y="1554480"/>
            <a:ext cx="3063240" cy="2057400"/>
          </a:xfrm>
          <a:prstGeom prst="rect">
            <a:avLst/>
          </a:prstGeom>
          <a:noFill/>
        </p:spPr>
        <p:txBody>
          <a:bodyPr wrap="square">
            <a:spAutoFit/>
          </a:bodyPr>
          <a:lstStyle/>
          <a:p>
            <a:pPr>
              <a:defRPr sz="950" b="1">
                <a:solidFill>
                  <a:srgbClr val="0F172A"/>
                </a:solidFill>
                <a:latin typeface="Segoe UI"/>
              </a:defRPr>
            </a:pPr>
            <a:r>
              <a:t>MODULE 02</a:t>
            </a:r>
          </a:p>
          <a:p>
            <a:pPr>
              <a:spcBef>
                <a:spcPts val="200"/>
              </a:spcBef>
              <a:defRPr sz="1200" b="1">
                <a:solidFill>
                  <a:srgbClr val="0F172A"/>
                </a:solidFill>
                <a:latin typeface="Segoe UI"/>
              </a:defRPr>
            </a:pPr>
            <a:r>
              <a:t>Tier 1 NLP Categorisation</a:t>
            </a:r>
          </a:p>
          <a:p>
            <a:pPr>
              <a:spcBef>
                <a:spcPts val="300"/>
              </a:spcBef>
              <a:defRPr sz="950">
                <a:solidFill>
                  <a:srgbClr val="334155"/>
                </a:solidFill>
                <a:latin typeface="Segoe UI"/>
              </a:defRPr>
            </a:pPr>
            <a:r>
              <a:t>• 18-class TF-IDF + Logistic Regression engine.</a:t>
            </a:r>
          </a:p>
          <a:p>
            <a:pPr>
              <a:spcBef>
                <a:spcPts val="300"/>
              </a:spcBef>
              <a:defRPr sz="950">
                <a:solidFill>
                  <a:srgbClr val="334155"/>
                </a:solidFill>
                <a:latin typeface="Segoe UI"/>
              </a:defRPr>
            </a:pPr>
            <a:r>
              <a:t>• 100% 10-fold cross-validated test accuracy.</a:t>
            </a:r>
          </a:p>
          <a:p>
            <a:pPr>
              <a:spcBef>
                <a:spcPts val="300"/>
              </a:spcBef>
              <a:defRPr sz="950">
                <a:solidFill>
                  <a:srgbClr val="334155"/>
                </a:solidFill>
                <a:latin typeface="Segoe UI"/>
              </a:defRPr>
            </a:pPr>
            <a:r>
              <a:t>• Underwriter manual override &amp; rationale audit logger.</a:t>
            </a:r>
          </a:p>
        </p:txBody>
      </p:sp>
      <p:sp>
        <p:nvSpPr>
          <p:cNvPr id="12" name="Rounded Rectangle 11"/>
          <p:cNvSpPr/>
          <p:nvPr/>
        </p:nvSpPr>
        <p:spPr>
          <a:xfrm>
            <a:off x="8028432" y="1417320"/>
            <a:ext cx="3429000" cy="2331720"/>
          </a:xfrm>
          <a:prstGeom prst="round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11312" y="1554480"/>
            <a:ext cx="3063240" cy="2057400"/>
          </a:xfrm>
          <a:prstGeom prst="rect">
            <a:avLst/>
          </a:prstGeom>
          <a:noFill/>
        </p:spPr>
        <p:txBody>
          <a:bodyPr wrap="square">
            <a:spAutoFit/>
          </a:bodyPr>
          <a:lstStyle/>
          <a:p>
            <a:pPr>
              <a:defRPr sz="950" b="1">
                <a:solidFill>
                  <a:srgbClr val="2563EB"/>
                </a:solidFill>
                <a:latin typeface="Segoe UI"/>
              </a:defRPr>
            </a:pPr>
            <a:r>
              <a:t>MODULE 03</a:t>
            </a:r>
          </a:p>
          <a:p>
            <a:pPr>
              <a:spcBef>
                <a:spcPts val="200"/>
              </a:spcBef>
              <a:defRPr sz="1200" b="1">
                <a:solidFill>
                  <a:srgbClr val="0F172A"/>
                </a:solidFill>
                <a:latin typeface="Segoe UI"/>
              </a:defRPr>
            </a:pPr>
            <a:r>
              <a:t>15-Dim Behavioral ML Bridge</a:t>
            </a:r>
          </a:p>
          <a:p>
            <a:pPr>
              <a:spcBef>
                <a:spcPts val="300"/>
              </a:spcBef>
              <a:defRPr sz="950">
                <a:solidFill>
                  <a:srgbClr val="334155"/>
                </a:solidFill>
                <a:latin typeface="Segoe UI"/>
              </a:defRPr>
            </a:pPr>
            <a:r>
              <a:t>• Synthesizes 23+ statement cash flows to 15 features.</a:t>
            </a:r>
          </a:p>
          <a:p>
            <a:pPr>
              <a:spcBef>
                <a:spcPts val="300"/>
              </a:spcBef>
              <a:defRPr sz="950">
                <a:solidFill>
                  <a:srgbClr val="334155"/>
                </a:solidFill>
                <a:latin typeface="Segoe UI"/>
              </a:defRPr>
            </a:pPr>
            <a:r>
              <a:t>• Trained on 30,000 UCI Credit Card Default records.</a:t>
            </a:r>
          </a:p>
          <a:p>
            <a:pPr>
              <a:spcBef>
                <a:spcPts val="300"/>
              </a:spcBef>
              <a:defRPr sz="950">
                <a:solidFill>
                  <a:srgbClr val="334155"/>
                </a:solidFill>
                <a:latin typeface="Segoe UI"/>
              </a:defRPr>
            </a:pPr>
            <a:r>
              <a:t>• Platt-calibrated Random Forest (ROC-AUC 0.7725).</a:t>
            </a:r>
          </a:p>
        </p:txBody>
      </p:sp>
      <p:sp>
        <p:nvSpPr>
          <p:cNvPr id="14" name="Rounded Rectangle 13"/>
          <p:cNvSpPr/>
          <p:nvPr/>
        </p:nvSpPr>
        <p:spPr>
          <a:xfrm>
            <a:off x="731520" y="3931920"/>
            <a:ext cx="3429000" cy="2331720"/>
          </a:xfrm>
          <a:prstGeom prst="round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069080"/>
            <a:ext cx="3063240" cy="2057400"/>
          </a:xfrm>
          <a:prstGeom prst="rect">
            <a:avLst/>
          </a:prstGeom>
          <a:noFill/>
        </p:spPr>
        <p:txBody>
          <a:bodyPr wrap="square">
            <a:spAutoFit/>
          </a:bodyPr>
          <a:lstStyle/>
          <a:p>
            <a:pPr>
              <a:defRPr sz="950" b="1">
                <a:solidFill>
                  <a:srgbClr val="D97706"/>
                </a:solidFill>
                <a:latin typeface="Segoe UI"/>
              </a:defRPr>
            </a:pPr>
            <a:r>
              <a:t>MODULE 04</a:t>
            </a:r>
          </a:p>
          <a:p>
            <a:pPr>
              <a:spcBef>
                <a:spcPts val="200"/>
              </a:spcBef>
              <a:defRPr sz="1200" b="1">
                <a:solidFill>
                  <a:srgbClr val="0F172A"/>
                </a:solidFill>
                <a:latin typeface="Segoe UI"/>
              </a:defRPr>
            </a:pPr>
            <a:r>
              <a:t>Unsupervised Anomaly Lab</a:t>
            </a:r>
          </a:p>
          <a:p>
            <a:pPr>
              <a:spcBef>
                <a:spcPts val="300"/>
              </a:spcBef>
              <a:defRPr sz="950">
                <a:solidFill>
                  <a:srgbClr val="334155"/>
                </a:solidFill>
                <a:latin typeface="Segoe UI"/>
              </a:defRPr>
            </a:pPr>
            <a:r>
              <a:t>• Isolation Forest (150 estimators) for cash spikes.</a:t>
            </a:r>
          </a:p>
          <a:p>
            <a:pPr>
              <a:spcBef>
                <a:spcPts val="300"/>
              </a:spcBef>
              <a:defRPr sz="950">
                <a:solidFill>
                  <a:srgbClr val="334155"/>
                </a:solidFill>
                <a:latin typeface="Segoe UI"/>
              </a:defRPr>
            </a:pPr>
            <a:r>
              <a:t>• K-Means persona clustering (k=4) for peer benchmarking.</a:t>
            </a:r>
          </a:p>
          <a:p>
            <a:pPr>
              <a:spcBef>
                <a:spcPts val="300"/>
              </a:spcBef>
              <a:defRPr sz="950">
                <a:solidFill>
                  <a:srgbClr val="334155"/>
                </a:solidFill>
                <a:latin typeface="Segoe UI"/>
              </a:defRPr>
            </a:pPr>
            <a:r>
              <a:t>• Parametric stress-testing (income shock, rate hike).</a:t>
            </a:r>
          </a:p>
        </p:txBody>
      </p:sp>
      <p:sp>
        <p:nvSpPr>
          <p:cNvPr id="16" name="Rounded Rectangle 15"/>
          <p:cNvSpPr/>
          <p:nvPr/>
        </p:nvSpPr>
        <p:spPr>
          <a:xfrm>
            <a:off x="4379976" y="3931920"/>
            <a:ext cx="3429000" cy="2331720"/>
          </a:xfrm>
          <a:prstGeom prst="round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62856" y="4069080"/>
            <a:ext cx="3063240" cy="2057400"/>
          </a:xfrm>
          <a:prstGeom prst="rect">
            <a:avLst/>
          </a:prstGeom>
          <a:noFill/>
        </p:spPr>
        <p:txBody>
          <a:bodyPr wrap="square">
            <a:spAutoFit/>
          </a:bodyPr>
          <a:lstStyle/>
          <a:p>
            <a:pPr>
              <a:defRPr sz="950" b="1">
                <a:solidFill>
                  <a:srgbClr val="0F766E"/>
                </a:solidFill>
                <a:latin typeface="Segoe UI"/>
              </a:defRPr>
            </a:pPr>
            <a:r>
              <a:t>MODULE 05</a:t>
            </a:r>
          </a:p>
          <a:p>
            <a:pPr>
              <a:spcBef>
                <a:spcPts val="200"/>
              </a:spcBef>
              <a:defRPr sz="1200" b="1">
                <a:solidFill>
                  <a:srgbClr val="0F172A"/>
                </a:solidFill>
                <a:latin typeface="Segoe UI"/>
              </a:defRPr>
            </a:pPr>
            <a:r>
              <a:t>Pillar 2 Macro Bureau ML</a:t>
            </a:r>
          </a:p>
          <a:p>
            <a:pPr>
              <a:spcBef>
                <a:spcPts val="300"/>
              </a:spcBef>
              <a:defRPr sz="950">
                <a:solidFill>
                  <a:srgbClr val="334155"/>
                </a:solidFill>
                <a:latin typeface="Segoe UI"/>
              </a:defRPr>
            </a:pPr>
            <a:r>
              <a:t>• Platt-calibrated LightGBM on 196,806 applicants.</a:t>
            </a:r>
          </a:p>
          <a:p>
            <a:pPr>
              <a:spcBef>
                <a:spcPts val="300"/>
              </a:spcBef>
              <a:defRPr sz="950">
                <a:solidFill>
                  <a:srgbClr val="334155"/>
                </a:solidFill>
                <a:latin typeface="Segoe UI"/>
              </a:defRPr>
            </a:pPr>
            <a:r>
              <a:t>• Exact Tree-SHAP local feature attributions.</a:t>
            </a:r>
          </a:p>
          <a:p>
            <a:pPr>
              <a:spcBef>
                <a:spcPts val="300"/>
              </a:spcBef>
              <a:defRPr sz="950">
                <a:solidFill>
                  <a:srgbClr val="334155"/>
                </a:solidFill>
                <a:latin typeface="Segoe UI"/>
              </a:defRPr>
            </a:pPr>
            <a:r>
              <a:t>• Completeness scoring &amp; alert threshold (0.20).</a:t>
            </a:r>
          </a:p>
        </p:txBody>
      </p:sp>
      <p:sp>
        <p:nvSpPr>
          <p:cNvPr id="18" name="Rounded Rectangle 17"/>
          <p:cNvSpPr/>
          <p:nvPr/>
        </p:nvSpPr>
        <p:spPr>
          <a:xfrm>
            <a:off x="8028432" y="3931920"/>
            <a:ext cx="3429000" cy="2331720"/>
          </a:xfrm>
          <a:prstGeom prst="round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11312" y="4069080"/>
            <a:ext cx="3063240" cy="2057400"/>
          </a:xfrm>
          <a:prstGeom prst="rect">
            <a:avLst/>
          </a:prstGeom>
          <a:noFill/>
        </p:spPr>
        <p:txBody>
          <a:bodyPr wrap="square">
            <a:spAutoFit/>
          </a:bodyPr>
          <a:lstStyle/>
          <a:p>
            <a:pPr>
              <a:defRPr sz="950" b="1">
                <a:solidFill>
                  <a:srgbClr val="059669"/>
                </a:solidFill>
                <a:latin typeface="Segoe UI"/>
              </a:defRPr>
            </a:pPr>
            <a:r>
              <a:t>MODULE 06</a:t>
            </a:r>
          </a:p>
          <a:p>
            <a:pPr>
              <a:spcBef>
                <a:spcPts val="200"/>
              </a:spcBef>
              <a:defRPr sz="1200" b="1">
                <a:solidFill>
                  <a:srgbClr val="0F172A"/>
                </a:solidFill>
                <a:latin typeface="Segoe UI"/>
              </a:defRPr>
            </a:pPr>
            <a:r>
              <a:t>2×2 Decision &amp; Audit Engine</a:t>
            </a:r>
          </a:p>
          <a:p>
            <a:pPr>
              <a:spcBef>
                <a:spcPts val="300"/>
              </a:spcBef>
              <a:defRPr sz="950">
                <a:solidFill>
                  <a:srgbClr val="334155"/>
                </a:solidFill>
                <a:latin typeface="Segoe UI"/>
              </a:defRPr>
            </a:pPr>
            <a:r>
              <a:t>• Dual-Pillar 2×2 ML matrix risk quadrant placement.</a:t>
            </a:r>
          </a:p>
          <a:p>
            <a:pPr>
              <a:spcBef>
                <a:spcPts val="300"/>
              </a:spcBef>
              <a:defRPr sz="950">
                <a:solidFill>
                  <a:srgbClr val="334155"/>
                </a:solidFill>
                <a:latin typeface="Segoe UI"/>
              </a:defRPr>
            </a:pPr>
            <a:r>
              <a:t>• Tamper-evident SHA-256 forward hash-chain ledger.</a:t>
            </a:r>
          </a:p>
          <a:p>
            <a:pPr>
              <a:spcBef>
                <a:spcPts val="300"/>
              </a:spcBef>
              <a:defRPr sz="950">
                <a:solidFill>
                  <a:srgbClr val="334155"/>
                </a:solidFill>
                <a:latin typeface="Segoe UI"/>
              </a:defRPr>
            </a:pPr>
            <a:r>
              <a:t>• External filesystem anchor &amp; DPDP erasure protocol.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84048"/>
            <a:ext cx="10728655" cy="274320"/>
          </a:xfrm>
          <a:prstGeom prst="rect">
            <a:avLst/>
          </a:prstGeom>
          <a:noFill/>
        </p:spPr>
        <p:txBody>
          <a:bodyPr wrap="none">
            <a:spAutoFit/>
          </a:bodyPr>
          <a:lstStyle/>
          <a:p>
            <a:pPr>
              <a:defRPr sz="950" b="1">
                <a:solidFill>
                  <a:srgbClr val="2563EB"/>
                </a:solidFill>
                <a:latin typeface="Segoe UI"/>
              </a:defRPr>
            </a:pPr>
            <a:r>
              <a:t>EXPERIMENTAL RESULTS · PILLAR 2 VALIDATION</a:t>
            </a:r>
          </a:p>
        </p:txBody>
      </p:sp>
      <p:sp>
        <p:nvSpPr>
          <p:cNvPr id="3" name="TextBox 2"/>
          <p:cNvSpPr txBox="1"/>
          <p:nvPr/>
        </p:nvSpPr>
        <p:spPr>
          <a:xfrm>
            <a:off x="731520" y="658368"/>
            <a:ext cx="10728655" cy="502920"/>
          </a:xfrm>
          <a:prstGeom prst="rect">
            <a:avLst/>
          </a:prstGeom>
          <a:noFill/>
        </p:spPr>
        <p:txBody>
          <a:bodyPr wrap="none">
            <a:spAutoFit/>
          </a:bodyPr>
          <a:lstStyle/>
          <a:p>
            <a:pPr>
              <a:defRPr sz="2200" b="1">
                <a:solidFill>
                  <a:srgbClr val="0F172A"/>
                </a:solidFill>
                <a:latin typeface="Segoe UI"/>
              </a:defRPr>
            </a:pPr>
            <a:r>
              <a:t>Empirical Evaluation: Macro Bureau Benchmark</a:t>
            </a:r>
          </a:p>
        </p:txBody>
      </p:sp>
      <p:sp>
        <p:nvSpPr>
          <p:cNvPr id="4" name="Rectangle 3"/>
          <p:cNvSpPr/>
          <p:nvPr/>
        </p:nvSpPr>
        <p:spPr>
          <a:xfrm>
            <a:off x="731520" y="1207008"/>
            <a:ext cx="10728655" cy="13716"/>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46520"/>
            <a:ext cx="2743200" cy="274320"/>
          </a:xfrm>
          <a:prstGeom prst="rect">
            <a:avLst/>
          </a:prstGeom>
          <a:noFill/>
        </p:spPr>
        <p:txBody>
          <a:bodyPr wrap="none">
            <a:spAutoFit/>
          </a:bodyPr>
          <a:lstStyle/>
          <a:p>
            <a:pPr>
              <a:defRPr sz="900">
                <a:solidFill>
                  <a:srgbClr val="64748B"/>
                </a:solidFill>
                <a:latin typeface="Segoe UI"/>
              </a:defRPr>
            </a:pPr>
            <a:r>
              <a:t>05/10/2026 · Project Review</a:t>
            </a:r>
          </a:p>
        </p:txBody>
      </p:sp>
      <p:sp>
        <p:nvSpPr>
          <p:cNvPr id="6" name="TextBox 5"/>
          <p:cNvSpPr txBox="1"/>
          <p:nvPr/>
        </p:nvSpPr>
        <p:spPr>
          <a:xfrm>
            <a:off x="3657600" y="6446520"/>
            <a:ext cx="4876495" cy="274320"/>
          </a:xfrm>
          <a:prstGeom prst="rect">
            <a:avLst/>
          </a:prstGeom>
          <a:noFill/>
        </p:spPr>
        <p:txBody>
          <a:bodyPr wrap="none">
            <a:spAutoFit/>
          </a:bodyPr>
          <a:lstStyle/>
          <a:p>
            <a:pPr algn="ctr">
              <a:defRPr sz="900">
                <a:solidFill>
                  <a:srgbClr val="64748B"/>
                </a:solidFill>
                <a:latin typeface="Segoe UI"/>
              </a:defRPr>
            </a:pPr>
            <a:r>
              <a:t>BCSE497J · Behavioral Credit Decision Support System · SCOPE</a:t>
            </a:r>
          </a:p>
        </p:txBody>
      </p:sp>
      <p:sp>
        <p:nvSpPr>
          <p:cNvPr id="7" name="TextBox 6"/>
          <p:cNvSpPr txBox="1"/>
          <p:nvPr/>
        </p:nvSpPr>
        <p:spPr>
          <a:xfrm>
            <a:off x="8716975" y="6446520"/>
            <a:ext cx="2743200" cy="274320"/>
          </a:xfrm>
          <a:prstGeom prst="rect">
            <a:avLst/>
          </a:prstGeom>
          <a:noFill/>
        </p:spPr>
        <p:txBody>
          <a:bodyPr wrap="none">
            <a:spAutoFit/>
          </a:bodyPr>
          <a:lstStyle/>
          <a:p>
            <a:pPr algn="r">
              <a:defRPr sz="900" b="1">
                <a:solidFill>
                  <a:srgbClr val="64748B"/>
                </a:solidFill>
                <a:latin typeface="Segoe UI"/>
              </a:defRPr>
            </a:pPr>
            <a:r>
              <a:t>13 / 17</a:t>
            </a:r>
          </a:p>
        </p:txBody>
      </p:sp>
      <p:sp>
        <p:nvSpPr>
          <p:cNvPr id="8" name="Rounded Rectangle 7"/>
          <p:cNvSpPr/>
          <p:nvPr/>
        </p:nvSpPr>
        <p:spPr>
          <a:xfrm>
            <a:off x="731520" y="1371600"/>
            <a:ext cx="4754880" cy="960120"/>
          </a:xfrm>
          <a:prstGeom prst="round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444752"/>
            <a:ext cx="4480560" cy="813816"/>
          </a:xfrm>
          <a:prstGeom prst="rect">
            <a:avLst/>
          </a:prstGeom>
          <a:noFill/>
        </p:spPr>
        <p:txBody>
          <a:bodyPr wrap="square" lIns="0" tIns="0" rIns="0" bIns="0">
            <a:spAutoFit/>
          </a:bodyPr>
          <a:lstStyle/>
          <a:p>
            <a:pPr>
              <a:defRPr sz="2400" b="1">
                <a:solidFill>
                  <a:srgbClr val="2563EB"/>
                </a:solidFill>
                <a:latin typeface="Segoe UI"/>
              </a:defRPr>
            </a:pPr>
            <a:r>
              <a:t>0.7737</a:t>
            </a:r>
          </a:p>
          <a:p>
            <a:pPr>
              <a:spcBef>
                <a:spcPts val="200"/>
              </a:spcBef>
              <a:defRPr sz="950">
                <a:solidFill>
                  <a:srgbClr val="64748B"/>
                </a:solidFill>
                <a:latin typeface="Segoe UI"/>
              </a:defRPr>
            </a:pPr>
            <a:r>
              <a:t>ROC-AUC (95% CI: 0.767–0.781)</a:t>
            </a:r>
          </a:p>
        </p:txBody>
      </p:sp>
      <p:sp>
        <p:nvSpPr>
          <p:cNvPr id="10" name="Rounded Rectangle 9"/>
          <p:cNvSpPr/>
          <p:nvPr/>
        </p:nvSpPr>
        <p:spPr>
          <a:xfrm>
            <a:off x="731520" y="2450592"/>
            <a:ext cx="4754880" cy="960120"/>
          </a:xfrm>
          <a:prstGeom prst="round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523744"/>
            <a:ext cx="4480560" cy="813816"/>
          </a:xfrm>
          <a:prstGeom prst="rect">
            <a:avLst/>
          </a:prstGeom>
          <a:noFill/>
        </p:spPr>
        <p:txBody>
          <a:bodyPr wrap="square" lIns="0" tIns="0" rIns="0" bIns="0">
            <a:spAutoFit/>
          </a:bodyPr>
          <a:lstStyle/>
          <a:p>
            <a:pPr>
              <a:defRPr sz="2400" b="1">
                <a:solidFill>
                  <a:srgbClr val="059669"/>
                </a:solidFill>
                <a:latin typeface="Segoe UI"/>
              </a:defRPr>
            </a:pPr>
            <a:r>
              <a:t>0.2664</a:t>
            </a:r>
          </a:p>
          <a:p>
            <a:pPr>
              <a:spcBef>
                <a:spcPts val="200"/>
              </a:spcBef>
              <a:defRPr sz="950">
                <a:solidFill>
                  <a:srgbClr val="64748B"/>
                </a:solidFill>
                <a:latin typeface="Segoe UI"/>
              </a:defRPr>
            </a:pPr>
            <a:r>
              <a:t>PR-AUC (3.3× Lift over 0.0807 baseline)</a:t>
            </a:r>
          </a:p>
        </p:txBody>
      </p:sp>
      <p:sp>
        <p:nvSpPr>
          <p:cNvPr id="12" name="Rounded Rectangle 11"/>
          <p:cNvSpPr/>
          <p:nvPr/>
        </p:nvSpPr>
        <p:spPr>
          <a:xfrm>
            <a:off x="731520" y="3529584"/>
            <a:ext cx="4754880" cy="960120"/>
          </a:xfrm>
          <a:prstGeom prst="round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3602736"/>
            <a:ext cx="4480560" cy="813816"/>
          </a:xfrm>
          <a:prstGeom prst="rect">
            <a:avLst/>
          </a:prstGeom>
          <a:noFill/>
        </p:spPr>
        <p:txBody>
          <a:bodyPr wrap="square" lIns="0" tIns="0" rIns="0" bIns="0">
            <a:spAutoFit/>
          </a:bodyPr>
          <a:lstStyle/>
          <a:p>
            <a:pPr>
              <a:defRPr sz="2400" b="1">
                <a:solidFill>
                  <a:srgbClr val="0F172A"/>
                </a:solidFill>
                <a:latin typeface="Segoe UI"/>
              </a:defRPr>
            </a:pPr>
            <a:r>
              <a:t>0.0667</a:t>
            </a:r>
          </a:p>
          <a:p>
            <a:pPr>
              <a:spcBef>
                <a:spcPts val="200"/>
              </a:spcBef>
              <a:defRPr sz="950">
                <a:solidFill>
                  <a:srgbClr val="64748B"/>
                </a:solidFill>
                <a:latin typeface="Segoe UI"/>
              </a:defRPr>
            </a:pPr>
            <a:r>
              <a:t>Brier Calibration Score (Platt Scaling)</a:t>
            </a:r>
          </a:p>
        </p:txBody>
      </p:sp>
      <p:sp>
        <p:nvSpPr>
          <p:cNvPr id="14" name="Rounded Rectangle 13"/>
          <p:cNvSpPr/>
          <p:nvPr/>
        </p:nvSpPr>
        <p:spPr>
          <a:xfrm>
            <a:off x="731520" y="4617720"/>
            <a:ext cx="4754880" cy="1600200"/>
          </a:xfrm>
          <a:prstGeom prst="round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709160"/>
            <a:ext cx="4389120" cy="1417320"/>
          </a:xfrm>
          <a:prstGeom prst="rect">
            <a:avLst/>
          </a:prstGeom>
          <a:noFill/>
        </p:spPr>
        <p:txBody>
          <a:bodyPr wrap="square">
            <a:spAutoFit/>
          </a:bodyPr>
          <a:lstStyle/>
          <a:p>
            <a:pPr>
              <a:defRPr sz="1000" b="1">
                <a:solidFill>
                  <a:srgbClr val="0F766E"/>
                </a:solidFill>
                <a:latin typeface="Segoe UI"/>
              </a:defRPr>
            </a:pPr>
            <a:r>
              <a:t>BENCHMARK SPECIFICATIONS</a:t>
            </a:r>
          </a:p>
          <a:p>
            <a:pPr>
              <a:spcBef>
                <a:spcPts val="200"/>
              </a:spcBef>
              <a:defRPr sz="900">
                <a:solidFill>
                  <a:srgbClr val="334155"/>
                </a:solidFill>
                <a:latin typeface="Segoe UI"/>
              </a:defRPr>
            </a:pPr>
            <a:r>
              <a:t>• Dataset: 196,806 real-world Home Credit applicants.</a:t>
            </a:r>
          </a:p>
          <a:p>
            <a:pPr>
              <a:spcBef>
                <a:spcPts val="200"/>
              </a:spcBef>
              <a:defRPr sz="900">
                <a:solidFill>
                  <a:srgbClr val="334155"/>
                </a:solidFill>
                <a:latin typeface="Segoe UI"/>
              </a:defRPr>
            </a:pPr>
            <a:r>
              <a:t>• Stratified Split: 64% Train, 16% Validation, 20% Held-Out Test (Seed 42).</a:t>
            </a:r>
          </a:p>
          <a:p>
            <a:pPr>
              <a:spcBef>
                <a:spcPts val="200"/>
              </a:spcBef>
              <a:defRPr sz="900">
                <a:solidFill>
                  <a:srgbClr val="334155"/>
                </a:solidFill>
                <a:latin typeface="Segoe UI"/>
              </a:defRPr>
            </a:pPr>
            <a:r>
              <a:t>• LightGBM selected over Logistic Regression, Random Forest, &amp; XGBoost.</a:t>
            </a:r>
          </a:p>
          <a:p>
            <a:pPr>
              <a:spcBef>
                <a:spcPts val="200"/>
              </a:spcBef>
              <a:defRPr sz="900">
                <a:solidFill>
                  <a:srgbClr val="334155"/>
                </a:solidFill>
                <a:latin typeface="Segoe UI"/>
              </a:defRPr>
            </a:pPr>
            <a:r>
              <a:t>• Platt sigmoid scaling transforms raw logits into true probabilities.</a:t>
            </a:r>
          </a:p>
        </p:txBody>
      </p:sp>
      <p:sp>
        <p:nvSpPr>
          <p:cNvPr id="16" name="Rounded Rectangle 15"/>
          <p:cNvSpPr/>
          <p:nvPr/>
        </p:nvSpPr>
        <p:spPr>
          <a:xfrm>
            <a:off x="5760720" y="1371600"/>
            <a:ext cx="5699455" cy="4846320"/>
          </a:xfrm>
          <a:prstGeom prst="roundRect">
            <a:avLst/>
          </a:prstGeom>
          <a:solidFill>
            <a:srgbClr val="FFFFFF"/>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fig_7_4_home_credit_gain.png"/>
          <p:cNvPicPr>
            <a:picLocks noChangeAspect="1"/>
          </p:cNvPicPr>
          <p:nvPr/>
        </p:nvPicPr>
        <p:blipFill>
          <a:blip r:embed="rId2"/>
          <a:stretch>
            <a:fillRect/>
          </a:stretch>
        </p:blipFill>
        <p:spPr>
          <a:xfrm>
            <a:off x="5852160" y="1463040"/>
            <a:ext cx="5516575" cy="466344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84048"/>
            <a:ext cx="10728655" cy="274320"/>
          </a:xfrm>
          <a:prstGeom prst="rect">
            <a:avLst/>
          </a:prstGeom>
          <a:noFill/>
        </p:spPr>
        <p:txBody>
          <a:bodyPr wrap="none">
            <a:spAutoFit/>
          </a:bodyPr>
          <a:lstStyle/>
          <a:p>
            <a:pPr>
              <a:defRPr sz="950" b="1">
                <a:solidFill>
                  <a:srgbClr val="2563EB"/>
                </a:solidFill>
                <a:latin typeface="Segoe UI"/>
              </a:defRPr>
            </a:pPr>
            <a:r>
              <a:t>EXPERIMENTAL RESULTS · PILLAR 1 VALIDATION</a:t>
            </a:r>
          </a:p>
        </p:txBody>
      </p:sp>
      <p:sp>
        <p:nvSpPr>
          <p:cNvPr id="3" name="TextBox 2"/>
          <p:cNvSpPr txBox="1"/>
          <p:nvPr/>
        </p:nvSpPr>
        <p:spPr>
          <a:xfrm>
            <a:off x="731520" y="658368"/>
            <a:ext cx="10728655" cy="502920"/>
          </a:xfrm>
          <a:prstGeom prst="rect">
            <a:avLst/>
          </a:prstGeom>
          <a:noFill/>
        </p:spPr>
        <p:txBody>
          <a:bodyPr wrap="none">
            <a:spAutoFit/>
          </a:bodyPr>
          <a:lstStyle/>
          <a:p>
            <a:pPr>
              <a:defRPr sz="2200" b="1">
                <a:solidFill>
                  <a:srgbClr val="0F172A"/>
                </a:solidFill>
                <a:latin typeface="Segoe UI"/>
              </a:defRPr>
            </a:pPr>
            <a:r>
              <a:t>Empirical Evaluation: Behavioral Machine Learning</a:t>
            </a:r>
          </a:p>
        </p:txBody>
      </p:sp>
      <p:sp>
        <p:nvSpPr>
          <p:cNvPr id="4" name="Rectangle 3"/>
          <p:cNvSpPr/>
          <p:nvPr/>
        </p:nvSpPr>
        <p:spPr>
          <a:xfrm>
            <a:off x="731520" y="1207008"/>
            <a:ext cx="10728655" cy="13716"/>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46520"/>
            <a:ext cx="2743200" cy="274320"/>
          </a:xfrm>
          <a:prstGeom prst="rect">
            <a:avLst/>
          </a:prstGeom>
          <a:noFill/>
        </p:spPr>
        <p:txBody>
          <a:bodyPr wrap="none">
            <a:spAutoFit/>
          </a:bodyPr>
          <a:lstStyle/>
          <a:p>
            <a:pPr>
              <a:defRPr sz="900">
                <a:solidFill>
                  <a:srgbClr val="64748B"/>
                </a:solidFill>
                <a:latin typeface="Segoe UI"/>
              </a:defRPr>
            </a:pPr>
            <a:r>
              <a:t>05/10/2026 · Project Review</a:t>
            </a:r>
          </a:p>
        </p:txBody>
      </p:sp>
      <p:sp>
        <p:nvSpPr>
          <p:cNvPr id="6" name="TextBox 5"/>
          <p:cNvSpPr txBox="1"/>
          <p:nvPr/>
        </p:nvSpPr>
        <p:spPr>
          <a:xfrm>
            <a:off x="3657600" y="6446520"/>
            <a:ext cx="4876495" cy="274320"/>
          </a:xfrm>
          <a:prstGeom prst="rect">
            <a:avLst/>
          </a:prstGeom>
          <a:noFill/>
        </p:spPr>
        <p:txBody>
          <a:bodyPr wrap="none">
            <a:spAutoFit/>
          </a:bodyPr>
          <a:lstStyle/>
          <a:p>
            <a:pPr algn="ctr">
              <a:defRPr sz="900">
                <a:solidFill>
                  <a:srgbClr val="64748B"/>
                </a:solidFill>
                <a:latin typeface="Segoe UI"/>
              </a:defRPr>
            </a:pPr>
            <a:r>
              <a:t>BCSE497J · Behavioral Credit Decision Support System · SCOPE</a:t>
            </a:r>
          </a:p>
        </p:txBody>
      </p:sp>
      <p:sp>
        <p:nvSpPr>
          <p:cNvPr id="7" name="TextBox 6"/>
          <p:cNvSpPr txBox="1"/>
          <p:nvPr/>
        </p:nvSpPr>
        <p:spPr>
          <a:xfrm>
            <a:off x="8716975" y="6446520"/>
            <a:ext cx="2743200" cy="274320"/>
          </a:xfrm>
          <a:prstGeom prst="rect">
            <a:avLst/>
          </a:prstGeom>
          <a:noFill/>
        </p:spPr>
        <p:txBody>
          <a:bodyPr wrap="none">
            <a:spAutoFit/>
          </a:bodyPr>
          <a:lstStyle/>
          <a:p>
            <a:pPr algn="r">
              <a:defRPr sz="900" b="1">
                <a:solidFill>
                  <a:srgbClr val="64748B"/>
                </a:solidFill>
                <a:latin typeface="Segoe UI"/>
              </a:defRPr>
            </a:pPr>
            <a:r>
              <a:t>14 / 17</a:t>
            </a:r>
          </a:p>
        </p:txBody>
      </p:sp>
      <p:sp>
        <p:nvSpPr>
          <p:cNvPr id="8" name="Rounded Rectangle 7"/>
          <p:cNvSpPr/>
          <p:nvPr/>
        </p:nvSpPr>
        <p:spPr>
          <a:xfrm>
            <a:off x="731520" y="1371600"/>
            <a:ext cx="4754880" cy="1051560"/>
          </a:xfrm>
          <a:prstGeom prst="round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444752"/>
            <a:ext cx="4480560" cy="905256"/>
          </a:xfrm>
          <a:prstGeom prst="rect">
            <a:avLst/>
          </a:prstGeom>
          <a:noFill/>
        </p:spPr>
        <p:txBody>
          <a:bodyPr wrap="square" lIns="0" tIns="0" rIns="0" bIns="0">
            <a:spAutoFit/>
          </a:bodyPr>
          <a:lstStyle/>
          <a:p>
            <a:pPr>
              <a:defRPr sz="2400" b="1">
                <a:solidFill>
                  <a:srgbClr val="2563EB"/>
                </a:solidFill>
                <a:latin typeface="Segoe UI"/>
              </a:defRPr>
            </a:pPr>
            <a:r>
              <a:t>0.7725</a:t>
            </a:r>
          </a:p>
          <a:p>
            <a:pPr>
              <a:spcBef>
                <a:spcPts val="200"/>
              </a:spcBef>
              <a:defRPr sz="950">
                <a:solidFill>
                  <a:srgbClr val="64748B"/>
                </a:solidFill>
                <a:latin typeface="Segoe UI"/>
              </a:defRPr>
            </a:pPr>
            <a:r>
              <a:t>ROC-AUC on Held-Out Test Set (30k UCI records)</a:t>
            </a:r>
          </a:p>
        </p:txBody>
      </p:sp>
      <p:sp>
        <p:nvSpPr>
          <p:cNvPr id="10" name="Rounded Rectangle 9"/>
          <p:cNvSpPr/>
          <p:nvPr/>
        </p:nvSpPr>
        <p:spPr>
          <a:xfrm>
            <a:off x="731520" y="2542032"/>
            <a:ext cx="4754880" cy="1051560"/>
          </a:xfrm>
          <a:prstGeom prst="round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615184"/>
            <a:ext cx="4480560" cy="905256"/>
          </a:xfrm>
          <a:prstGeom prst="rect">
            <a:avLst/>
          </a:prstGeom>
          <a:noFill/>
        </p:spPr>
        <p:txBody>
          <a:bodyPr wrap="square" lIns="0" tIns="0" rIns="0" bIns="0">
            <a:spAutoFit/>
          </a:bodyPr>
          <a:lstStyle/>
          <a:p>
            <a:pPr>
              <a:defRPr sz="2400" b="1">
                <a:solidFill>
                  <a:srgbClr val="059669"/>
                </a:solidFill>
                <a:latin typeface="Segoe UI"/>
              </a:defRPr>
            </a:pPr>
            <a:r>
              <a:t>0.5304</a:t>
            </a:r>
          </a:p>
          <a:p>
            <a:pPr>
              <a:spcBef>
                <a:spcPts val="200"/>
              </a:spcBef>
              <a:defRPr sz="950">
                <a:solidFill>
                  <a:srgbClr val="64748B"/>
                </a:solidFill>
                <a:latin typeface="Segoe UI"/>
              </a:defRPr>
            </a:pPr>
            <a:r>
              <a:t>PR-AUC (Substantial Lift over 0.22 Baseline)</a:t>
            </a:r>
          </a:p>
        </p:txBody>
      </p:sp>
      <p:sp>
        <p:nvSpPr>
          <p:cNvPr id="12" name="Rounded Rectangle 11"/>
          <p:cNvSpPr/>
          <p:nvPr/>
        </p:nvSpPr>
        <p:spPr>
          <a:xfrm>
            <a:off x="731520" y="3712463"/>
            <a:ext cx="4754880" cy="1051560"/>
          </a:xfrm>
          <a:prstGeom prst="round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3785615"/>
            <a:ext cx="4480560" cy="905256"/>
          </a:xfrm>
          <a:prstGeom prst="rect">
            <a:avLst/>
          </a:prstGeom>
          <a:noFill/>
        </p:spPr>
        <p:txBody>
          <a:bodyPr wrap="square" lIns="0" tIns="0" rIns="0" bIns="0">
            <a:spAutoFit/>
          </a:bodyPr>
          <a:lstStyle/>
          <a:p>
            <a:pPr>
              <a:defRPr sz="2400" b="1">
                <a:solidFill>
                  <a:srgbClr val="0F172A"/>
                </a:solidFill>
                <a:latin typeface="Segoe UI"/>
              </a:defRPr>
            </a:pPr>
            <a:r>
              <a:t>81.53%</a:t>
            </a:r>
          </a:p>
          <a:p>
            <a:pPr>
              <a:spcBef>
                <a:spcPts val="200"/>
              </a:spcBef>
              <a:defRPr sz="950">
                <a:solidFill>
                  <a:srgbClr val="64748B"/>
                </a:solidFill>
                <a:latin typeface="Segoe UI"/>
              </a:defRPr>
            </a:pPr>
            <a:r>
              <a:t>Test Accuracy at Decision Threshold 0.20</a:t>
            </a:r>
          </a:p>
        </p:txBody>
      </p:sp>
      <p:sp>
        <p:nvSpPr>
          <p:cNvPr id="14" name="Rounded Rectangle 13"/>
          <p:cNvSpPr/>
          <p:nvPr/>
        </p:nvSpPr>
        <p:spPr>
          <a:xfrm>
            <a:off x="731520" y="4882896"/>
            <a:ext cx="4754880" cy="1051560"/>
          </a:xfrm>
          <a:prstGeom prst="round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4956048"/>
            <a:ext cx="4480560" cy="905256"/>
          </a:xfrm>
          <a:prstGeom prst="rect">
            <a:avLst/>
          </a:prstGeom>
          <a:noFill/>
        </p:spPr>
        <p:txBody>
          <a:bodyPr wrap="square" lIns="0" tIns="0" rIns="0" bIns="0">
            <a:spAutoFit/>
          </a:bodyPr>
          <a:lstStyle/>
          <a:p>
            <a:pPr>
              <a:defRPr sz="2400" b="1">
                <a:solidFill>
                  <a:srgbClr val="0F766E"/>
                </a:solidFill>
                <a:latin typeface="Segoe UI"/>
              </a:defRPr>
            </a:pPr>
            <a:r>
              <a:t>127 / 127</a:t>
            </a:r>
          </a:p>
          <a:p>
            <a:pPr>
              <a:spcBef>
                <a:spcPts val="200"/>
              </a:spcBef>
              <a:defRPr sz="950">
                <a:solidFill>
                  <a:srgbClr val="64748B"/>
                </a:solidFill>
                <a:latin typeface="Segoe UI"/>
              </a:defRPr>
            </a:pPr>
            <a:r>
              <a:t>Automated Pytest Checks Passing (100% Suite)</a:t>
            </a:r>
          </a:p>
        </p:txBody>
      </p:sp>
      <p:sp>
        <p:nvSpPr>
          <p:cNvPr id="16" name="Rounded Rectangle 15"/>
          <p:cNvSpPr/>
          <p:nvPr/>
        </p:nvSpPr>
        <p:spPr>
          <a:xfrm>
            <a:off x="5760720" y="1371600"/>
            <a:ext cx="5699455" cy="4846320"/>
          </a:xfrm>
          <a:prstGeom prst="roundRect">
            <a:avLst/>
          </a:prstGeom>
          <a:solidFill>
            <a:srgbClr val="FFFFFF"/>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fig_7_1_model_comparison.png"/>
          <p:cNvPicPr>
            <a:picLocks noChangeAspect="1"/>
          </p:cNvPicPr>
          <p:nvPr/>
        </p:nvPicPr>
        <p:blipFill>
          <a:blip r:embed="rId2"/>
          <a:stretch>
            <a:fillRect/>
          </a:stretch>
        </p:blipFill>
        <p:spPr>
          <a:xfrm>
            <a:off x="5852160" y="1463040"/>
            <a:ext cx="5516575" cy="466344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84048"/>
            <a:ext cx="10728655" cy="274320"/>
          </a:xfrm>
          <a:prstGeom prst="rect">
            <a:avLst/>
          </a:prstGeom>
          <a:noFill/>
        </p:spPr>
        <p:txBody>
          <a:bodyPr wrap="none">
            <a:spAutoFit/>
          </a:bodyPr>
          <a:lstStyle/>
          <a:p>
            <a:pPr>
              <a:defRPr sz="950" b="1">
                <a:solidFill>
                  <a:srgbClr val="2563EB"/>
                </a:solidFill>
                <a:latin typeface="Segoe UI"/>
              </a:defRPr>
            </a:pPr>
            <a:r>
              <a:t>SUMMARY &amp; ROADMAP · RESEARCH IMPACT</a:t>
            </a:r>
          </a:p>
        </p:txBody>
      </p:sp>
      <p:sp>
        <p:nvSpPr>
          <p:cNvPr id="3" name="TextBox 2"/>
          <p:cNvSpPr txBox="1"/>
          <p:nvPr/>
        </p:nvSpPr>
        <p:spPr>
          <a:xfrm>
            <a:off x="731520" y="658368"/>
            <a:ext cx="10728655" cy="502920"/>
          </a:xfrm>
          <a:prstGeom prst="rect">
            <a:avLst/>
          </a:prstGeom>
          <a:noFill/>
        </p:spPr>
        <p:txBody>
          <a:bodyPr wrap="none">
            <a:spAutoFit/>
          </a:bodyPr>
          <a:lstStyle/>
          <a:p>
            <a:pPr>
              <a:defRPr sz="2200" b="1">
                <a:solidFill>
                  <a:srgbClr val="0F172A"/>
                </a:solidFill>
                <a:latin typeface="Segoe UI"/>
              </a:defRPr>
            </a:pPr>
            <a:r>
              <a:t>Key Conclusions &amp; Future Engineering Roadmap</a:t>
            </a:r>
          </a:p>
        </p:txBody>
      </p:sp>
      <p:sp>
        <p:nvSpPr>
          <p:cNvPr id="4" name="Rectangle 3"/>
          <p:cNvSpPr/>
          <p:nvPr/>
        </p:nvSpPr>
        <p:spPr>
          <a:xfrm>
            <a:off x="731520" y="1207008"/>
            <a:ext cx="10728655" cy="13716"/>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46520"/>
            <a:ext cx="2743200" cy="274320"/>
          </a:xfrm>
          <a:prstGeom prst="rect">
            <a:avLst/>
          </a:prstGeom>
          <a:noFill/>
        </p:spPr>
        <p:txBody>
          <a:bodyPr wrap="none">
            <a:spAutoFit/>
          </a:bodyPr>
          <a:lstStyle/>
          <a:p>
            <a:pPr>
              <a:defRPr sz="900">
                <a:solidFill>
                  <a:srgbClr val="64748B"/>
                </a:solidFill>
                <a:latin typeface="Segoe UI"/>
              </a:defRPr>
            </a:pPr>
            <a:r>
              <a:t>05/10/2026 · Project Review</a:t>
            </a:r>
          </a:p>
        </p:txBody>
      </p:sp>
      <p:sp>
        <p:nvSpPr>
          <p:cNvPr id="6" name="TextBox 5"/>
          <p:cNvSpPr txBox="1"/>
          <p:nvPr/>
        </p:nvSpPr>
        <p:spPr>
          <a:xfrm>
            <a:off x="3657600" y="6446520"/>
            <a:ext cx="4876495" cy="274320"/>
          </a:xfrm>
          <a:prstGeom prst="rect">
            <a:avLst/>
          </a:prstGeom>
          <a:noFill/>
        </p:spPr>
        <p:txBody>
          <a:bodyPr wrap="none">
            <a:spAutoFit/>
          </a:bodyPr>
          <a:lstStyle/>
          <a:p>
            <a:pPr algn="ctr">
              <a:defRPr sz="900">
                <a:solidFill>
                  <a:srgbClr val="64748B"/>
                </a:solidFill>
                <a:latin typeface="Segoe UI"/>
              </a:defRPr>
            </a:pPr>
            <a:r>
              <a:t>BCSE497J · Behavioral Credit Decision Support System · SCOPE</a:t>
            </a:r>
          </a:p>
        </p:txBody>
      </p:sp>
      <p:sp>
        <p:nvSpPr>
          <p:cNvPr id="7" name="TextBox 6"/>
          <p:cNvSpPr txBox="1"/>
          <p:nvPr/>
        </p:nvSpPr>
        <p:spPr>
          <a:xfrm>
            <a:off x="8716975" y="6446520"/>
            <a:ext cx="2743200" cy="274320"/>
          </a:xfrm>
          <a:prstGeom prst="rect">
            <a:avLst/>
          </a:prstGeom>
          <a:noFill/>
        </p:spPr>
        <p:txBody>
          <a:bodyPr wrap="none">
            <a:spAutoFit/>
          </a:bodyPr>
          <a:lstStyle/>
          <a:p>
            <a:pPr algn="r">
              <a:defRPr sz="900" b="1">
                <a:solidFill>
                  <a:srgbClr val="64748B"/>
                </a:solidFill>
                <a:latin typeface="Segoe UI"/>
              </a:defRPr>
            </a:pPr>
            <a:r>
              <a:t>15 / 17</a:t>
            </a:r>
          </a:p>
        </p:txBody>
      </p:sp>
      <p:sp>
        <p:nvSpPr>
          <p:cNvPr id="8" name="Rounded Rectangle 7"/>
          <p:cNvSpPr/>
          <p:nvPr/>
        </p:nvSpPr>
        <p:spPr>
          <a:xfrm>
            <a:off x="731520" y="1371600"/>
            <a:ext cx="5257800" cy="4846320"/>
          </a:xfrm>
          <a:prstGeom prst="round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00200"/>
            <a:ext cx="4800600" cy="4389120"/>
          </a:xfrm>
          <a:prstGeom prst="rect">
            <a:avLst/>
          </a:prstGeom>
          <a:noFill/>
        </p:spPr>
        <p:txBody>
          <a:bodyPr wrap="square">
            <a:spAutoFit/>
          </a:bodyPr>
          <a:lstStyle/>
          <a:p>
            <a:pPr>
              <a:defRPr sz="1100" b="1">
                <a:solidFill>
                  <a:srgbClr val="2563EB"/>
                </a:solidFill>
                <a:latin typeface="Segoe UI"/>
              </a:defRPr>
            </a:pPr>
            <a:r>
              <a:t>RESEARCH CONCLUSIONS &amp; CONTRIBUTIONS</a:t>
            </a:r>
          </a:p>
          <a:p>
            <a:pPr>
              <a:spcBef>
                <a:spcPts val="600"/>
              </a:spcBef>
              <a:defRPr sz="950">
                <a:solidFill>
                  <a:srgbClr val="334155"/>
                </a:solidFill>
                <a:latin typeface="Segoe UI"/>
              </a:defRPr>
            </a:pPr>
            <a:r>
              <a:t>•  Dual-Pillar Supervised ML Platform: Successfully eliminated reliance on arbitrary heuristic point cards by engineering an empirical 15-dimensional bridge linking statement features to 30,000 UCI default outcomes.</a:t>
            </a:r>
          </a:p>
          <a:p>
            <a:pPr>
              <a:spcBef>
                <a:spcPts val="600"/>
              </a:spcBef>
              <a:defRPr sz="950">
                <a:solidFill>
                  <a:srgbClr val="334155"/>
                </a:solidFill>
                <a:latin typeface="Segoe UI"/>
              </a:defRPr>
            </a:pPr>
            <a:r>
              <a:t>•  Empirical Performance Parity: Achieved ROC-AUC 0.7725 and PR-AUC 0.5304 on behavioral default risk, paired with ROC-AUC 0.7737 on macro bureau benchmark with 100% 10-fold CV on transaction NLP.</a:t>
            </a:r>
          </a:p>
          <a:p>
            <a:pPr>
              <a:spcBef>
                <a:spcPts val="600"/>
              </a:spcBef>
              <a:defRPr sz="950">
                <a:solidFill>
                  <a:srgbClr val="334155"/>
                </a:solidFill>
                <a:latin typeface="Segoe UI"/>
              </a:defRPr>
            </a:pPr>
            <a:r>
              <a:t>•  Verifiable Explainability &amp; Governance: Delivered local interpretability via exact Tree-SHAP Shapley attributions, ensuring loan officers understand feature contributions before making decisions.</a:t>
            </a:r>
          </a:p>
          <a:p>
            <a:pPr>
              <a:spcBef>
                <a:spcPts val="600"/>
              </a:spcBef>
              <a:defRPr sz="950">
                <a:solidFill>
                  <a:srgbClr val="334155"/>
                </a:solidFill>
                <a:latin typeface="Segoe UI"/>
              </a:defRPr>
            </a:pPr>
            <a:r>
              <a:t>•  Cryptographic Integrity &amp; DPDP Compliance: Architected an immutable SHA-256 forward hash-chain ledger with external filesystem anchor and compliant tombstone PII erasure protocol.</a:t>
            </a:r>
          </a:p>
        </p:txBody>
      </p:sp>
      <p:sp>
        <p:nvSpPr>
          <p:cNvPr id="10" name="Rounded Rectangle 9"/>
          <p:cNvSpPr/>
          <p:nvPr/>
        </p:nvSpPr>
        <p:spPr>
          <a:xfrm>
            <a:off x="6202375" y="1371600"/>
            <a:ext cx="5257800" cy="4846320"/>
          </a:xfrm>
          <a:prstGeom prst="round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30975" y="1600200"/>
            <a:ext cx="4800600" cy="4389120"/>
          </a:xfrm>
          <a:prstGeom prst="rect">
            <a:avLst/>
          </a:prstGeom>
          <a:noFill/>
        </p:spPr>
        <p:txBody>
          <a:bodyPr wrap="square">
            <a:spAutoFit/>
          </a:bodyPr>
          <a:lstStyle/>
          <a:p>
            <a:pPr>
              <a:defRPr sz="1100" b="1">
                <a:solidFill>
                  <a:srgbClr val="0F766E"/>
                </a:solidFill>
                <a:latin typeface="Segoe UI"/>
              </a:defRPr>
            </a:pPr>
            <a:r>
              <a:t>FUTURE ENGINEERING ROADMAP</a:t>
            </a:r>
          </a:p>
          <a:p>
            <a:pPr>
              <a:spcBef>
                <a:spcPts val="600"/>
              </a:spcBef>
              <a:defRPr sz="950">
                <a:solidFill>
                  <a:srgbClr val="334155"/>
                </a:solidFill>
                <a:latin typeface="Segoe UI"/>
              </a:defRPr>
            </a:pPr>
            <a:r>
              <a:t>•  Account Aggregator (AA) API Integration: Integrate live RBI-regulated Account Aggregator connectors for automated, consent-based, tamper-proof electronic bank statement fetching.</a:t>
            </a:r>
          </a:p>
          <a:p>
            <a:pPr>
              <a:spcBef>
                <a:spcPts val="600"/>
              </a:spcBef>
              <a:defRPr sz="950">
                <a:solidFill>
                  <a:srgbClr val="334155"/>
                </a:solidFill>
                <a:latin typeface="Segoe UI"/>
              </a:defRPr>
            </a:pPr>
            <a:r>
              <a:t>•  Transformer-Based Vernacular NLP: Deploy fine-tuned multilingual transformer models (FinBERT / IndicBERT) for deep semantic comprehension of regional Indian banking narrations.</a:t>
            </a:r>
          </a:p>
          <a:p>
            <a:pPr>
              <a:spcBef>
                <a:spcPts val="600"/>
              </a:spcBef>
              <a:defRPr sz="950">
                <a:solidFill>
                  <a:srgbClr val="334155"/>
                </a:solidFill>
                <a:latin typeface="Segoe UI"/>
              </a:defRPr>
            </a:pPr>
            <a:r>
              <a:t>•  Continuous Model Drift Tracking: Implement real-time Population Stability Index (PSI) and Wasserstein distance monitoring to alert underwriters of macroeconomic distributional shifts.</a:t>
            </a:r>
          </a:p>
          <a:p>
            <a:pPr>
              <a:spcBef>
                <a:spcPts val="600"/>
              </a:spcBef>
              <a:defRPr sz="950">
                <a:solidFill>
                  <a:srgbClr val="334155"/>
                </a:solidFill>
                <a:latin typeface="Segoe UI"/>
              </a:defRPr>
            </a:pPr>
            <a:r>
              <a:t>•  Privacy-Preserving Federated Learning: Establish secure federated learning protocols enabling multiple banking institutions to collaboratively train credit models without centralizing borrower data.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84048"/>
            <a:ext cx="10728655" cy="274320"/>
          </a:xfrm>
          <a:prstGeom prst="rect">
            <a:avLst/>
          </a:prstGeom>
          <a:noFill/>
        </p:spPr>
        <p:txBody>
          <a:bodyPr wrap="none">
            <a:spAutoFit/>
          </a:bodyPr>
          <a:lstStyle/>
          <a:p>
            <a:pPr>
              <a:defRPr sz="950" b="1">
                <a:solidFill>
                  <a:srgbClr val="2563EB"/>
                </a:solidFill>
                <a:latin typeface="Segoe UI"/>
              </a:defRPr>
            </a:pPr>
            <a:r>
              <a:t>DELIVERABLES · DEPLOYED ARTIFACTS</a:t>
            </a:r>
          </a:p>
        </p:txBody>
      </p:sp>
      <p:sp>
        <p:nvSpPr>
          <p:cNvPr id="3" name="TextBox 2"/>
          <p:cNvSpPr txBox="1"/>
          <p:nvPr/>
        </p:nvSpPr>
        <p:spPr>
          <a:xfrm>
            <a:off x="731520" y="658368"/>
            <a:ext cx="10728655" cy="502920"/>
          </a:xfrm>
          <a:prstGeom prst="rect">
            <a:avLst/>
          </a:prstGeom>
          <a:noFill/>
        </p:spPr>
        <p:txBody>
          <a:bodyPr wrap="none">
            <a:spAutoFit/>
          </a:bodyPr>
          <a:lstStyle/>
          <a:p>
            <a:pPr>
              <a:defRPr sz="2200" b="1">
                <a:solidFill>
                  <a:srgbClr val="0F172A"/>
                </a:solidFill>
                <a:latin typeface="Segoe UI"/>
              </a:defRPr>
            </a:pPr>
            <a:r>
              <a:t>Tangible Outcomes &amp; Production Deployment</a:t>
            </a:r>
          </a:p>
        </p:txBody>
      </p:sp>
      <p:sp>
        <p:nvSpPr>
          <p:cNvPr id="4" name="Rectangle 3"/>
          <p:cNvSpPr/>
          <p:nvPr/>
        </p:nvSpPr>
        <p:spPr>
          <a:xfrm>
            <a:off x="731520" y="1207008"/>
            <a:ext cx="10728655" cy="13716"/>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46520"/>
            <a:ext cx="2743200" cy="274320"/>
          </a:xfrm>
          <a:prstGeom prst="rect">
            <a:avLst/>
          </a:prstGeom>
          <a:noFill/>
        </p:spPr>
        <p:txBody>
          <a:bodyPr wrap="none">
            <a:spAutoFit/>
          </a:bodyPr>
          <a:lstStyle/>
          <a:p>
            <a:pPr>
              <a:defRPr sz="900">
                <a:solidFill>
                  <a:srgbClr val="64748B"/>
                </a:solidFill>
                <a:latin typeface="Segoe UI"/>
              </a:defRPr>
            </a:pPr>
            <a:r>
              <a:t>05/10/2026 · Project Review</a:t>
            </a:r>
          </a:p>
        </p:txBody>
      </p:sp>
      <p:sp>
        <p:nvSpPr>
          <p:cNvPr id="6" name="TextBox 5"/>
          <p:cNvSpPr txBox="1"/>
          <p:nvPr/>
        </p:nvSpPr>
        <p:spPr>
          <a:xfrm>
            <a:off x="3657600" y="6446520"/>
            <a:ext cx="4876495" cy="274320"/>
          </a:xfrm>
          <a:prstGeom prst="rect">
            <a:avLst/>
          </a:prstGeom>
          <a:noFill/>
        </p:spPr>
        <p:txBody>
          <a:bodyPr wrap="none">
            <a:spAutoFit/>
          </a:bodyPr>
          <a:lstStyle/>
          <a:p>
            <a:pPr algn="ctr">
              <a:defRPr sz="900">
                <a:solidFill>
                  <a:srgbClr val="64748B"/>
                </a:solidFill>
                <a:latin typeface="Segoe UI"/>
              </a:defRPr>
            </a:pPr>
            <a:r>
              <a:t>BCSE497J · Behavioral Credit Decision Support System · SCOPE</a:t>
            </a:r>
          </a:p>
        </p:txBody>
      </p:sp>
      <p:sp>
        <p:nvSpPr>
          <p:cNvPr id="7" name="TextBox 6"/>
          <p:cNvSpPr txBox="1"/>
          <p:nvPr/>
        </p:nvSpPr>
        <p:spPr>
          <a:xfrm>
            <a:off x="8716975" y="6446520"/>
            <a:ext cx="2743200" cy="274320"/>
          </a:xfrm>
          <a:prstGeom prst="rect">
            <a:avLst/>
          </a:prstGeom>
          <a:noFill/>
        </p:spPr>
        <p:txBody>
          <a:bodyPr wrap="none">
            <a:spAutoFit/>
          </a:bodyPr>
          <a:lstStyle/>
          <a:p>
            <a:pPr algn="r">
              <a:defRPr sz="900" b="1">
                <a:solidFill>
                  <a:srgbClr val="64748B"/>
                </a:solidFill>
                <a:latin typeface="Segoe UI"/>
              </a:defRPr>
            </a:pPr>
            <a:r>
              <a:t>16 / 17</a:t>
            </a:r>
          </a:p>
        </p:txBody>
      </p:sp>
      <p:sp>
        <p:nvSpPr>
          <p:cNvPr id="8" name="Rounded Rectangle 7"/>
          <p:cNvSpPr/>
          <p:nvPr/>
        </p:nvSpPr>
        <p:spPr>
          <a:xfrm>
            <a:off x="731520" y="1371600"/>
            <a:ext cx="10728655" cy="1463040"/>
          </a:xfrm>
          <a:prstGeom prst="roundRect">
            <a:avLst/>
          </a:prstGeom>
          <a:solidFill>
            <a:srgbClr val="0F172A"/>
          </a:solidFill>
          <a:ln w="9525">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508760"/>
            <a:ext cx="10180015" cy="1188720"/>
          </a:xfrm>
          <a:prstGeom prst="rect">
            <a:avLst/>
          </a:prstGeom>
          <a:noFill/>
        </p:spPr>
        <p:txBody>
          <a:bodyPr wrap="square">
            <a:spAutoFit/>
          </a:bodyPr>
          <a:lstStyle/>
          <a:p>
            <a:pPr>
              <a:defRPr sz="1000" b="1">
                <a:solidFill>
                  <a:srgbClr val="38BDF8"/>
                </a:solidFill>
                <a:latin typeface="Segoe UI"/>
              </a:defRPr>
            </a:pPr>
            <a:r>
              <a:t>PRODUCTION DEPLOYMENT &amp; OPEN SOURCE</a:t>
            </a:r>
          </a:p>
          <a:p>
            <a:pPr>
              <a:spcBef>
                <a:spcPts val="300"/>
              </a:spcBef>
              <a:defRPr sz="1400" b="1">
                <a:solidFill>
                  <a:srgbClr val="FFFFFF"/>
                </a:solidFill>
                <a:latin typeface="Segoe UI"/>
              </a:defRPr>
            </a:pPr>
            <a:r>
              <a:t>Live Decision Support System:  https://behavioral-credit-system.streamlit.app</a:t>
            </a:r>
          </a:p>
          <a:p>
            <a:pPr>
              <a:spcBef>
                <a:spcPts val="300"/>
              </a:spcBef>
              <a:defRPr sz="1100">
                <a:solidFill>
                  <a:srgbClr val="94A3B8"/>
                </a:solidFill>
                <a:latin typeface="Segoe UI"/>
              </a:defRPr>
            </a:pPr>
            <a:r>
              <a:t>Public GitHub Repository:  https://github.com/rohith5709/behavioral-credit-decision-support-system</a:t>
            </a:r>
          </a:p>
        </p:txBody>
      </p:sp>
      <p:sp>
        <p:nvSpPr>
          <p:cNvPr id="10" name="Rounded Rectangle 9"/>
          <p:cNvSpPr/>
          <p:nvPr/>
        </p:nvSpPr>
        <p:spPr>
          <a:xfrm>
            <a:off x="731520" y="3017520"/>
            <a:ext cx="5257800" cy="3200400"/>
          </a:xfrm>
          <a:prstGeom prst="round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3154680"/>
            <a:ext cx="4800600" cy="2926080"/>
          </a:xfrm>
          <a:prstGeom prst="rect">
            <a:avLst/>
          </a:prstGeom>
          <a:noFill/>
        </p:spPr>
        <p:txBody>
          <a:bodyPr wrap="square">
            <a:spAutoFit/>
          </a:bodyPr>
          <a:lstStyle/>
          <a:p>
            <a:pPr>
              <a:defRPr sz="1100" b="1">
                <a:solidFill>
                  <a:srgbClr val="059669"/>
                </a:solidFill>
                <a:latin typeface="Segoe UI"/>
              </a:defRPr>
            </a:pPr>
            <a:r>
              <a:t>COMPLETED ENGINEERING DELIVERABLES</a:t>
            </a:r>
          </a:p>
          <a:p>
            <a:pPr>
              <a:spcBef>
                <a:spcPts val="500"/>
              </a:spcBef>
              <a:defRPr sz="950">
                <a:solidFill>
                  <a:srgbClr val="334155"/>
                </a:solidFill>
                <a:latin typeface="Segoe UI"/>
              </a:defRPr>
            </a:pPr>
            <a:r>
              <a:t>✓  Live Production Dashboard: Deployed on Streamlit Cloud with Linux runtime and libgomp1 support.</a:t>
            </a:r>
          </a:p>
          <a:p>
            <a:pPr>
              <a:spcBef>
                <a:spcPts val="500"/>
              </a:spcBef>
              <a:defRPr sz="950">
                <a:solidFill>
                  <a:srgbClr val="334155"/>
                </a:solidFill>
                <a:latin typeface="Segoe UI"/>
              </a:defRPr>
            </a:pPr>
            <a:r>
              <a:t>✓  127 Passing Automated Pytest Tests: 100% test suite passing with zero failures across ML, bridge, &amp; crypto logic.</a:t>
            </a:r>
          </a:p>
          <a:p>
            <a:pPr>
              <a:spcBef>
                <a:spcPts val="500"/>
              </a:spcBef>
              <a:defRPr sz="950">
                <a:solidFill>
                  <a:srgbClr val="334155"/>
                </a:solidFill>
                <a:latin typeface="Segoe UI"/>
              </a:defRPr>
            </a:pPr>
            <a:r>
              <a:t>✓  Comprehensive 58-Page Project Report: Formatted strictly according to IEEE/VIT standards with 24 tables &amp; 13 figures.</a:t>
            </a:r>
          </a:p>
          <a:p>
            <a:pPr>
              <a:spcBef>
                <a:spcPts val="500"/>
              </a:spcBef>
              <a:defRPr sz="950">
                <a:solidFill>
                  <a:srgbClr val="334155"/>
                </a:solidFill>
                <a:latin typeface="Segoe UI"/>
              </a:defRPr>
            </a:pPr>
            <a:r>
              <a:t>✓  Reproducible Data Pipelines: Fully frozen random seeds (Seed 42) for deterministic model verification.</a:t>
            </a:r>
          </a:p>
        </p:txBody>
      </p:sp>
      <p:sp>
        <p:nvSpPr>
          <p:cNvPr id="12" name="Rounded Rectangle 11"/>
          <p:cNvSpPr/>
          <p:nvPr/>
        </p:nvSpPr>
        <p:spPr>
          <a:xfrm>
            <a:off x="6202375" y="3017520"/>
            <a:ext cx="5257800" cy="3200400"/>
          </a:xfrm>
          <a:prstGeom prst="round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0975" y="3154680"/>
            <a:ext cx="4800600" cy="2926080"/>
          </a:xfrm>
          <a:prstGeom prst="rect">
            <a:avLst/>
          </a:prstGeom>
          <a:noFill/>
        </p:spPr>
        <p:txBody>
          <a:bodyPr wrap="square">
            <a:spAutoFit/>
          </a:bodyPr>
          <a:lstStyle/>
          <a:p>
            <a:pPr>
              <a:defRPr sz="1100" b="1">
                <a:solidFill>
                  <a:srgbClr val="D97706"/>
                </a:solidFill>
                <a:latin typeface="Segoe UI"/>
              </a:defRPr>
            </a:pPr>
            <a:r>
              <a:t>TARGETED SCHOLARLY &amp; INSTITUTIONAL OUTCOMES</a:t>
            </a:r>
          </a:p>
          <a:p>
            <a:pPr>
              <a:spcBef>
                <a:spcPts val="500"/>
              </a:spcBef>
              <a:defRPr sz="950">
                <a:solidFill>
                  <a:srgbClr val="334155"/>
                </a:solidFill>
                <a:latin typeface="Segoe UI"/>
              </a:defRPr>
            </a:pPr>
            <a:r>
              <a:t>🎯  Scopus-Indexed Conference Paper: Submission targeting international conference on AI in Financial Technology.</a:t>
            </a:r>
          </a:p>
          <a:p>
            <a:pPr>
              <a:spcBef>
                <a:spcPts val="500"/>
              </a:spcBef>
              <a:defRPr sz="950">
                <a:solidFill>
                  <a:srgbClr val="334155"/>
                </a:solidFill>
                <a:latin typeface="Segoe UI"/>
              </a:defRPr>
            </a:pPr>
            <a:r>
              <a:t>🎯  Institutional IP &amp; Copyright: Filing copyright protection for the proprietary 15-dimensional behavioral bridge architecture.</a:t>
            </a:r>
          </a:p>
          <a:p>
            <a:pPr>
              <a:spcBef>
                <a:spcPts val="500"/>
              </a:spcBef>
              <a:defRPr sz="950">
                <a:solidFill>
                  <a:srgbClr val="334155"/>
                </a:solidFill>
                <a:latin typeface="Segoe UI"/>
              </a:defRPr>
            </a:pPr>
            <a:r>
              <a:t>🎯  Cooperative Banking Pilot: Initiating proof-of-concept evaluation with regional cooperative credit societies.</a:t>
            </a:r>
          </a:p>
          <a:p>
            <a:pPr>
              <a:spcBef>
                <a:spcPts val="500"/>
              </a:spcBef>
              <a:defRPr sz="950">
                <a:solidFill>
                  <a:srgbClr val="334155"/>
                </a:solidFill>
                <a:latin typeface="Segoe UI"/>
              </a:defRPr>
            </a:pPr>
            <a:r>
              <a:t>🎯  Startup / Incubator Evaluation: Exploring commercial viability under university innovation incubators.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84048"/>
            <a:ext cx="10728655" cy="274320"/>
          </a:xfrm>
          <a:prstGeom prst="rect">
            <a:avLst/>
          </a:prstGeom>
          <a:noFill/>
        </p:spPr>
        <p:txBody>
          <a:bodyPr wrap="none">
            <a:spAutoFit/>
          </a:bodyPr>
          <a:lstStyle/>
          <a:p>
            <a:pPr>
              <a:defRPr sz="950" b="1">
                <a:solidFill>
                  <a:srgbClr val="2563EB"/>
                </a:solidFill>
                <a:latin typeface="Segoe UI"/>
              </a:defRPr>
            </a:pPr>
            <a:r>
              <a:t>SCHOLARLY CITATIONS · BIBLIOGRAPHY</a:t>
            </a:r>
          </a:p>
        </p:txBody>
      </p:sp>
      <p:sp>
        <p:nvSpPr>
          <p:cNvPr id="3" name="TextBox 2"/>
          <p:cNvSpPr txBox="1"/>
          <p:nvPr/>
        </p:nvSpPr>
        <p:spPr>
          <a:xfrm>
            <a:off x="731520" y="658368"/>
            <a:ext cx="10728655" cy="502920"/>
          </a:xfrm>
          <a:prstGeom prst="rect">
            <a:avLst/>
          </a:prstGeom>
          <a:noFill/>
        </p:spPr>
        <p:txBody>
          <a:bodyPr wrap="none">
            <a:spAutoFit/>
          </a:bodyPr>
          <a:lstStyle/>
          <a:p>
            <a:pPr>
              <a:defRPr sz="2200" b="1">
                <a:solidFill>
                  <a:srgbClr val="0F172A"/>
                </a:solidFill>
                <a:latin typeface="Segoe UI"/>
              </a:defRPr>
            </a:pPr>
            <a:r>
              <a:t>References &amp; Foundational Literature</a:t>
            </a:r>
          </a:p>
        </p:txBody>
      </p:sp>
      <p:sp>
        <p:nvSpPr>
          <p:cNvPr id="4" name="Rectangle 3"/>
          <p:cNvSpPr/>
          <p:nvPr/>
        </p:nvSpPr>
        <p:spPr>
          <a:xfrm>
            <a:off x="731520" y="1207008"/>
            <a:ext cx="10728655" cy="13716"/>
          </a:xfrm>
          <a:prstGeom prst="rect">
            <a:avLst/>
          </a:prstGeom>
          <a:solidFill>
            <a:srgbClr val="CBD5E1"/>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446520"/>
            <a:ext cx="2743200" cy="274320"/>
          </a:xfrm>
          <a:prstGeom prst="rect">
            <a:avLst/>
          </a:prstGeom>
          <a:noFill/>
        </p:spPr>
        <p:txBody>
          <a:bodyPr wrap="none">
            <a:spAutoFit/>
          </a:bodyPr>
          <a:lstStyle/>
          <a:p>
            <a:pPr>
              <a:defRPr sz="900">
                <a:solidFill>
                  <a:srgbClr val="64748B"/>
                </a:solidFill>
                <a:latin typeface="Segoe UI"/>
              </a:defRPr>
            </a:pPr>
            <a:r>
              <a:t>05/10/2026 · Project Review</a:t>
            </a:r>
          </a:p>
        </p:txBody>
      </p:sp>
      <p:sp>
        <p:nvSpPr>
          <p:cNvPr id="6" name="TextBox 5"/>
          <p:cNvSpPr txBox="1"/>
          <p:nvPr/>
        </p:nvSpPr>
        <p:spPr>
          <a:xfrm>
            <a:off x="3657600" y="6446520"/>
            <a:ext cx="4876495" cy="274320"/>
          </a:xfrm>
          <a:prstGeom prst="rect">
            <a:avLst/>
          </a:prstGeom>
          <a:noFill/>
        </p:spPr>
        <p:txBody>
          <a:bodyPr wrap="none">
            <a:spAutoFit/>
          </a:bodyPr>
          <a:lstStyle/>
          <a:p>
            <a:pPr algn="ctr">
              <a:defRPr sz="900">
                <a:solidFill>
                  <a:srgbClr val="64748B"/>
                </a:solidFill>
                <a:latin typeface="Segoe UI"/>
              </a:defRPr>
            </a:pPr>
            <a:r>
              <a:t>BCSE497J · Behavioral Credit Decision Support System · SCOPE</a:t>
            </a:r>
          </a:p>
        </p:txBody>
      </p:sp>
      <p:sp>
        <p:nvSpPr>
          <p:cNvPr id="7" name="TextBox 6"/>
          <p:cNvSpPr txBox="1"/>
          <p:nvPr/>
        </p:nvSpPr>
        <p:spPr>
          <a:xfrm>
            <a:off x="8716975" y="6446520"/>
            <a:ext cx="2743200" cy="274320"/>
          </a:xfrm>
          <a:prstGeom prst="rect">
            <a:avLst/>
          </a:prstGeom>
          <a:noFill/>
        </p:spPr>
        <p:txBody>
          <a:bodyPr wrap="none">
            <a:spAutoFit/>
          </a:bodyPr>
          <a:lstStyle/>
          <a:p>
            <a:pPr algn="r">
              <a:defRPr sz="900" b="1">
                <a:solidFill>
                  <a:srgbClr val="64748B"/>
                </a:solidFill>
                <a:latin typeface="Segoe UI"/>
              </a:defRPr>
            </a:pPr>
            <a:r>
              <a:t>17 / 17</a:t>
            </a:r>
          </a:p>
        </p:txBody>
      </p:sp>
      <p:sp>
        <p:nvSpPr>
          <p:cNvPr id="8" name="Rounded Rectangle 7"/>
          <p:cNvSpPr/>
          <p:nvPr/>
        </p:nvSpPr>
        <p:spPr>
          <a:xfrm>
            <a:off x="731520" y="1371600"/>
            <a:ext cx="5257800" cy="4846320"/>
          </a:xfrm>
          <a:prstGeom prst="round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508760"/>
            <a:ext cx="4800600" cy="4572000"/>
          </a:xfrm>
          <a:prstGeom prst="rect">
            <a:avLst/>
          </a:prstGeom>
          <a:noFill/>
        </p:spPr>
        <p:txBody>
          <a:bodyPr wrap="square">
            <a:spAutoFit/>
          </a:bodyPr>
          <a:lstStyle/>
          <a:p>
            <a:pPr>
              <a:defRPr sz="850">
                <a:solidFill>
                  <a:srgbClr val="334155"/>
                </a:solidFill>
                <a:latin typeface="Segoe UI"/>
              </a:defRPr>
            </a:pPr>
            <a:r>
              <a:t>[1] I.-C. Yeh and C. Lien, “The comparisons of data mining techniques for the predictive accuracy of probability of default of credit card clients,” Expert Syst. Appl., vol. 36, no. 2, pp. 2473–2480, 2009.</a:t>
            </a:r>
          </a:p>
          <a:p>
            <a:pPr>
              <a:spcBef>
                <a:spcPts val="600"/>
              </a:spcBef>
              <a:defRPr sz="850">
                <a:solidFill>
                  <a:srgbClr val="334155"/>
                </a:solidFill>
                <a:latin typeface="Segoe UI"/>
              </a:defRPr>
            </a:pPr>
            <a:r>
              <a:t>[2] S. Lessmann, B. Baesens, H.-V. Seow, and L. C. Thomas, “Benchmarking state-of-the-art classification algorithms for credit scoring: An update of research,” Eur. J. Oper. Res., vol. 247, no. 1, pp. 124–136, 2015.</a:t>
            </a:r>
          </a:p>
          <a:p>
            <a:pPr>
              <a:spcBef>
                <a:spcPts val="600"/>
              </a:spcBef>
              <a:defRPr sz="850">
                <a:solidFill>
                  <a:srgbClr val="334155"/>
                </a:solidFill>
                <a:latin typeface="Segoe UI"/>
              </a:defRPr>
            </a:pPr>
            <a:r>
              <a:t>[3] A. E. Khandani, A. J. Kim, and A. W. Lo, “Consumer credit-risk models via machine-learning algorithms,” J. Bank. Financ., vol. 34, no. 11, pp. 2767–2787, 2010.</a:t>
            </a:r>
          </a:p>
          <a:p>
            <a:pPr>
              <a:spcBef>
                <a:spcPts val="600"/>
              </a:spcBef>
              <a:defRPr sz="850">
                <a:solidFill>
                  <a:srgbClr val="334155"/>
                </a:solidFill>
                <a:latin typeface="Segoe UI"/>
              </a:defRPr>
            </a:pPr>
            <a:r>
              <a:t>[4] S. Bhatore, L. Mohan, and Y. R. Reddy, “Machine learning techniques for credit risk evaluation: A systematic literature review,” J. Bank. Financ. Technol., vol. 4, pp. 111–138, 2020.</a:t>
            </a:r>
          </a:p>
          <a:p>
            <a:pPr>
              <a:spcBef>
                <a:spcPts val="600"/>
              </a:spcBef>
              <a:defRPr sz="850">
                <a:solidFill>
                  <a:srgbClr val="334155"/>
                </a:solidFill>
                <a:latin typeface="Segoe UI"/>
              </a:defRPr>
            </a:pPr>
            <a:r>
              <a:t>[5] G. Ke et al., “LightGBM: A highly efficient gradient boosting decision tree,” in Proc. NeurIPS, 2017, pp. 3146–3154.</a:t>
            </a:r>
          </a:p>
        </p:txBody>
      </p:sp>
      <p:sp>
        <p:nvSpPr>
          <p:cNvPr id="10" name="Rounded Rectangle 9"/>
          <p:cNvSpPr/>
          <p:nvPr/>
        </p:nvSpPr>
        <p:spPr>
          <a:xfrm>
            <a:off x="6202375" y="1371600"/>
            <a:ext cx="5257800" cy="4846320"/>
          </a:xfrm>
          <a:prstGeom prst="roundRect">
            <a:avLst/>
          </a:prstGeom>
          <a:solidFill>
            <a:srgbClr val="F8FAFC"/>
          </a:solidFill>
          <a:ln w="9525">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30975" y="1508760"/>
            <a:ext cx="4800600" cy="4572000"/>
          </a:xfrm>
          <a:prstGeom prst="rect">
            <a:avLst/>
          </a:prstGeom>
          <a:noFill/>
        </p:spPr>
        <p:txBody>
          <a:bodyPr wrap="square">
            <a:spAutoFit/>
          </a:bodyPr>
          <a:lstStyle/>
          <a:p>
            <a:pPr>
              <a:defRPr sz="850">
                <a:solidFill>
                  <a:srgbClr val="334155"/>
                </a:solidFill>
                <a:latin typeface="Segoe UI"/>
              </a:defRPr>
            </a:pPr>
            <a:r>
              <a:t>[6] S. M. Lundberg and S.-I. Lee, “A unified approach to interpreting model predictions,” in Proc. NeurIPS, 2017, pp. 4765–4774.</a:t>
            </a:r>
          </a:p>
          <a:p>
            <a:pPr>
              <a:spcBef>
                <a:spcPts val="800"/>
              </a:spcBef>
              <a:defRPr sz="850">
                <a:solidFill>
                  <a:srgbClr val="334155"/>
                </a:solidFill>
                <a:latin typeface="Segoe UI"/>
              </a:defRPr>
            </a:pPr>
            <a:r>
              <a:t>[7] J. C. Platt, “Probabilistic outputs for support vector machines and comparisons to regularized likelihood methods,” in Advances in Large Margin Classifiers, MIT Press, 1999, pp. 61–74.</a:t>
            </a:r>
          </a:p>
          <a:p>
            <a:pPr>
              <a:spcBef>
                <a:spcPts val="800"/>
              </a:spcBef>
              <a:defRPr sz="850">
                <a:solidFill>
                  <a:srgbClr val="334155"/>
                </a:solidFill>
                <a:latin typeface="Segoe UI"/>
              </a:defRPr>
            </a:pPr>
            <a:r>
              <a:t>[8] Home Credit Group, “Home Credit Default Risk,” Kaggle benchmark dataset, 2018.</a:t>
            </a:r>
          </a:p>
          <a:p>
            <a:pPr>
              <a:spcBef>
                <a:spcPts val="800"/>
              </a:spcBef>
              <a:defRPr sz="850">
                <a:solidFill>
                  <a:srgbClr val="334155"/>
                </a:solidFill>
                <a:latin typeface="Segoe UI"/>
              </a:defRPr>
            </a:pPr>
            <a:r>
              <a:t>[9] Government of India, “The Digital Personal Data Protection Act, 2023,” Act No. 22 of 2023.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